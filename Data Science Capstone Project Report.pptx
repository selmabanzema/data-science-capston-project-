
<file path=[Content_Types].xml><?xml version="1.0" encoding="utf-8"?>
<Types xmlns="http://schemas.openxmlformats.org/package/2006/content-types">
  <Default Extension="emf" ContentType="image/x-emf"/>
  <Default Extension="glb" ContentType="model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26.xml" ContentType="application/inkml+xml"/>
  <Override PartName="/ppt/notesSlides/notesSlide3.xml" ContentType="application/vnd.openxmlformats-officedocument.presentationml.notesSlide+xml"/>
  <Override PartName="/ppt/ink/ink27.xml" ContentType="application/inkml+xml"/>
  <Override PartName="/ppt/notesSlides/notesSlide4.xml" ContentType="application/vnd.openxmlformats-officedocument.presentationml.notesSlide+xml"/>
  <Override PartName="/ppt/ink/ink28.xml" ContentType="application/inkml+xml"/>
  <Override PartName="/ppt/notesSlides/notesSlide5.xml" ContentType="application/vnd.openxmlformats-officedocument.presentationml.notesSlide+xml"/>
  <Override PartName="/ppt/ink/ink29.xml" ContentType="application/inkml+xml"/>
  <Override PartName="/ppt/notesSlides/notesSlide6.xml" ContentType="application/vnd.openxmlformats-officedocument.presentationml.notesSlide+xml"/>
  <Override PartName="/ppt/ink/ink30.xml" ContentType="application/inkml+xml"/>
  <Override PartName="/ppt/notesSlides/notesSlide7.xml" ContentType="application/vnd.openxmlformats-officedocument.presentationml.notesSlide+xml"/>
  <Override PartName="/ppt/ink/ink31.xml" ContentType="application/inkml+xml"/>
  <Override PartName="/ppt/notesSlides/notesSlide8.xml" ContentType="application/vnd.openxmlformats-officedocument.presentationml.notesSlide+xml"/>
  <Override PartName="/ppt/ink/ink32.xml" ContentType="application/inkml+xml"/>
  <Override PartName="/ppt/notesSlides/notesSlide9.xml" ContentType="application/vnd.openxmlformats-officedocument.presentationml.notesSlide+xml"/>
  <Override PartName="/ppt/ink/ink33.xml" ContentType="application/inkml+xml"/>
  <Override PartName="/ppt/notesSlides/notesSlide10.xml" ContentType="application/vnd.openxmlformats-officedocument.presentationml.notesSlide+xml"/>
  <Override PartName="/ppt/ink/ink34.xml" ContentType="application/inkml+xml"/>
  <Override PartName="/ppt/notesSlides/notesSlide11.xml" ContentType="application/vnd.openxmlformats-officedocument.presentationml.notesSlide+xml"/>
  <Override PartName="/ppt/ink/ink35.xml" ContentType="application/inkml+xml"/>
  <Override PartName="/ppt/notesSlides/notesSlide12.xml" ContentType="application/vnd.openxmlformats-officedocument.presentationml.notesSlide+xml"/>
  <Override PartName="/ppt/ink/ink36.xml" ContentType="application/inkml+xml"/>
  <Override PartName="/ppt/notesSlides/notesSlide13.xml" ContentType="application/vnd.openxmlformats-officedocument.presentationml.notesSlide+xml"/>
  <Override PartName="/ppt/ink/ink37.xml" ContentType="application/inkml+xml"/>
  <Override PartName="/ppt/notesSlides/notesSlide14.xml" ContentType="application/vnd.openxmlformats-officedocument.presentationml.notesSlide+xml"/>
  <Override PartName="/ppt/ink/ink38.xml" ContentType="application/inkml+xml"/>
  <Override PartName="/ppt/notesSlides/notesSlide15.xml" ContentType="application/vnd.openxmlformats-officedocument.presentationml.notesSlide+xml"/>
  <Override PartName="/ppt/ink/ink39.xml" ContentType="application/inkml+xml"/>
  <Override PartName="/ppt/notesSlides/notesSlide16.xml" ContentType="application/vnd.openxmlformats-officedocument.presentationml.notesSlide+xml"/>
  <Override PartName="/ppt/ink/ink40.xml" ContentType="application/inkml+xml"/>
  <Override PartName="/ppt/notesSlides/notesSlide17.xml" ContentType="application/vnd.openxmlformats-officedocument.presentationml.notesSlide+xml"/>
  <Override PartName="/ppt/ink/ink41.xml" ContentType="application/inkml+xml"/>
  <Override PartName="/ppt/notesSlides/notesSlide18.xml" ContentType="application/vnd.openxmlformats-officedocument.presentationml.notesSlide+xml"/>
  <Override PartName="/ppt/ink/ink42.xml" ContentType="application/inkml+xml"/>
  <Override PartName="/ppt/notesSlides/notesSlide19.xml" ContentType="application/vnd.openxmlformats-officedocument.presentationml.notesSlide+xml"/>
  <Override PartName="/ppt/ink/ink43.xml" ContentType="application/inkml+xml"/>
  <Override PartName="/ppt/notesSlides/notesSlide20.xml" ContentType="application/vnd.openxmlformats-officedocument.presentationml.notesSlide+xml"/>
  <Override PartName="/ppt/ink/ink44.xml" ContentType="application/inkml+xml"/>
  <Override PartName="/ppt/notesSlides/notesSlide21.xml" ContentType="application/vnd.openxmlformats-officedocument.presentationml.notesSlide+xml"/>
  <Override PartName="/ppt/ink/ink45.xml" ContentType="application/inkml+xml"/>
  <Override PartName="/ppt/notesSlides/notesSlide22.xml" ContentType="application/vnd.openxmlformats-officedocument.presentationml.notesSlide+xml"/>
  <Override PartName="/ppt/ink/ink46.xml" ContentType="application/inkml+xml"/>
  <Override PartName="/ppt/notesSlides/notesSlide23.xml" ContentType="application/vnd.openxmlformats-officedocument.presentationml.notesSlide+xml"/>
  <Override PartName="/ppt/ink/ink47.xml" ContentType="application/inkml+xml"/>
  <Override PartName="/ppt/notesSlides/notesSlide24.xml" ContentType="application/vnd.openxmlformats-officedocument.presentationml.notesSlide+xml"/>
  <Override PartName="/ppt/ink/ink48.xml" ContentType="application/inkml+xml"/>
  <Override PartName="/ppt/notesSlides/notesSlide25.xml" ContentType="application/vnd.openxmlformats-officedocument.presentationml.notesSlide+xml"/>
  <Override PartName="/ppt/ink/ink49.xml" ContentType="application/inkml+xml"/>
  <Override PartName="/ppt/notesSlides/notesSlide26.xml" ContentType="application/vnd.openxmlformats-officedocument.presentationml.notesSlide+xml"/>
  <Override PartName="/ppt/ink/ink50.xml" ContentType="application/inkml+xml"/>
  <Override PartName="/ppt/notesSlides/notesSlide27.xml" ContentType="application/vnd.openxmlformats-officedocument.presentationml.notesSlide+xml"/>
  <Override PartName="/ppt/ink/ink51.xml" ContentType="application/inkml+xml"/>
  <Override PartName="/ppt/notesSlides/notesSlide28.xml" ContentType="application/vnd.openxmlformats-officedocument.presentationml.notesSlide+xml"/>
  <Override PartName="/ppt/ink/ink52.xml" ContentType="application/inkml+xml"/>
  <Override PartName="/ppt/notesSlides/notesSlide29.xml" ContentType="application/vnd.openxmlformats-officedocument.presentationml.notesSlide+xml"/>
  <Override PartName="/ppt/ink/ink53.xml" ContentType="application/inkml+xml"/>
  <Override PartName="/ppt/notesSlides/notesSlide30.xml" ContentType="application/vnd.openxmlformats-officedocument.presentationml.notesSlide+xml"/>
  <Override PartName="/ppt/ink/ink54.xml" ContentType="application/inkml+xml"/>
  <Override PartName="/ppt/notesSlides/notesSlide31.xml" ContentType="application/vnd.openxmlformats-officedocument.presentationml.notesSlide+xml"/>
  <Override PartName="/ppt/ink/ink5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58" r:id="rId3"/>
    <p:sldId id="262" r:id="rId4"/>
    <p:sldId id="272" r:id="rId5"/>
    <p:sldId id="273" r:id="rId6"/>
    <p:sldId id="274" r:id="rId7"/>
    <p:sldId id="261" r:id="rId8"/>
    <p:sldId id="280" r:id="rId9"/>
    <p:sldId id="281" r:id="rId10"/>
    <p:sldId id="263" r:id="rId11"/>
    <p:sldId id="282" r:id="rId12"/>
    <p:sldId id="264" r:id="rId13"/>
    <p:sldId id="283" r:id="rId14"/>
    <p:sldId id="286" r:id="rId15"/>
    <p:sldId id="287" r:id="rId16"/>
    <p:sldId id="265" r:id="rId17"/>
    <p:sldId id="284" r:id="rId18"/>
    <p:sldId id="288" r:id="rId19"/>
    <p:sldId id="285" r:id="rId20"/>
    <p:sldId id="266" r:id="rId21"/>
    <p:sldId id="267" r:id="rId22"/>
    <p:sldId id="289" r:id="rId23"/>
    <p:sldId id="268" r:id="rId24"/>
    <p:sldId id="269" r:id="rId25"/>
    <p:sldId id="270" r:id="rId26"/>
    <p:sldId id="275" r:id="rId27"/>
    <p:sldId id="276" r:id="rId28"/>
    <p:sldId id="277" r:id="rId29"/>
    <p:sldId id="278" r:id="rId30"/>
    <p:sldId id="279" r:id="rId31"/>
    <p:sldId id="271" r:id="rId32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8E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5991" autoAdjust="0"/>
  </p:normalViewPr>
  <p:slideViewPr>
    <p:cSldViewPr snapToGrid="0">
      <p:cViewPr varScale="1">
        <p:scale>
          <a:sx n="74" d="100"/>
          <a:sy n="74" d="100"/>
        </p:scale>
        <p:origin x="1642" y="4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3624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 dirty="0"/>
          </a:p>
        </p:txBody>
      </p:sp>
      <p:sp>
        <p:nvSpPr>
          <p:cNvPr id="3" name="Veri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73E725-9F96-498D-8E67-60358D4CD8B9}" type="datetime1">
              <a:rPr lang="tr-TR" smtClean="0"/>
              <a:t>27.09.2026</a:t>
            </a:fld>
            <a:endParaRPr lang="tr-TR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B06A7A-F06C-457E-A76F-3EE3FFF888DF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188586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09:29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13798,'0'0'-1328,"0"0"-1970,0 0 641,0 0-192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4:59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-635 131 10165,'0'0'-320,"0"0"-1169,0 0 448,0 0 289,0 0-945,0 0 465,0 0 495,0-26-2160</inkml:trace>
  <inkml:trace contextRef="#ctx0" brushRef="#br0" timeOffset="-1296">0 27 11509,'0'0'-1296,"0"0"127,0 0-592,0 0-15,0 0 543,0 0 112,0-27 97</inkml:trace>
  <inkml:trace contextRef="#ctx0" brushRef="#br0" timeOffset="-1120">0 26 4690,'-53'26'3458,"53"-26"-3426,0 0-16,0 0 0,0 0-16,0 0-208,0 0-305,0 0-607,0 0-689,0 0 304,0 0 577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9:12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-660 28 13734,'0'0'-496,"0"0"0,0 0 224,0 0 176,27 0 16,-27 0-433,0 27-959,0-27-2018</inkml:trace>
  <inkml:trace contextRef="#ctx0" brushRef="#br0" timeOffset="-869">1 1 10581,'0'0'240,"0"0"-192,0 0 384,0 0-128,0 0-224,0 0-112,0 0-1120,0 0-2626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9:15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16776,'0'0'-993,"0"0"561,0 0-288,0 0 304,-26 0-689,-1 0-1632,1 0-2081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40:08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4370,'0'0'3185,"0"0"-4881,0 0-33,0 0 1265,-53 27-561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09:29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13798,'0'0'-1328,"0"0"-1970,0 0 641,0 0-192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4:59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-635 131 10165,'0'0'-320,"0"0"-1169,0 0 448,0 0 289,0 0-945,0 0 465,0 0 495,0-26-2160</inkml:trace>
  <inkml:trace contextRef="#ctx0" brushRef="#br0" timeOffset="-1296">0 27 11509,'0'0'-1296,"0"0"127,0 0-592,0 0-15,0 0 543,0 0 112,0-27 97</inkml:trace>
  <inkml:trace contextRef="#ctx0" brushRef="#br0" timeOffset="-1120">0 26 4690,'-53'26'3458,"53"-26"-3426,0 0-16,0 0 0,0 0-16,0 0-208,0 0-305,0 0-607,0 0-689,0 0 304,0 0 577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9:12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-660 28 13734,'0'0'-496,"0"0"0,0 0 224,0 0 176,27 0 16,-27 0-433,0 27-959,0-27-2018</inkml:trace>
  <inkml:trace contextRef="#ctx0" brushRef="#br0" timeOffset="-869">1 1 10581,'0'0'240,"0"0"-192,0 0 384,0 0-128,0 0-224,0 0-112,0 0-1120,0 0-2626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9:15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16776,'0'0'-993,"0"0"561,0 0-288,0 0 304,-26 0-689,-1 0-1632,1 0-2081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40:08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4370,'0'0'3185,"0"0"-4881,0 0-33,0 0 1265,-53 27-561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09:29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13798,'0'0'-1328,"0"0"-1970,0 0 641,0 0-192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4:59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-635 131 10165,'0'0'-320,"0"0"-1169,0 0 448,0 0 289,0 0-945,0 0 465,0 0 495,0-26-2160</inkml:trace>
  <inkml:trace contextRef="#ctx0" brushRef="#br0" timeOffset="-1296">0 27 11509,'0'0'-1296,"0"0"127,0 0-592,0 0-15,0 0 543,0 0 112,0-27 97</inkml:trace>
  <inkml:trace contextRef="#ctx0" brushRef="#br0" timeOffset="-1120">0 26 4690,'-53'26'3458,"53"-26"-3426,0 0-16,0 0 0,0 0-16,0 0-208,0 0-305,0 0-607,0 0-689,0 0 304,0 0 577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9:12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-660 28 13734,'0'0'-496,"0"0"0,0 0 224,0 0 176,27 0 16,-27 0-433,0 27-959,0-27-2018</inkml:trace>
  <inkml:trace contextRef="#ctx0" brushRef="#br0" timeOffset="-869">1 1 10581,'0'0'240,"0"0"-192,0 0 384,0 0-128,0 0-224,0 0-112,0 0-1120,0 0-2626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9:15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16776,'0'0'-993,"0"0"561,0 0-288,0 0 304,-26 0-689,-1 0-1632,1 0-2081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40:08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4370,'0'0'3185,"0"0"-4881,0 0-33,0 0 1265,-53 27-561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09:29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13798,'0'0'-1328,"0"0"-1970,0 0 641,0 0-192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4:59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-635 131 10165,'0'0'-320,"0"0"-1169,0 0 448,0 0 289,0 0-945,0 0 465,0 0 495,0-26-2160</inkml:trace>
  <inkml:trace contextRef="#ctx0" brushRef="#br0" timeOffset="-1296">0 27 11509,'0'0'-1296,"0"0"127,0 0-592,0 0-15,0 0 543,0 0 112,0-27 97</inkml:trace>
  <inkml:trace contextRef="#ctx0" brushRef="#br0" timeOffset="-1120">0 26 4690,'-53'26'3458,"53"-26"-3426,0 0-16,0 0 0,0 0-16,0 0-208,0 0-305,0 0-607,0 0-689,0 0 304,0 0 577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9:12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-660 28 13734,'0'0'-496,"0"0"0,0 0 224,0 0 176,27 0 16,-27 0-433,0 27-959,0-27-2018</inkml:trace>
  <inkml:trace contextRef="#ctx0" brushRef="#br0" timeOffset="-869">1 1 10581,'0'0'240,"0"0"-192,0 0 384,0 0-128,0 0-224,0 0-112,0 0-1120,0 0-2626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9:15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16776,'0'0'-993,"0"0"561,0 0-288,0 0 304,-26 0-689,-1 0-1632,1 0-2081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40:08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4370,'0'0'3185,"0"0"-4881,0 0-33,0 0 1265,-53 27-561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09:29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13798,'0'0'-1328,"0"0"-1970,0 0 641,0 0-192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4:59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-635 131 10165,'0'0'-320,"0"0"-1169,0 0 448,0 0 289,0 0-945,0 0 465,0 0 495,0-26-2160</inkml:trace>
  <inkml:trace contextRef="#ctx0" brushRef="#br0" timeOffset="-1296">0 27 11509,'0'0'-1296,"0"0"127,0 0-592,0 0-15,0 0 543,0 0 112,0-27 97</inkml:trace>
  <inkml:trace contextRef="#ctx0" brushRef="#br0" timeOffset="-1120">0 26 4690,'-53'26'3458,"53"-26"-3426,0 0-16,0 0 0,0 0-16,0 0-208,0 0-305,0 0-607,0 0-689,0 0 304,0 0 577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9:12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-660 28 13734,'0'0'-496,"0"0"0,0 0 224,0 0 176,27 0 16,-27 0-433,0 27-959,0-27-2018</inkml:trace>
  <inkml:trace contextRef="#ctx0" brushRef="#br0" timeOffset="-869">1 1 10581,'0'0'240,"0"0"-192,0 0 384,0 0-128,0 0-224,0 0-112,0 0-1120,0 0-2626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9:15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16776,'0'0'-993,"0"0"561,0 0-288,0 0 304,-26 0-689,-1 0-1632,1 0-2081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40:08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4370,'0'0'3185,"0"0"-4881,0 0-33,0 0 1265,-53 27-561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4-25T22:32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10533,'0'-26'-2273,"0"26"-2401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8A804C-AF85-465B-AC9B-A6CACA4BCF97}" type="datetime1">
              <a:rPr lang="tr-TR" smtClean="0"/>
              <a:pPr/>
              <a:t>27.09.2026</a:t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dirty="0"/>
              <a:t>Asıl metin stillerini düzenle</a:t>
            </a:r>
          </a:p>
          <a:p>
            <a:pPr lvl="1" rtl="0"/>
            <a:r>
              <a:rPr lang="tr-TR" dirty="0"/>
              <a:t>İkinci düzey</a:t>
            </a:r>
          </a:p>
          <a:p>
            <a:pPr lvl="2" rtl="0"/>
            <a:r>
              <a:rPr lang="tr-TR" dirty="0"/>
              <a:t>Üçüncü düzey</a:t>
            </a:r>
          </a:p>
          <a:p>
            <a:pPr lvl="3" rtl="0"/>
            <a:r>
              <a:rPr lang="tr-TR" dirty="0"/>
              <a:t>Dördüncü düzey</a:t>
            </a:r>
          </a:p>
          <a:p>
            <a:pPr lvl="4" rtl="0"/>
            <a:r>
              <a:rPr lang="tr-TR" dirty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43F9531-3326-4057-9EBA-1F5D68C6F04A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30256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43F9531-3326-4057-9EBA-1F5D68C6F04A}" type="slidenum">
              <a:rPr lang="tr-TR" smtClean="0"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12948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43F9531-3326-4057-9EBA-1F5D68C6F04A}" type="slidenum">
              <a:rPr lang="tr-TR" smtClean="0"/>
              <a:t>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46131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43F9531-3326-4057-9EBA-1F5D68C6F04A}" type="slidenum">
              <a:rPr lang="tr-TR" smtClean="0"/>
              <a:t>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30120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5AB65-D630-1AEC-CFB0-F4B870272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855D89C9-281B-7A2B-2871-CAD827C79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4C216D2E-D8D3-2FD4-3B49-FD2682558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9FEE337-58E4-BAB9-9F82-CF61EF6ABA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43F9531-3326-4057-9EBA-1F5D68C6F04A}" type="slidenum">
              <a:rPr lang="tr-TR" smtClean="0"/>
              <a:t>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31061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F26AD-D300-9249-E488-4F27D6EF6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730129F0-1F31-1283-BC8D-44788A840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091BD0B0-C357-027B-5381-D05F52617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5CCD32A-57C2-66D9-33DA-CE0F161F05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43F9531-3326-4057-9EBA-1F5D68C6F04A}" type="slidenum">
              <a:rPr lang="tr-TR" smtClean="0"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393676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CF2D1-4B10-E17E-1FA3-C8E7D8B4B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1953969C-0606-09A7-0838-E68718DC4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B88D67AE-2F42-1734-F5C2-EAC274E9E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2462736-746F-25E0-0D2F-09C6E22FA5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43F9531-3326-4057-9EBA-1F5D68C6F04A}" type="slidenum">
              <a:rPr lang="tr-TR" smtClean="0"/>
              <a:t>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96093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86187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6DA79-4EAA-9487-145E-39C10E5E0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5350D862-6BB6-0B35-E06D-DF72A8676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78C2E2D2-EE28-272A-7F61-BA53818E5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196F05E-3FD2-F540-1AE8-B3FD26DEB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292161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56466-BFA6-BAAA-8255-9CBDFAB1B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8FCD57C1-AF75-D862-ED4B-1D5D5F130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E972B4E3-2CCD-85BB-B1D9-B85200F9C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BA773F3E-A515-E208-72A6-BC03DA6280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430216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38E20-D02E-B6B1-69E2-4DAC82BD6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51A5A5D1-53CA-E755-347B-10FC02486A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36F8D98C-48F6-9109-0DFA-5951C0FC3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A8DA34A-6733-B426-D999-7757149780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10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543907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B9549-55D6-470E-EEB2-E9DA9B5F0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5CA8A47E-73EB-3B4F-7630-914D6DD11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F29B561B-1001-6FB5-2111-2E7FB3AEB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4A8C93B-99F8-81B7-D09E-4CFC8B56A5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11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748674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ECDC1-5F18-9DAF-87E1-65591ABED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506129EE-4A5F-66A7-9338-7E5E36D83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AC0114D3-5C8C-8505-B2D1-3AE2DB6AD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9B269C12-8178-6978-E327-831B97303B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12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988919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CEBC2-757D-2C2F-CEEB-DDC8F0B47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20F6F59B-1EAD-C58F-0553-94EBD6315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87208CA9-BAC0-67C9-DC70-A8F080FD4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991A574-E5A7-B5E6-3E0E-2E68AB5DF0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13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229215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F8CE8-5F37-24BB-DA56-24C6F64DF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091FA35E-073B-1D52-90D8-CB374BE93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F435B17B-EC0A-01FB-303A-BA3E720E1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070A0C3-6E67-FDD0-5477-6F2D5D0CF2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14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198300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392DF-B8C6-67E8-7CEA-608571DB4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9EAFB776-C121-2990-24B8-3837A51C6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365AE90B-26C9-F929-1D04-29365BE81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A8D8184-C0B4-3CE8-3345-1571016E04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15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040353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35B1B-9EA9-7FE4-177A-AC47099D7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86392C79-B98A-A563-B5D4-B4A2A97A82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06893E29-8400-E9B1-155F-534DA52B8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A4A14DD-99B6-B504-3CEE-2C5051DD03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16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69634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78B17-BEC8-1CBB-EFA8-3288CCC4B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A2A366FE-CC6F-D736-96C2-9FBDC1AD6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CBD8E520-C6CE-A392-5BBC-084F77CD9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DAD4832-F2FF-041B-A2D1-D931833289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17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219002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A8121-3C6B-A7C8-CEC9-9FEA7A989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F099D35D-B8C5-03E7-6279-C9A77D972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0047D980-2289-31AD-9B8B-A1C19D4DF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E22AD6B-9FCA-E75E-426C-884A4B2CA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18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195031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00034-4E3D-B929-8BA1-C6086B01D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3C26563C-DBCD-9786-9940-743C2FA956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A082C668-82C6-562F-B198-709838D10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EEC0A39-7F4C-D05C-C922-57C7F779A9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19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229170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4E161-EBB4-4788-C50A-9770451EB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CB29CC3C-BA1F-FEB2-3256-702F6E98C3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8E113EDF-9C87-F57C-1C2D-F9A98A50E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40DD07E-C63C-7ADE-B2B1-15BB06322E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20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020652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6492D-D1D1-A63D-4D2F-99177BC1C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84E99F68-EDA7-FEE1-69F8-0B0EE9759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0CE88313-9D9B-62EB-02BA-E4419E075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543152E-8D57-AE68-54C4-8C67BFEA13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21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568926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E44D-3C22-5A70-728C-3D03CDEA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BEE4020D-4EA0-7885-5FF7-5C26CF9D6E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47A55D0D-75AF-E3E1-C5C8-FF7F02293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8F14952-719B-314F-8FAC-669AD84E34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22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743320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5961E-5FA3-5B78-1E7D-1EBC0A383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8332EB96-FE0C-E4E4-3F80-AB9DDD528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39279ADF-EDB9-3E12-6DF4-68D4CB479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954768D3-0EA2-C8B1-9D01-7986A4E6D7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23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280697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99D1D-9336-E4D5-548F-041C0D193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A7BB6C37-368A-2182-1B27-790A7AB77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8350EEFF-D96A-4176-18BE-CD36E6564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643A2C2-51BE-E979-6BC7-0F5D0EA01E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24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780978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2DC6E-8DBA-C0AC-7D5E-71294F483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49EB81C3-FF43-1AF8-64F4-E6BB7FA31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B803E24D-3DDC-D432-42F5-B7941FFBA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F7B0C6A-4179-4FF9-C95D-DE2F3C4455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25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597034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1E277-742F-11F8-6C7E-C6CB68FDD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4520C2A6-6F3D-8D5F-3E80-446809E26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DE0F5794-78D2-238F-6FD7-B1A0962F9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48056C3-401E-8FF4-3E20-F21DE19720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26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621365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8B10C-BB36-09B4-4ADB-01959C6B3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90FA03C7-BB12-6AF5-4FDE-7707EE7E8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F3431B11-8670-E027-90F6-5C9E90340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5E83CD7-B946-472B-FBC5-47D31F1DED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27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252880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90613-9A95-DAA7-92C5-27796DBAC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329531B5-2C06-D85A-B250-DB9CC46B9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32F8547C-8566-6971-6842-52E2C25A7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5E0E286-4C08-B84D-1845-CD505A8330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28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418136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FE54F-EDAF-3BCF-B8D0-94AA25E1B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1B5C5601-6491-F397-9096-AEDF06F53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CF7853BD-20D7-3090-4695-4235BACBB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4204403-8015-F911-6D70-87B21FDD2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29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705967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4659B-EF14-70B2-06D6-E2C807EB0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6624BD04-D3A8-FF52-2278-E48DF9B74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5D493CAA-9506-F854-EA45-E69486B4E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4A3262E-BCD5-3EDA-C415-054CA40F97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30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087278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CBEB4-9066-01D3-2252-354ED3C2B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28A18C21-86BA-8BEF-3400-45ABDBE07D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DB190EEB-EA14-E7DB-7F98-749210692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97AA92E-3719-61B6-75EB-A395D283F8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43F9531-3326-4057-9EBA-1F5D68C6F04A}" type="slidenum">
              <a:rPr lang="tr-TR" smtClean="0"/>
              <a:t>31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89936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11" Type="http://schemas.openxmlformats.org/officeDocument/2006/relationships/customXml" Target="../ink/ink10.xml"/><Relationship Id="rId5" Type="http://schemas.openxmlformats.org/officeDocument/2006/relationships/customXml" Target="../ink/ink7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9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8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11" Type="http://schemas.openxmlformats.org/officeDocument/2006/relationships/customXml" Target="../ink/ink15.xml"/><Relationship Id="rId5" Type="http://schemas.openxmlformats.org/officeDocument/2006/relationships/customXml" Target="../ink/ink1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14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6.xml"/><Relationship Id="rId7" Type="http://schemas.openxmlformats.org/officeDocument/2006/relationships/customXml" Target="../ink/ink18.xml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11" Type="http://schemas.openxmlformats.org/officeDocument/2006/relationships/customXml" Target="../ink/ink20.xml"/><Relationship Id="rId5" Type="http://schemas.openxmlformats.org/officeDocument/2006/relationships/customXml" Target="../ink/ink17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19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21.xml"/><Relationship Id="rId7" Type="http://schemas.openxmlformats.org/officeDocument/2006/relationships/customXml" Target="../ink/ink23.xml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11" Type="http://schemas.openxmlformats.org/officeDocument/2006/relationships/customXml" Target="../ink/ink25.xml"/><Relationship Id="rId5" Type="http://schemas.openxmlformats.org/officeDocument/2006/relationships/customXml" Target="../ink/ink2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2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ikdörtgen 9">
            <a:extLst>
              <a:ext uri="{FF2B5EF4-FFF2-40B4-BE49-F238E27FC236}">
                <a16:creationId xmlns:a16="http://schemas.microsoft.com/office/drawing/2014/main" id="{C6BF408C-A3FE-427A-BCAC-49F0BEAE4F3E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49000">
                <a:schemeClr val="tx1">
                  <a:alpha val="0"/>
                </a:scheme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A3BFFD68-E7DA-43A0-A762-8DE3799F6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11415"/>
            <a:ext cx="9144000" cy="4021205"/>
          </a:xfrm>
        </p:spPr>
        <p:txBody>
          <a:bodyPr rtlCol="0">
            <a:normAutofit/>
          </a:bodyPr>
          <a:lstStyle>
            <a:lvl1pPr marL="0" indent="0" algn="l">
              <a:buNone/>
              <a:defRPr sz="13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/>
              <a:t>Click to edit Master subtitle style</a:t>
            </a:r>
            <a:endParaRPr lang="tr-T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1441076-21A4-4AB0-A4C3-2CD86B085516}"/>
                  </a:ext>
                </a:extLst>
              </p14:cNvPr>
              <p14:cNvContentPartPr/>
              <p14:nvPr userDrawn="1"/>
            </p14:nvContentPartPr>
            <p14:xfrm>
              <a:off x="3285825" y="7305630"/>
              <a:ext cx="360" cy="360"/>
            </p14:xfrm>
          </p:contentPart>
        </mc:Choice>
        <mc:Fallback xmlns="">
          <p:pic>
            <p:nvPicPr>
              <p:cNvPr id="8" name="Mürekkep 7">
                <a:extLst>
                  <a:ext uri="{FF2B5EF4-FFF2-40B4-BE49-F238E27FC236}">
                    <a16:creationId xmlns:a16="http://schemas.microsoft.com/office/drawing/2014/main" id="{01441076-21A4-4AB0-A4C3-2CD86B0855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76825" y="72966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12E5E6F-A5EC-4FFE-BD32-F34737E4091E}"/>
                  </a:ext>
                </a:extLst>
              </p14:cNvPr>
              <p14:cNvContentPartPr/>
              <p14:nvPr userDrawn="1"/>
            </p14:nvContentPartPr>
            <p14:xfrm>
              <a:off x="2238300" y="1333470"/>
              <a:ext cx="228960" cy="47520"/>
            </p14:xfrm>
          </p:contentPart>
        </mc:Choice>
        <mc:Fallback xmlns="">
          <p:pic>
            <p:nvPicPr>
              <p:cNvPr id="9" name="Mürekkep 8">
                <a:extLst>
                  <a:ext uri="{FF2B5EF4-FFF2-40B4-BE49-F238E27FC236}">
                    <a16:creationId xmlns:a16="http://schemas.microsoft.com/office/drawing/2014/main" id="{812E5E6F-A5EC-4FFE-BD32-F34737E409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29300" y="1324470"/>
                <a:ext cx="246600" cy="651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Başlık 1">
            <a:extLst>
              <a:ext uri="{FF2B5EF4-FFF2-40B4-BE49-F238E27FC236}">
                <a16:creationId xmlns:a16="http://schemas.microsoft.com/office/drawing/2014/main" id="{48DFEAF9-3C9A-4305-9782-3EE91C933D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495232"/>
          </a:xfrm>
        </p:spPr>
        <p:txBody>
          <a:bodyPr rtlCol="0" anchor="t">
            <a:normAutofit/>
          </a:bodyPr>
          <a:lstStyle>
            <a:lvl1pPr algn="l">
              <a:defRPr sz="2600">
                <a:solidFill>
                  <a:srgbClr val="408E93"/>
                </a:solidFill>
                <a:latin typeface="Agency FB" panose="020B0503020202020204" pitchFamily="34" charset="0"/>
                <a:cs typeface="Segoe UI Light" panose="020B0502040204020203" pitchFamily="34" charset="0"/>
              </a:defRPr>
            </a:lvl1pPr>
          </a:lstStyle>
          <a:p>
            <a:pPr rtl="0"/>
            <a:r>
              <a:rPr lang="tr-TR" dirty="0"/>
              <a:t>ASIL BAŞLIK STİLİNİ DÜZENLEMEK İÇİN TIKLAYIN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1E4DA85-F019-4E90-A6AA-7043F3D87AD7}"/>
                  </a:ext>
                </a:extLst>
              </p14:cNvPr>
              <p14:cNvContentPartPr/>
              <p14:nvPr userDrawn="1"/>
            </p14:nvContentPartPr>
            <p14:xfrm>
              <a:off x="5810220" y="4838430"/>
              <a:ext cx="238320" cy="19440"/>
            </p14:xfrm>
          </p:contentPart>
        </mc:Choice>
        <mc:Fallback xmlns="">
          <p:pic>
            <p:nvPicPr>
              <p:cNvPr id="13" name="Mürekkep 12">
                <a:extLst>
                  <a:ext uri="{FF2B5EF4-FFF2-40B4-BE49-F238E27FC236}">
                    <a16:creationId xmlns:a16="http://schemas.microsoft.com/office/drawing/2014/main" id="{A1E4DA85-F019-4E90-A6AA-7043F3D87AD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01220" y="4829594"/>
                <a:ext cx="255960" cy="367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90FFFC0-B22C-429C-95BD-DD45145FEBA8}"/>
                  </a:ext>
                </a:extLst>
              </p14:cNvPr>
              <p14:cNvContentPartPr/>
              <p14:nvPr userDrawn="1"/>
            </p14:nvContentPartPr>
            <p14:xfrm>
              <a:off x="7019925" y="123765"/>
              <a:ext cx="28800" cy="360"/>
            </p14:xfrm>
          </p:contentPart>
        </mc:Choice>
        <mc:Fallback xmlns="">
          <p:pic>
            <p:nvPicPr>
              <p:cNvPr id="19" name="Mürekkep 18">
                <a:extLst>
                  <a:ext uri="{FF2B5EF4-FFF2-40B4-BE49-F238E27FC236}">
                    <a16:creationId xmlns:a16="http://schemas.microsoft.com/office/drawing/2014/main" id="{790FFFC0-B22C-429C-95BD-DD45145FEBA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10925" y="114765"/>
                <a:ext cx="46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F2552DA-D8AD-49AD-B221-046C987028BC}"/>
                  </a:ext>
                </a:extLst>
              </p14:cNvPr>
              <p14:cNvContentPartPr/>
              <p14:nvPr userDrawn="1"/>
            </p14:nvContentPartPr>
            <p14:xfrm>
              <a:off x="4705125" y="7267500"/>
              <a:ext cx="19440" cy="9720"/>
            </p14:xfrm>
          </p:contentPart>
        </mc:Choice>
        <mc:Fallback xmlns="">
          <p:pic>
            <p:nvPicPr>
              <p:cNvPr id="21" name="Mürekkep 20">
                <a:extLst>
                  <a:ext uri="{FF2B5EF4-FFF2-40B4-BE49-F238E27FC236}">
                    <a16:creationId xmlns:a16="http://schemas.microsoft.com/office/drawing/2014/main" id="{4F2552DA-D8AD-49AD-B221-046C987028B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96125" y="7258821"/>
                <a:ext cx="37080" cy="2673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0712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şlık Slaydı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ikdörtgen 9">
            <a:extLst>
              <a:ext uri="{FF2B5EF4-FFF2-40B4-BE49-F238E27FC236}">
                <a16:creationId xmlns:a16="http://schemas.microsoft.com/office/drawing/2014/main" id="{C6BF408C-A3FE-427A-BCAC-49F0BEAE4F3E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49000">
                <a:schemeClr val="tx1">
                  <a:alpha val="0"/>
                </a:scheme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1441076-21A4-4AB0-A4C3-2CD86B085516}"/>
                  </a:ext>
                </a:extLst>
              </p14:cNvPr>
              <p14:cNvContentPartPr/>
              <p14:nvPr userDrawn="1"/>
            </p14:nvContentPartPr>
            <p14:xfrm>
              <a:off x="3285825" y="7305630"/>
              <a:ext cx="360" cy="360"/>
            </p14:xfrm>
          </p:contentPart>
        </mc:Choice>
        <mc:Fallback xmlns="">
          <p:pic>
            <p:nvPicPr>
              <p:cNvPr id="8" name="Mürekkep 7">
                <a:extLst>
                  <a:ext uri="{FF2B5EF4-FFF2-40B4-BE49-F238E27FC236}">
                    <a16:creationId xmlns:a16="http://schemas.microsoft.com/office/drawing/2014/main" id="{01441076-21A4-4AB0-A4C3-2CD86B0855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76825" y="72966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12E5E6F-A5EC-4FFE-BD32-F34737E4091E}"/>
                  </a:ext>
                </a:extLst>
              </p14:cNvPr>
              <p14:cNvContentPartPr/>
              <p14:nvPr userDrawn="1"/>
            </p14:nvContentPartPr>
            <p14:xfrm>
              <a:off x="2238300" y="1333470"/>
              <a:ext cx="228960" cy="47520"/>
            </p14:xfrm>
          </p:contentPart>
        </mc:Choice>
        <mc:Fallback xmlns="">
          <p:pic>
            <p:nvPicPr>
              <p:cNvPr id="9" name="Mürekkep 8">
                <a:extLst>
                  <a:ext uri="{FF2B5EF4-FFF2-40B4-BE49-F238E27FC236}">
                    <a16:creationId xmlns:a16="http://schemas.microsoft.com/office/drawing/2014/main" id="{812E5E6F-A5EC-4FFE-BD32-F34737E409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29300" y="1324470"/>
                <a:ext cx="24660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1E4DA85-F019-4E90-A6AA-7043F3D87AD7}"/>
                  </a:ext>
                </a:extLst>
              </p14:cNvPr>
              <p14:cNvContentPartPr/>
              <p14:nvPr userDrawn="1"/>
            </p14:nvContentPartPr>
            <p14:xfrm>
              <a:off x="5810220" y="4838430"/>
              <a:ext cx="238320" cy="19440"/>
            </p14:xfrm>
          </p:contentPart>
        </mc:Choice>
        <mc:Fallback xmlns="">
          <p:pic>
            <p:nvPicPr>
              <p:cNvPr id="13" name="Mürekkep 12">
                <a:extLst>
                  <a:ext uri="{FF2B5EF4-FFF2-40B4-BE49-F238E27FC236}">
                    <a16:creationId xmlns:a16="http://schemas.microsoft.com/office/drawing/2014/main" id="{A1E4DA85-F019-4E90-A6AA-7043F3D87AD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01220" y="4829594"/>
                <a:ext cx="255960" cy="367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90FFFC0-B22C-429C-95BD-DD45145FEBA8}"/>
                  </a:ext>
                </a:extLst>
              </p14:cNvPr>
              <p14:cNvContentPartPr/>
              <p14:nvPr userDrawn="1"/>
            </p14:nvContentPartPr>
            <p14:xfrm>
              <a:off x="7019925" y="123765"/>
              <a:ext cx="28800" cy="360"/>
            </p14:xfrm>
          </p:contentPart>
        </mc:Choice>
        <mc:Fallback xmlns="">
          <p:pic>
            <p:nvPicPr>
              <p:cNvPr id="19" name="Mürekkep 18">
                <a:extLst>
                  <a:ext uri="{FF2B5EF4-FFF2-40B4-BE49-F238E27FC236}">
                    <a16:creationId xmlns:a16="http://schemas.microsoft.com/office/drawing/2014/main" id="{790FFFC0-B22C-429C-95BD-DD45145FEBA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10925" y="114765"/>
                <a:ext cx="46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F2552DA-D8AD-49AD-B221-046C987028BC}"/>
                  </a:ext>
                </a:extLst>
              </p14:cNvPr>
              <p14:cNvContentPartPr/>
              <p14:nvPr userDrawn="1"/>
            </p14:nvContentPartPr>
            <p14:xfrm>
              <a:off x="4705125" y="7267500"/>
              <a:ext cx="19440" cy="9720"/>
            </p14:xfrm>
          </p:contentPart>
        </mc:Choice>
        <mc:Fallback xmlns="">
          <p:pic>
            <p:nvPicPr>
              <p:cNvPr id="21" name="Mürekkep 20">
                <a:extLst>
                  <a:ext uri="{FF2B5EF4-FFF2-40B4-BE49-F238E27FC236}">
                    <a16:creationId xmlns:a16="http://schemas.microsoft.com/office/drawing/2014/main" id="{4F2552DA-D8AD-49AD-B221-046C987028B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96125" y="7258821"/>
                <a:ext cx="37080" cy="2673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Resim 10">
            <a:extLst>
              <a:ext uri="{FF2B5EF4-FFF2-40B4-BE49-F238E27FC236}">
                <a16:creationId xmlns:a16="http://schemas.microsoft.com/office/drawing/2014/main" id="{BD312742-FF8F-405A-9B03-FA3BE36135F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blipFill>
            <a:blip r:embed="rId13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120870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şlık Slaydı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ikdörtgen 9">
            <a:extLst>
              <a:ext uri="{FF2B5EF4-FFF2-40B4-BE49-F238E27FC236}">
                <a16:creationId xmlns:a16="http://schemas.microsoft.com/office/drawing/2014/main" id="{C6BF408C-A3FE-427A-BCAC-49F0BEAE4F3E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49000">
                <a:schemeClr val="tx1">
                  <a:alpha val="0"/>
                </a:scheme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1441076-21A4-4AB0-A4C3-2CD86B085516}"/>
                  </a:ext>
                </a:extLst>
              </p14:cNvPr>
              <p14:cNvContentPartPr/>
              <p14:nvPr userDrawn="1"/>
            </p14:nvContentPartPr>
            <p14:xfrm>
              <a:off x="3285825" y="7305630"/>
              <a:ext cx="360" cy="360"/>
            </p14:xfrm>
          </p:contentPart>
        </mc:Choice>
        <mc:Fallback xmlns="">
          <p:pic>
            <p:nvPicPr>
              <p:cNvPr id="8" name="Mürekkep 7">
                <a:extLst>
                  <a:ext uri="{FF2B5EF4-FFF2-40B4-BE49-F238E27FC236}">
                    <a16:creationId xmlns:a16="http://schemas.microsoft.com/office/drawing/2014/main" id="{01441076-21A4-4AB0-A4C3-2CD86B0855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76825" y="72966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12E5E6F-A5EC-4FFE-BD32-F34737E4091E}"/>
                  </a:ext>
                </a:extLst>
              </p14:cNvPr>
              <p14:cNvContentPartPr/>
              <p14:nvPr userDrawn="1"/>
            </p14:nvContentPartPr>
            <p14:xfrm>
              <a:off x="2238300" y="1333470"/>
              <a:ext cx="228960" cy="47520"/>
            </p14:xfrm>
          </p:contentPart>
        </mc:Choice>
        <mc:Fallback xmlns="">
          <p:pic>
            <p:nvPicPr>
              <p:cNvPr id="9" name="Mürekkep 8">
                <a:extLst>
                  <a:ext uri="{FF2B5EF4-FFF2-40B4-BE49-F238E27FC236}">
                    <a16:creationId xmlns:a16="http://schemas.microsoft.com/office/drawing/2014/main" id="{812E5E6F-A5EC-4FFE-BD32-F34737E409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29300" y="1324470"/>
                <a:ext cx="24660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1E4DA85-F019-4E90-A6AA-7043F3D87AD7}"/>
                  </a:ext>
                </a:extLst>
              </p14:cNvPr>
              <p14:cNvContentPartPr/>
              <p14:nvPr userDrawn="1"/>
            </p14:nvContentPartPr>
            <p14:xfrm>
              <a:off x="5810220" y="4838430"/>
              <a:ext cx="238320" cy="19440"/>
            </p14:xfrm>
          </p:contentPart>
        </mc:Choice>
        <mc:Fallback xmlns="">
          <p:pic>
            <p:nvPicPr>
              <p:cNvPr id="13" name="Mürekkep 12">
                <a:extLst>
                  <a:ext uri="{FF2B5EF4-FFF2-40B4-BE49-F238E27FC236}">
                    <a16:creationId xmlns:a16="http://schemas.microsoft.com/office/drawing/2014/main" id="{A1E4DA85-F019-4E90-A6AA-7043F3D87AD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01220" y="4829594"/>
                <a:ext cx="255960" cy="367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90FFFC0-B22C-429C-95BD-DD45145FEBA8}"/>
                  </a:ext>
                </a:extLst>
              </p14:cNvPr>
              <p14:cNvContentPartPr/>
              <p14:nvPr userDrawn="1"/>
            </p14:nvContentPartPr>
            <p14:xfrm>
              <a:off x="7019925" y="123765"/>
              <a:ext cx="28800" cy="360"/>
            </p14:xfrm>
          </p:contentPart>
        </mc:Choice>
        <mc:Fallback xmlns="">
          <p:pic>
            <p:nvPicPr>
              <p:cNvPr id="19" name="Mürekkep 18">
                <a:extLst>
                  <a:ext uri="{FF2B5EF4-FFF2-40B4-BE49-F238E27FC236}">
                    <a16:creationId xmlns:a16="http://schemas.microsoft.com/office/drawing/2014/main" id="{790FFFC0-B22C-429C-95BD-DD45145FEBA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10925" y="114765"/>
                <a:ext cx="46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F2552DA-D8AD-49AD-B221-046C987028BC}"/>
                  </a:ext>
                </a:extLst>
              </p14:cNvPr>
              <p14:cNvContentPartPr/>
              <p14:nvPr userDrawn="1"/>
            </p14:nvContentPartPr>
            <p14:xfrm>
              <a:off x="4705125" y="7267500"/>
              <a:ext cx="19440" cy="9720"/>
            </p14:xfrm>
          </p:contentPart>
        </mc:Choice>
        <mc:Fallback xmlns="">
          <p:pic>
            <p:nvPicPr>
              <p:cNvPr id="21" name="Mürekkep 20">
                <a:extLst>
                  <a:ext uri="{FF2B5EF4-FFF2-40B4-BE49-F238E27FC236}">
                    <a16:creationId xmlns:a16="http://schemas.microsoft.com/office/drawing/2014/main" id="{4F2552DA-D8AD-49AD-B221-046C987028B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96125" y="7258821"/>
                <a:ext cx="37080" cy="2673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Alt Başlık 2">
            <a:extLst>
              <a:ext uri="{FF2B5EF4-FFF2-40B4-BE49-F238E27FC236}">
                <a16:creationId xmlns:a16="http://schemas.microsoft.com/office/drawing/2014/main" id="{34C0FACC-90E6-4A01-8792-8FA91B7D3E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63827" y="2543436"/>
            <a:ext cx="3760738" cy="4021205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buNone/>
              <a:defRPr sz="13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tr-TR" dirty="0"/>
              <a:t>Araçta bulunan bilgisayarların ve bilimsel ekipmanların gücü, iki adet 2,45 x 7,56 metrelik güneş paneliyle sağlanıyor. Panellerin ürettiği güç, Hubble Dünya'nın gölgesinde uçarken uzay aracına yörünge başına yaklaşık 25 dakikalık güç sağlayan altı nikel-hidrojen pili şarj etmek için de kullanılıyor.</a:t>
            </a:r>
          </a:p>
        </p:txBody>
      </p:sp>
      <p:sp>
        <p:nvSpPr>
          <p:cNvPr id="12" name="Başlık 1">
            <a:extLst>
              <a:ext uri="{FF2B5EF4-FFF2-40B4-BE49-F238E27FC236}">
                <a16:creationId xmlns:a16="http://schemas.microsoft.com/office/drawing/2014/main" id="{884C55E0-4986-474A-BC74-1B4E8A2F7D1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3827" y="1921433"/>
            <a:ext cx="9144000" cy="495232"/>
          </a:xfrm>
        </p:spPr>
        <p:txBody>
          <a:bodyPr rtlCol="0" anchor="t">
            <a:normAutofit/>
          </a:bodyPr>
          <a:lstStyle>
            <a:lvl1pPr algn="l">
              <a:defRPr sz="2600">
                <a:solidFill>
                  <a:srgbClr val="408E93"/>
                </a:solidFill>
                <a:latin typeface="Agency FB" panose="020B0503020202020204" pitchFamily="34" charset="0"/>
                <a:cs typeface="Segoe UI Light" panose="020B0502040204020203" pitchFamily="34" charset="0"/>
              </a:defRPr>
            </a:lvl1pPr>
          </a:lstStyle>
          <a:p>
            <a:pPr rtl="0"/>
            <a:r>
              <a:rPr lang="tr-TR" dirty="0"/>
              <a:t>GÜNEŞ PANELLERİ</a:t>
            </a:r>
          </a:p>
        </p:txBody>
      </p:sp>
      <p:grpSp>
        <p:nvGrpSpPr>
          <p:cNvPr id="14" name="Grup 13">
            <a:extLst>
              <a:ext uri="{FF2B5EF4-FFF2-40B4-BE49-F238E27FC236}">
                <a16:creationId xmlns:a16="http://schemas.microsoft.com/office/drawing/2014/main" id="{27E37D6D-34CE-4FE3-A6C6-4FC22C72F7A0}"/>
              </a:ext>
            </a:extLst>
          </p:cNvPr>
          <p:cNvGrpSpPr/>
          <p:nvPr userDrawn="1"/>
        </p:nvGrpSpPr>
        <p:grpSpPr>
          <a:xfrm>
            <a:off x="1013641" y="2259110"/>
            <a:ext cx="5513866" cy="276225"/>
            <a:chOff x="1557338" y="1458610"/>
            <a:chExt cx="5513866" cy="276225"/>
          </a:xfrm>
        </p:grpSpPr>
        <p:cxnSp>
          <p:nvCxnSpPr>
            <p:cNvPr id="15" name="Düz Bağlayıcı 14">
              <a:extLst>
                <a:ext uri="{FF2B5EF4-FFF2-40B4-BE49-F238E27FC236}">
                  <a16:creationId xmlns:a16="http://schemas.microsoft.com/office/drawing/2014/main" id="{71CBDA1B-9FA8-429D-A07D-655D394A1C71}"/>
                </a:ext>
              </a:extLst>
            </p:cNvPr>
            <p:cNvCxnSpPr/>
            <p:nvPr/>
          </p:nvCxnSpPr>
          <p:spPr>
            <a:xfrm>
              <a:off x="1557338" y="1589020"/>
              <a:ext cx="5362574" cy="0"/>
            </a:xfrm>
            <a:prstGeom prst="line">
              <a:avLst/>
            </a:prstGeom>
            <a:ln>
              <a:solidFill>
                <a:schemeClr val="bg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Resim 15">
              <a:extLst>
                <a:ext uri="{FF2B5EF4-FFF2-40B4-BE49-F238E27FC236}">
                  <a16:creationId xmlns:a16="http://schemas.microsoft.com/office/drawing/2014/main" id="{B5FBA15E-A7E6-483D-9298-EC007237A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94979" y="1458610"/>
              <a:ext cx="276225" cy="276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8692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Başlık Slaydı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A3BFFD68-E7DA-43A0-A762-8DE3799F6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11415"/>
            <a:ext cx="9144000" cy="4021205"/>
          </a:xfrm>
        </p:spPr>
        <p:txBody>
          <a:bodyPr rtlCol="0">
            <a:normAutofit/>
          </a:bodyPr>
          <a:lstStyle>
            <a:lvl1pPr marL="0" indent="0" algn="l">
              <a:buNone/>
              <a:defRPr sz="13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/>
              <a:t>Click to edit Master subtitle style</a:t>
            </a:r>
            <a:endParaRPr lang="tr-T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1441076-21A4-4AB0-A4C3-2CD86B085516}"/>
                  </a:ext>
                </a:extLst>
              </p14:cNvPr>
              <p14:cNvContentPartPr/>
              <p14:nvPr userDrawn="1"/>
            </p14:nvContentPartPr>
            <p14:xfrm>
              <a:off x="3285825" y="7305630"/>
              <a:ext cx="360" cy="360"/>
            </p14:xfrm>
          </p:contentPart>
        </mc:Choice>
        <mc:Fallback xmlns="">
          <p:pic>
            <p:nvPicPr>
              <p:cNvPr id="8" name="Mürekkep 7">
                <a:extLst>
                  <a:ext uri="{FF2B5EF4-FFF2-40B4-BE49-F238E27FC236}">
                    <a16:creationId xmlns:a16="http://schemas.microsoft.com/office/drawing/2014/main" id="{01441076-21A4-4AB0-A4C3-2CD86B0855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76825" y="72966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12E5E6F-A5EC-4FFE-BD32-F34737E4091E}"/>
                  </a:ext>
                </a:extLst>
              </p14:cNvPr>
              <p14:cNvContentPartPr/>
              <p14:nvPr userDrawn="1"/>
            </p14:nvContentPartPr>
            <p14:xfrm>
              <a:off x="2238300" y="1333470"/>
              <a:ext cx="228960" cy="47520"/>
            </p14:xfrm>
          </p:contentPart>
        </mc:Choice>
        <mc:Fallback xmlns="">
          <p:pic>
            <p:nvPicPr>
              <p:cNvPr id="9" name="Mürekkep 8">
                <a:extLst>
                  <a:ext uri="{FF2B5EF4-FFF2-40B4-BE49-F238E27FC236}">
                    <a16:creationId xmlns:a16="http://schemas.microsoft.com/office/drawing/2014/main" id="{812E5E6F-A5EC-4FFE-BD32-F34737E409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29300" y="1324470"/>
                <a:ext cx="246600" cy="651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Başlık 1">
            <a:extLst>
              <a:ext uri="{FF2B5EF4-FFF2-40B4-BE49-F238E27FC236}">
                <a16:creationId xmlns:a16="http://schemas.microsoft.com/office/drawing/2014/main" id="{48DFEAF9-3C9A-4305-9782-3EE91C933D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495232"/>
          </a:xfrm>
        </p:spPr>
        <p:txBody>
          <a:bodyPr rtlCol="0" anchor="t">
            <a:normAutofit/>
          </a:bodyPr>
          <a:lstStyle>
            <a:lvl1pPr algn="l">
              <a:defRPr sz="2600">
                <a:solidFill>
                  <a:srgbClr val="408E93"/>
                </a:solidFill>
                <a:latin typeface="Agency FB" panose="020B0503020202020204" pitchFamily="34" charset="0"/>
                <a:cs typeface="Segoe UI Light" panose="020B0502040204020203" pitchFamily="34" charset="0"/>
              </a:defRPr>
            </a:lvl1pPr>
          </a:lstStyle>
          <a:p>
            <a:pPr rtl="0"/>
            <a:r>
              <a:rPr lang="tr-TR" dirty="0"/>
              <a:t>ASIL BAŞLIK STİLİNİ DÜZENLEMEK İÇİN TIKLAYIN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1E4DA85-F019-4E90-A6AA-7043F3D87AD7}"/>
                  </a:ext>
                </a:extLst>
              </p14:cNvPr>
              <p14:cNvContentPartPr/>
              <p14:nvPr userDrawn="1"/>
            </p14:nvContentPartPr>
            <p14:xfrm>
              <a:off x="5810220" y="4838430"/>
              <a:ext cx="238320" cy="19440"/>
            </p14:xfrm>
          </p:contentPart>
        </mc:Choice>
        <mc:Fallback xmlns="">
          <p:pic>
            <p:nvPicPr>
              <p:cNvPr id="13" name="Mürekkep 12">
                <a:extLst>
                  <a:ext uri="{FF2B5EF4-FFF2-40B4-BE49-F238E27FC236}">
                    <a16:creationId xmlns:a16="http://schemas.microsoft.com/office/drawing/2014/main" id="{A1E4DA85-F019-4E90-A6AA-7043F3D87AD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01220" y="4829594"/>
                <a:ext cx="255960" cy="367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90FFFC0-B22C-429C-95BD-DD45145FEBA8}"/>
                  </a:ext>
                </a:extLst>
              </p14:cNvPr>
              <p14:cNvContentPartPr/>
              <p14:nvPr userDrawn="1"/>
            </p14:nvContentPartPr>
            <p14:xfrm>
              <a:off x="7019925" y="123765"/>
              <a:ext cx="28800" cy="360"/>
            </p14:xfrm>
          </p:contentPart>
        </mc:Choice>
        <mc:Fallback xmlns="">
          <p:pic>
            <p:nvPicPr>
              <p:cNvPr id="19" name="Mürekkep 18">
                <a:extLst>
                  <a:ext uri="{FF2B5EF4-FFF2-40B4-BE49-F238E27FC236}">
                    <a16:creationId xmlns:a16="http://schemas.microsoft.com/office/drawing/2014/main" id="{790FFFC0-B22C-429C-95BD-DD45145FEBA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10925" y="114765"/>
                <a:ext cx="46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F2552DA-D8AD-49AD-B221-046C987028BC}"/>
                  </a:ext>
                </a:extLst>
              </p14:cNvPr>
              <p14:cNvContentPartPr/>
              <p14:nvPr userDrawn="1"/>
            </p14:nvContentPartPr>
            <p14:xfrm>
              <a:off x="4705125" y="7267500"/>
              <a:ext cx="19440" cy="9720"/>
            </p14:xfrm>
          </p:contentPart>
        </mc:Choice>
        <mc:Fallback xmlns="">
          <p:pic>
            <p:nvPicPr>
              <p:cNvPr id="21" name="Mürekkep 20">
                <a:extLst>
                  <a:ext uri="{FF2B5EF4-FFF2-40B4-BE49-F238E27FC236}">
                    <a16:creationId xmlns:a16="http://schemas.microsoft.com/office/drawing/2014/main" id="{4F2552DA-D8AD-49AD-B221-046C987028B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96125" y="7258821"/>
                <a:ext cx="37080" cy="2673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Dikdörtgen 9">
            <a:extLst>
              <a:ext uri="{FF2B5EF4-FFF2-40B4-BE49-F238E27FC236}">
                <a16:creationId xmlns:a16="http://schemas.microsoft.com/office/drawing/2014/main" id="{C6BF408C-A3FE-427A-BCAC-49F0BEAE4F3E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49000">
                <a:schemeClr val="tx1">
                  <a:alpha val="0"/>
                </a:scheme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97056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Başlık Slaydı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A3BFFD68-E7DA-43A0-A762-8DE3799F6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11415"/>
            <a:ext cx="9144000" cy="4021205"/>
          </a:xfrm>
        </p:spPr>
        <p:txBody>
          <a:bodyPr rtlCol="0">
            <a:normAutofit/>
          </a:bodyPr>
          <a:lstStyle>
            <a:lvl1pPr marL="0" indent="0" algn="l">
              <a:buNone/>
              <a:defRPr sz="13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/>
              <a:t>Click to edit Master subtitle style</a:t>
            </a:r>
            <a:endParaRPr lang="tr-T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1441076-21A4-4AB0-A4C3-2CD86B085516}"/>
                  </a:ext>
                </a:extLst>
              </p14:cNvPr>
              <p14:cNvContentPartPr/>
              <p14:nvPr userDrawn="1"/>
            </p14:nvContentPartPr>
            <p14:xfrm>
              <a:off x="3285825" y="7305630"/>
              <a:ext cx="360" cy="360"/>
            </p14:xfrm>
          </p:contentPart>
        </mc:Choice>
        <mc:Fallback xmlns="">
          <p:pic>
            <p:nvPicPr>
              <p:cNvPr id="8" name="Mürekkep 7">
                <a:extLst>
                  <a:ext uri="{FF2B5EF4-FFF2-40B4-BE49-F238E27FC236}">
                    <a16:creationId xmlns:a16="http://schemas.microsoft.com/office/drawing/2014/main" id="{01441076-21A4-4AB0-A4C3-2CD86B0855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76825" y="72966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12E5E6F-A5EC-4FFE-BD32-F34737E4091E}"/>
                  </a:ext>
                </a:extLst>
              </p14:cNvPr>
              <p14:cNvContentPartPr/>
              <p14:nvPr userDrawn="1"/>
            </p14:nvContentPartPr>
            <p14:xfrm>
              <a:off x="2238300" y="1333470"/>
              <a:ext cx="228960" cy="47520"/>
            </p14:xfrm>
          </p:contentPart>
        </mc:Choice>
        <mc:Fallback xmlns="">
          <p:pic>
            <p:nvPicPr>
              <p:cNvPr id="9" name="Mürekkep 8">
                <a:extLst>
                  <a:ext uri="{FF2B5EF4-FFF2-40B4-BE49-F238E27FC236}">
                    <a16:creationId xmlns:a16="http://schemas.microsoft.com/office/drawing/2014/main" id="{812E5E6F-A5EC-4FFE-BD32-F34737E409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29300" y="1324470"/>
                <a:ext cx="246600" cy="651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Başlık 1">
            <a:extLst>
              <a:ext uri="{FF2B5EF4-FFF2-40B4-BE49-F238E27FC236}">
                <a16:creationId xmlns:a16="http://schemas.microsoft.com/office/drawing/2014/main" id="{48DFEAF9-3C9A-4305-9782-3EE91C933D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495232"/>
          </a:xfrm>
        </p:spPr>
        <p:txBody>
          <a:bodyPr rtlCol="0" anchor="t">
            <a:normAutofit/>
          </a:bodyPr>
          <a:lstStyle>
            <a:lvl1pPr algn="l">
              <a:defRPr sz="2600">
                <a:solidFill>
                  <a:srgbClr val="408E93"/>
                </a:solidFill>
                <a:latin typeface="Agency FB" panose="020B0503020202020204" pitchFamily="34" charset="0"/>
                <a:cs typeface="Segoe UI Light" panose="020B0502040204020203" pitchFamily="34" charset="0"/>
              </a:defRPr>
            </a:lvl1pPr>
          </a:lstStyle>
          <a:p>
            <a:pPr rtl="0"/>
            <a:r>
              <a:rPr lang="tr-TR" dirty="0"/>
              <a:t>ASIL BAŞLIK STİLİNİ DÜZENLEMEK İÇİN TIKLAYIN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1E4DA85-F019-4E90-A6AA-7043F3D87AD7}"/>
                  </a:ext>
                </a:extLst>
              </p14:cNvPr>
              <p14:cNvContentPartPr/>
              <p14:nvPr userDrawn="1"/>
            </p14:nvContentPartPr>
            <p14:xfrm>
              <a:off x="5810220" y="4838430"/>
              <a:ext cx="238320" cy="19440"/>
            </p14:xfrm>
          </p:contentPart>
        </mc:Choice>
        <mc:Fallback xmlns="">
          <p:pic>
            <p:nvPicPr>
              <p:cNvPr id="13" name="Mürekkep 12">
                <a:extLst>
                  <a:ext uri="{FF2B5EF4-FFF2-40B4-BE49-F238E27FC236}">
                    <a16:creationId xmlns:a16="http://schemas.microsoft.com/office/drawing/2014/main" id="{A1E4DA85-F019-4E90-A6AA-7043F3D87AD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01220" y="4829594"/>
                <a:ext cx="255960" cy="367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90FFFC0-B22C-429C-95BD-DD45145FEBA8}"/>
                  </a:ext>
                </a:extLst>
              </p14:cNvPr>
              <p14:cNvContentPartPr/>
              <p14:nvPr userDrawn="1"/>
            </p14:nvContentPartPr>
            <p14:xfrm>
              <a:off x="7019925" y="123765"/>
              <a:ext cx="28800" cy="360"/>
            </p14:xfrm>
          </p:contentPart>
        </mc:Choice>
        <mc:Fallback xmlns="">
          <p:pic>
            <p:nvPicPr>
              <p:cNvPr id="19" name="Mürekkep 18">
                <a:extLst>
                  <a:ext uri="{FF2B5EF4-FFF2-40B4-BE49-F238E27FC236}">
                    <a16:creationId xmlns:a16="http://schemas.microsoft.com/office/drawing/2014/main" id="{790FFFC0-B22C-429C-95BD-DD45145FEBA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10925" y="114765"/>
                <a:ext cx="46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F2552DA-D8AD-49AD-B221-046C987028BC}"/>
                  </a:ext>
                </a:extLst>
              </p14:cNvPr>
              <p14:cNvContentPartPr/>
              <p14:nvPr userDrawn="1"/>
            </p14:nvContentPartPr>
            <p14:xfrm>
              <a:off x="4705125" y="7267500"/>
              <a:ext cx="19440" cy="9720"/>
            </p14:xfrm>
          </p:contentPart>
        </mc:Choice>
        <mc:Fallback xmlns="">
          <p:pic>
            <p:nvPicPr>
              <p:cNvPr id="21" name="Mürekkep 20">
                <a:extLst>
                  <a:ext uri="{FF2B5EF4-FFF2-40B4-BE49-F238E27FC236}">
                    <a16:creationId xmlns:a16="http://schemas.microsoft.com/office/drawing/2014/main" id="{4F2552DA-D8AD-49AD-B221-046C987028B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96125" y="7258821"/>
                <a:ext cx="37080" cy="2673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Dikdörtgen 9">
            <a:extLst>
              <a:ext uri="{FF2B5EF4-FFF2-40B4-BE49-F238E27FC236}">
                <a16:creationId xmlns:a16="http://schemas.microsoft.com/office/drawing/2014/main" id="{C6BF408C-A3FE-427A-BCAC-49F0BEAE4F3E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49000">
                <a:schemeClr val="tx1">
                  <a:alpha val="0"/>
                </a:scheme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8752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F8512A5-4A94-4AD1-8E4A-1EA129F98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1FE6721-7958-497F-BDBF-202EA49F1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tr-TR" dirty="0"/>
          </a:p>
        </p:txBody>
      </p:sp>
      <p:sp>
        <p:nvSpPr>
          <p:cNvPr id="4" name="Tarih Yer Tutucusu 3">
            <a:extLst>
              <a:ext uri="{FF2B5EF4-FFF2-40B4-BE49-F238E27FC236}">
                <a16:creationId xmlns:a16="http://schemas.microsoft.com/office/drawing/2014/main" id="{8F3C0A16-F783-4588-B672-5058DF08C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B46A837-ED98-4418-A965-C78EFE33A7EB}" type="datetime1">
              <a:rPr lang="tr-TR" smtClean="0"/>
              <a:pPr/>
              <a:t>27.09.2026</a:t>
            </a:fld>
            <a:endParaRPr lang="tr-TR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D350778-6411-40BC-969D-A8D237EDD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28D5302-3190-447A-93C9-69054625D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A717781-12D9-4CDB-9AAE-83636CBD66D6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7634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18A55D5-7F7F-4923-B13A-FB14C9079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en-US"/>
              <a:t>Click to edit Master title style</a:t>
            </a:r>
            <a:endParaRPr lang="tr-TR" dirty="0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7DA3E33-C1C5-4903-B6A0-5DCA0E5DA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Tarih Yer Tutucusu 3">
            <a:extLst>
              <a:ext uri="{FF2B5EF4-FFF2-40B4-BE49-F238E27FC236}">
                <a16:creationId xmlns:a16="http://schemas.microsoft.com/office/drawing/2014/main" id="{92CEEB41-7B20-4E9D-854C-61E519F59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CF62A7E-3234-4B27-8196-DB88F7CE31DF}" type="datetime1">
              <a:rPr lang="tr-TR" smtClean="0"/>
              <a:pPr/>
              <a:t>27.09.2026</a:t>
            </a:fld>
            <a:endParaRPr lang="tr-TR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15B4E84-AF49-469B-BA25-009B696C4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8771073-1660-4665-AD08-B1F6EEEC6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A717781-12D9-4CDB-9AAE-83636CBD66D6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31826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9164BBC-F386-4C51-801D-CF55F338F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181EA36-CB65-4957-AC4D-117C8B55F5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tr-TR" dirty="0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191E4BF-C484-4876-8267-5595D1433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tr-TR" dirty="0"/>
          </a:p>
        </p:txBody>
      </p:sp>
      <p:sp>
        <p:nvSpPr>
          <p:cNvPr id="5" name="Tarih Yer Tutucusu 4">
            <a:extLst>
              <a:ext uri="{FF2B5EF4-FFF2-40B4-BE49-F238E27FC236}">
                <a16:creationId xmlns:a16="http://schemas.microsoft.com/office/drawing/2014/main" id="{4E481A05-B3B3-484A-B9A2-C693BFC1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DD28AC1-5FBA-48DB-87EE-9E137D528710}" type="datetime1">
              <a:rPr lang="tr-TR" smtClean="0"/>
              <a:pPr/>
              <a:t>27.09.2026</a:t>
            </a:fld>
            <a:endParaRPr lang="tr-TR" dirty="0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4A2926F-1DF1-4A3A-B966-52626B39B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39902F3-1A49-445A-A094-55BF9A3AA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A717781-12D9-4CDB-9AAE-83636CBD66D6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6650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2A7F405-2652-4BEF-A9E4-BCBF252A1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tr-TR" dirty="0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8998658-AC9F-419A-9D28-703117D9C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97BF43B-ACB8-4022-9478-4B58FB2AC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tr-TR" dirty="0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4B47381A-DF82-4E57-86F2-79DDC1FDB8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E295A9D4-5434-4053-BEF7-D8D6112F6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tr-TR" dirty="0"/>
          </a:p>
        </p:txBody>
      </p:sp>
      <p:sp>
        <p:nvSpPr>
          <p:cNvPr id="7" name="Tarih Yer Tutucusu 6">
            <a:extLst>
              <a:ext uri="{FF2B5EF4-FFF2-40B4-BE49-F238E27FC236}">
                <a16:creationId xmlns:a16="http://schemas.microsoft.com/office/drawing/2014/main" id="{5A2203A2-768C-4C32-B8C9-5731FBE96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AFB9AC-BC22-48C2-950C-61ADDA3DFE6E}" type="datetime1">
              <a:rPr lang="tr-TR" smtClean="0"/>
              <a:pPr/>
              <a:t>27.09.2026</a:t>
            </a:fld>
            <a:endParaRPr lang="tr-TR" dirty="0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17F5DD0-FF5E-4C8E-BF51-AAA6F15FF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9CB89CD3-37F2-4CFC-B1A1-89865714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A717781-12D9-4CDB-9AAE-83636CBD66D6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84505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602C925-8B44-44C6-A649-F0FB17E73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tr-TR" dirty="0"/>
          </a:p>
        </p:txBody>
      </p:sp>
      <p:sp>
        <p:nvSpPr>
          <p:cNvPr id="3" name="Tarih Yer Tutucusu 2">
            <a:extLst>
              <a:ext uri="{FF2B5EF4-FFF2-40B4-BE49-F238E27FC236}">
                <a16:creationId xmlns:a16="http://schemas.microsoft.com/office/drawing/2014/main" id="{9B5067D9-9E44-4E2F-BB85-39F25AF8A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BC6B37D-F6DA-4324-9C76-A7F44DF3AE67}" type="datetime1">
              <a:rPr lang="tr-TR" smtClean="0"/>
              <a:pPr/>
              <a:t>27.09.2026</a:t>
            </a:fld>
            <a:endParaRPr lang="tr-TR" dirty="0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0695C9A-F3D4-4CAF-BD9C-9A781B281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243D576E-E81F-4A82-BCA1-6B1E01BA5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A717781-12D9-4CDB-9AAE-83636CBD66D6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9804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ih Yer Tutucusu 1">
            <a:extLst>
              <a:ext uri="{FF2B5EF4-FFF2-40B4-BE49-F238E27FC236}">
                <a16:creationId xmlns:a16="http://schemas.microsoft.com/office/drawing/2014/main" id="{70360874-81B9-450F-B82A-8EB5D1206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E6936C6-2B4E-4323-B4AE-2D0DB5FF5169}" type="datetime1">
              <a:rPr lang="tr-TR" smtClean="0"/>
              <a:pPr/>
              <a:t>27.09.2026</a:t>
            </a:fld>
            <a:endParaRPr lang="tr-TR" dirty="0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3CF7C3AE-3A6B-4C8B-B32A-82D82E596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CDDF9F8A-E694-41C4-963B-E3E4EC703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A717781-12D9-4CDB-9AAE-83636CBD66D6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51892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B872C95-0AD4-4269-8C2B-C4797C4EC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/>
              <a:t>Click to edit Master title style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CA06414-765F-4A8B-92F6-D0646CCCA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tr-TR" dirty="0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85ECD27-EF94-470B-8EFE-BDD4BAA71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5" name="Tarih Yer Tutucusu 4">
            <a:extLst>
              <a:ext uri="{FF2B5EF4-FFF2-40B4-BE49-F238E27FC236}">
                <a16:creationId xmlns:a16="http://schemas.microsoft.com/office/drawing/2014/main" id="{0F720F99-C49A-4BDA-8E4E-70AA21796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A5B9BFF-2F96-4862-9514-22B8C07D28C2}" type="datetime1">
              <a:rPr lang="tr-TR" smtClean="0"/>
              <a:pPr/>
              <a:t>27.09.2026</a:t>
            </a:fld>
            <a:endParaRPr lang="tr-TR" dirty="0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4BE342F-D088-48DF-BF68-ED3DCA16F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7FB5186-5A08-4217-B8C8-E3C89DE56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A717781-12D9-4CDB-9AAE-83636CBD66D6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82991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130A0E-257C-428F-8220-4F7319A3E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/>
              <a:t>Click to edit Master title style</a:t>
            </a:r>
            <a:endParaRPr lang="tr-TR" dirty="0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B9ACFB04-60BA-40B2-9683-87578BD0DC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/>
              <a:t>Click icon to add picture</a:t>
            </a:r>
            <a:endParaRPr lang="tr-TR" dirty="0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B90FF038-F1C0-4D94-B562-F30100354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5" name="Tarih Yer Tutucusu 4">
            <a:extLst>
              <a:ext uri="{FF2B5EF4-FFF2-40B4-BE49-F238E27FC236}">
                <a16:creationId xmlns:a16="http://schemas.microsoft.com/office/drawing/2014/main" id="{9D14D5EB-717A-432F-9FCB-41F026C35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18D0CCD-9725-4A1F-A54D-62726CD9FE73}" type="datetime1">
              <a:rPr lang="tr-TR" smtClean="0"/>
              <a:pPr/>
              <a:t>27.09.2026</a:t>
            </a:fld>
            <a:endParaRPr lang="tr-TR" dirty="0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FA96424-0E11-4259-9FFE-96E424A21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0324721-6543-486D-A232-9E51E9FB4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A717781-12D9-4CDB-9AAE-83636CBD66D6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02930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7C3A876-E09F-447C-AC70-625615722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tr-TR" dirty="0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6D81AE2-C534-4018-8D54-BFAC1D2E4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tr-TR" dirty="0"/>
          </a:p>
        </p:txBody>
      </p:sp>
      <p:sp>
        <p:nvSpPr>
          <p:cNvPr id="4" name="Tarih Yer Tutucusu 3">
            <a:extLst>
              <a:ext uri="{FF2B5EF4-FFF2-40B4-BE49-F238E27FC236}">
                <a16:creationId xmlns:a16="http://schemas.microsoft.com/office/drawing/2014/main" id="{68AE8180-78B8-4034-88AA-BF38D5475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C15E903-10EF-4BB6-A75F-35EE17ABB908}" type="datetime1">
              <a:rPr lang="tr-TR" smtClean="0"/>
              <a:pPr/>
              <a:t>27.09.2026</a:t>
            </a:fld>
            <a:endParaRPr lang="tr-TR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902CEA7-6339-43F1-8258-E91DD61E2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BBB3B7F-3DD1-4A58-A7A1-90D3371C9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A717781-12D9-4CDB-9AAE-83636CBD66D6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429613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A548BB54-5323-4DD3-9DB8-5CA26A5171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en-US"/>
              <a:t>Click to edit Master title style</a:t>
            </a:r>
            <a:endParaRPr lang="tr-TR" dirty="0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B240E1A9-E35B-44AB-8190-B6A7A068D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tr-TR" dirty="0"/>
          </a:p>
        </p:txBody>
      </p:sp>
      <p:sp>
        <p:nvSpPr>
          <p:cNvPr id="4" name="Tarih Yer Tutucusu 3">
            <a:extLst>
              <a:ext uri="{FF2B5EF4-FFF2-40B4-BE49-F238E27FC236}">
                <a16:creationId xmlns:a16="http://schemas.microsoft.com/office/drawing/2014/main" id="{F76AF8D8-7764-4D06-AE50-0B151AE65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27E6AE0-FB68-4058-9891-CB53EFBA45A4}" type="datetime1">
              <a:rPr lang="tr-TR" smtClean="0"/>
              <a:pPr/>
              <a:t>27.09.2026</a:t>
            </a:fld>
            <a:endParaRPr lang="tr-TR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022F050-008F-40E2-AA46-8DD0CD8CB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5663763-705B-464F-AB8B-F02AFAC92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A717781-12D9-4CDB-9AAE-83636CBD66D6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68712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61A9A825-7557-4500-8CCD-1373C95FF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tr-TR" dirty="0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4C4F931-B635-4B85-BE10-74008338E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tr-TR" dirty="0"/>
              <a:t>Asıl metin stillerini düzenle</a:t>
            </a:r>
          </a:p>
          <a:p>
            <a:pPr lvl="1" rtl="0"/>
            <a:r>
              <a:rPr lang="tr-TR" dirty="0"/>
              <a:t>İkinci düzey</a:t>
            </a:r>
          </a:p>
          <a:p>
            <a:pPr lvl="2" rtl="0"/>
            <a:r>
              <a:rPr lang="tr-TR" dirty="0"/>
              <a:t>Üçüncü düzey</a:t>
            </a:r>
          </a:p>
          <a:p>
            <a:pPr lvl="3" rtl="0"/>
            <a:r>
              <a:rPr lang="tr-TR" dirty="0"/>
              <a:t>Dördüncü düzey</a:t>
            </a:r>
          </a:p>
          <a:p>
            <a:pPr lvl="4" rtl="0"/>
            <a:r>
              <a:rPr lang="tr-TR" dirty="0"/>
              <a:t>Beşinci düzey</a:t>
            </a:r>
          </a:p>
        </p:txBody>
      </p:sp>
      <p:sp>
        <p:nvSpPr>
          <p:cNvPr id="4" name="Tarih Yer Tutucusu 3">
            <a:extLst>
              <a:ext uri="{FF2B5EF4-FFF2-40B4-BE49-F238E27FC236}">
                <a16:creationId xmlns:a16="http://schemas.microsoft.com/office/drawing/2014/main" id="{159AE95C-FC17-478C-AA9E-710213A4FD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04828-2EC0-4A9F-AC8E-C3752206C77B}" type="datetime1">
              <a:rPr lang="tr-TR" smtClean="0"/>
              <a:pPr/>
              <a:t>27.09.2026</a:t>
            </a:fld>
            <a:endParaRPr lang="tr-TR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5D4E31F-5B11-490E-AD3F-BE92E0F2D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tr-TR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FBDD7FA-F9F4-4DC4-9791-ACD495680E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A717781-12D9-4CDB-9AAE-83636CBD66D6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34248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elmabanzema/Data-Science-Capston-Project-/blob/main/SpaceX_Machine%20Learning%20Prediction_Part_5%20(1).ipynb" TargetMode="External"/><Relationship Id="rId3" Type="http://schemas.microsoft.com/office/2017/06/relationships/model3d" Target="../media/model3d1.glb"/><Relationship Id="rId7" Type="http://schemas.openxmlformats.org/officeDocument/2006/relationships/hyperlink" Target="https://github.com/Selmabanzema/Data-Science-Capston-Project-/blob/main/jupyter-labs-eda-sql-coursera_sqllite.ipynb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Selmabanzema/Data-Science-Capston-Project-/blob/main/labs-jupyter-spacex-Data%20wrangling.ipynb" TargetMode="External"/><Relationship Id="rId5" Type="http://schemas.openxmlformats.org/officeDocument/2006/relationships/hyperlink" Target="https://github.com/Selmabanzema/Data-Science-Capston-Project-" TargetMode="External"/><Relationship Id="rId4" Type="http://schemas.openxmlformats.org/officeDocument/2006/relationships/image" Target="../media/image9.png"/><Relationship Id="rId9" Type="http://schemas.openxmlformats.org/officeDocument/2006/relationships/hyperlink" Target="https://github.com/Selmabanzema/Data-Science-Capston-Project-/blob/main/creating%20a%20dash.py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17/06/relationships/model3d" Target="../media/model3d1.glb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6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37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customXml" Target="../ink/ink39.xm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customXml" Target="../ink/ink46.xm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7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9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0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4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5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B Model 6" descr="Uzayda Hubble teleskobu">
                <a:extLst>
                  <a:ext uri="{FF2B5EF4-FFF2-40B4-BE49-F238E27FC236}">
                    <a16:creationId xmlns:a16="http://schemas.microsoft.com/office/drawing/2014/main" id="{B7E86135-7738-4F94-8D30-FA8384C9A4E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07341619"/>
                  </p:ext>
                </p:extLst>
              </p:nvPr>
            </p:nvGraphicFramePr>
            <p:xfrm>
              <a:off x="4347382" y="-969161"/>
              <a:ext cx="9175484" cy="1028891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9175484" cy="10288913"/>
                    </a:xfrm>
                    <a:prstGeom prst="rect">
                      <a:avLst/>
                    </a:prstGeom>
                  </am3d:spPr>
                  <am3d:camera>
                    <am3d:pos x="0" y="0" z="6728691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29" d="1000000"/>
                    <am3d:preTrans dx="-25184794" dy="-14200281" dz="1"/>
                    <am3d:scale>
                      <am3d:sx n="1000000" d="1000000"/>
                      <am3d:sy n="1000000" d="1000000"/>
                      <am3d:sz n="1000000" d="1000000"/>
                    </am3d:scale>
                    <am3d:rot ax="-9410996" ay="-1452218" az="10203455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0700736"/>
                  <am3d:ambientLight>
                    <am3d:clr>
                      <a:scrgbClr r="50000" g="50000" b="50000"/>
                    </am3d:clr>
                    <am3d:illuminance n="10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-21960000" y="70920001" z="-16343999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37964097" y="51130435" z="-57631977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37739127" y="58056624" z="34769642"/>
                  </am3d:ptLight>
                </am3d:model3d>
              </a:graphicData>
            </a:graphic>
          </p:graphicFrame>
        </mc:Choice>
        <mc:Fallback>
          <p:pic>
            <p:nvPicPr>
              <p:cNvPr id="7" name="3B Model 6" descr="Uzayda Hubble teleskobu">
                <a:extLst>
                  <a:ext uri="{FF2B5EF4-FFF2-40B4-BE49-F238E27FC236}">
                    <a16:creationId xmlns:a16="http://schemas.microsoft.com/office/drawing/2014/main" id="{B7E86135-7738-4F94-8D30-FA8384C9A4E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47382" y="-969161"/>
                <a:ext cx="9175484" cy="10288913"/>
              </a:xfrm>
              <a:prstGeom prst="rect">
                <a:avLst/>
              </a:prstGeom>
            </p:spPr>
          </p:pic>
        </mc:Fallback>
      </mc:AlternateContent>
      <p:sp>
        <p:nvSpPr>
          <p:cNvPr id="6" name="Alt Başlık 2">
            <a:extLst>
              <a:ext uri="{FF2B5EF4-FFF2-40B4-BE49-F238E27FC236}">
                <a16:creationId xmlns:a16="http://schemas.microsoft.com/office/drawing/2014/main" id="{75391B8C-35E3-4CD3-80EA-927BBA230F9A}"/>
              </a:ext>
            </a:extLst>
          </p:cNvPr>
          <p:cNvSpPr txBox="1">
            <a:spLocks/>
          </p:cNvSpPr>
          <p:nvPr/>
        </p:nvSpPr>
        <p:spPr>
          <a:xfrm>
            <a:off x="214874" y="3241878"/>
            <a:ext cx="3760738" cy="239996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tr-TR" u="sng" dirty="0" err="1"/>
              <a:t>Auther</a:t>
            </a:r>
            <a:r>
              <a:rPr lang="tr-TR" u="sng" dirty="0"/>
              <a:t>: Selma Kinacioglu</a:t>
            </a:r>
          </a:p>
        </p:txBody>
      </p:sp>
      <p:sp>
        <p:nvSpPr>
          <p:cNvPr id="8" name="Başlık 1">
            <a:extLst>
              <a:ext uri="{FF2B5EF4-FFF2-40B4-BE49-F238E27FC236}">
                <a16:creationId xmlns:a16="http://schemas.microsoft.com/office/drawing/2014/main" id="{F5CE1E26-F327-4E29-A88F-28FD89D74C0F}"/>
              </a:ext>
            </a:extLst>
          </p:cNvPr>
          <p:cNvSpPr txBox="1">
            <a:spLocks/>
          </p:cNvSpPr>
          <p:nvPr/>
        </p:nvSpPr>
        <p:spPr>
          <a:xfrm>
            <a:off x="214873" y="2619874"/>
            <a:ext cx="12295781" cy="2399969"/>
          </a:xfrm>
          <a:prstGeom prst="rect">
            <a:avLst/>
          </a:prstGeom>
        </p:spPr>
        <p:txBody>
          <a:bodyPr rtlCol="0" anchor="t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dirty="0"/>
              <a:t>Data </a:t>
            </a:r>
            <a:r>
              <a:rPr lang="tr-TR" dirty="0" err="1"/>
              <a:t>Science</a:t>
            </a:r>
            <a:r>
              <a:rPr lang="tr-TR" dirty="0"/>
              <a:t> </a:t>
            </a:r>
            <a:r>
              <a:rPr lang="tr-TR" dirty="0" err="1"/>
              <a:t>Capstone</a:t>
            </a:r>
            <a:r>
              <a:rPr lang="tr-TR" dirty="0"/>
              <a:t> Project Report:</a:t>
            </a:r>
          </a:p>
          <a:p>
            <a:endParaRPr lang="tr-TR" dirty="0"/>
          </a:p>
          <a:p>
            <a:endParaRPr lang="tr-TR" dirty="0"/>
          </a:p>
          <a:p>
            <a:r>
              <a:rPr lang="tr-TR" dirty="0">
                <a:hlinkClick r:id="rId5"/>
              </a:rPr>
              <a:t>https://github.com/Selmabanzema/Data-Science-Capston-Project-</a:t>
            </a:r>
            <a:endParaRPr lang="tr-TR" dirty="0"/>
          </a:p>
          <a:p>
            <a:endParaRPr lang="tr-TR" dirty="0"/>
          </a:p>
          <a:p>
            <a:r>
              <a:rPr lang="tr-TR" dirty="0"/>
              <a:t>https://github.com/Selmabanzema/Data-Science-Capston-Project-/blob/main/jupyter-labs-webscraping.ipynb</a:t>
            </a:r>
          </a:p>
          <a:p>
            <a:r>
              <a:rPr lang="tr-TR" dirty="0">
                <a:hlinkClick r:id="rId6"/>
              </a:rPr>
              <a:t>https://github.com/Selmabanzema/Data-Science-Capston-Project-/blob/main/labs-jupyter-spacex-Data%20wrangling.ipynb</a:t>
            </a:r>
            <a:endParaRPr lang="tr-TR" dirty="0"/>
          </a:p>
          <a:p>
            <a:r>
              <a:rPr lang="tr-TR" dirty="0">
                <a:hlinkClick r:id="rId7"/>
              </a:rPr>
              <a:t>https://github.com/Selmabanzema/Data-Science-Capston-Project-/blob/main/jupyter-labs-eda-sql-coursera_sqllite.ipynb</a:t>
            </a:r>
            <a:endParaRPr lang="tr-TR" dirty="0"/>
          </a:p>
          <a:p>
            <a:r>
              <a:rPr lang="tr-TR" dirty="0">
                <a:hlinkClick r:id="rId8"/>
              </a:rPr>
              <a:t>https://github.com/Selmabanzema/Data-Science-Capston-Project-/blob/main/SpaceX_Machine%20Learning%20Prediction_Part_5%20(1).ipynb</a:t>
            </a:r>
            <a:endParaRPr lang="tr-TR" dirty="0"/>
          </a:p>
          <a:p>
            <a:r>
              <a:rPr lang="tr-TR" dirty="0">
                <a:hlinkClick r:id="rId9"/>
              </a:rPr>
              <a:t>https://github.com/Selmabanzema/Data-Science-Capston-Project-/blob/main/creating%20a%20dash.py</a:t>
            </a:r>
            <a:endParaRPr lang="tr-TR" dirty="0"/>
          </a:p>
          <a:p>
            <a:r>
              <a:rPr lang="tr-TR" dirty="0"/>
              <a:t>https://github.com/Selmabanzema/Data-Science-Capston-Project-/blob/main/edadataviz.ipynb</a:t>
            </a:r>
          </a:p>
          <a:p>
            <a:r>
              <a:rPr lang="tr-TR" dirty="0"/>
              <a:t>https://github.com/Selmabanzema/Data-Science-Capston-Project-/blob/main/lab_jupyter_launch_site_location.ipynb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cxnSp>
        <p:nvCxnSpPr>
          <p:cNvPr id="10" name="Düz Bağlayıcı 9" descr="Düz Bağlayıcı">
            <a:extLst>
              <a:ext uri="{FF2B5EF4-FFF2-40B4-BE49-F238E27FC236}">
                <a16:creationId xmlns:a16="http://schemas.microsoft.com/office/drawing/2014/main" id="{8DD09D74-9705-41D5-A824-7DDFCB3501D4}"/>
              </a:ext>
            </a:extLst>
          </p:cNvPr>
          <p:cNvCxnSpPr>
            <a:cxnSpLocks/>
          </p:cNvCxnSpPr>
          <p:nvPr/>
        </p:nvCxnSpPr>
        <p:spPr>
          <a:xfrm>
            <a:off x="264688" y="3087962"/>
            <a:ext cx="3710924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405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B Model 5" descr="Yörünge boyunca gücü altı nikel-hidrojen pil tarafından sağlanan Hubble teleskobunun önden görünüşü">
                <a:extLst>
                  <a:ext uri="{FF2B5EF4-FFF2-40B4-BE49-F238E27FC236}">
                    <a16:creationId xmlns:a16="http://schemas.microsoft.com/office/drawing/2014/main" id="{B7E86135-7738-4F94-8D30-FA8384C9A4E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78279860"/>
                  </p:ext>
                </p:extLst>
              </p:nvPr>
            </p:nvGraphicFramePr>
            <p:xfrm>
              <a:off x="4264093" y="-3967423"/>
              <a:ext cx="8259059" cy="12683838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8259059" cy="12683838"/>
                    </a:xfrm>
                    <a:prstGeom prst="rect">
                      <a:avLst/>
                    </a:prstGeom>
                  </am3d:spPr>
                  <am3d:camera>
                    <am3d:pos x="0" y="0" z="6728691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29" d="1000000"/>
                    <am3d:preTrans dx="-25184794" dy="-14200281" dz="1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1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5494873"/>
                  <am3d:ambientLight>
                    <am3d:clr>
                      <a:scrgbClr r="50000" g="50000" b="50000"/>
                    </am3d:clr>
                    <am3d:illuminance n="10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-21960000" y="70920001" z="-16343999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37964097" y="51130435" z="-57631977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37739127" y="58056624" z="34769642"/>
                  </am3d:ptLight>
                </am3d:model3d>
              </a:graphicData>
            </a:graphic>
          </p:graphicFrame>
        </mc:Choice>
        <mc:Fallback>
          <p:pic>
            <p:nvPicPr>
              <p:cNvPr id="6" name="3B Model 5" descr="Yörünge boyunca gücü altı nikel-hidrojen pil tarafından sağlanan Hubble teleskobunun önden görünüşü">
                <a:extLst>
                  <a:ext uri="{FF2B5EF4-FFF2-40B4-BE49-F238E27FC236}">
                    <a16:creationId xmlns:a16="http://schemas.microsoft.com/office/drawing/2014/main" id="{B7E86135-7738-4F94-8D30-FA8384C9A4E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64093" y="-3967423"/>
                <a:ext cx="8259059" cy="12683838"/>
              </a:xfrm>
              <a:prstGeom prst="rect">
                <a:avLst/>
              </a:prstGeom>
            </p:spPr>
          </p:pic>
        </mc:Fallback>
      </mc:AlternateContent>
      <p:sp>
        <p:nvSpPr>
          <p:cNvPr id="2" name="Başlık 1">
            <a:extLst>
              <a:ext uri="{FF2B5EF4-FFF2-40B4-BE49-F238E27FC236}">
                <a16:creationId xmlns:a16="http://schemas.microsoft.com/office/drawing/2014/main" id="{B44A5B7E-0F58-488F-B149-1D1DC9B6B9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2985" y="1891797"/>
            <a:ext cx="9144000" cy="495232"/>
          </a:xfrm>
        </p:spPr>
        <p:txBody>
          <a:bodyPr rtlCol="0">
            <a:normAutofit fontScale="90000"/>
          </a:bodyPr>
          <a:lstStyle/>
          <a:p>
            <a:pPr rtl="0"/>
            <a:r>
              <a:rPr lang="tr-TR" dirty="0"/>
              <a:t>AGANDA</a:t>
            </a:r>
            <a:br>
              <a:rPr lang="tr-TR" dirty="0"/>
            </a:b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811CCB4-5A42-4506-A2DE-4A66CDA93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2984" y="2480849"/>
            <a:ext cx="3886151" cy="4021205"/>
          </a:xfrm>
        </p:spPr>
        <p:txBody>
          <a:bodyPr rtlCol="0"/>
          <a:lstStyle/>
          <a:p>
            <a:pPr rtl="0">
              <a:lnSpc>
                <a:spcPct val="110000"/>
              </a:lnSpc>
            </a:pPr>
            <a:r>
              <a:rPr lang="tr-TR" dirty="0"/>
              <a:t>1-  </a:t>
            </a:r>
            <a:r>
              <a:rPr lang="tr-TR" dirty="0" err="1"/>
              <a:t>The</a:t>
            </a:r>
            <a:r>
              <a:rPr lang="tr-TR" dirty="0"/>
              <a:t> Main Problem</a:t>
            </a:r>
          </a:p>
          <a:p>
            <a:pPr rtl="0">
              <a:lnSpc>
                <a:spcPct val="110000"/>
              </a:lnSpc>
            </a:pPr>
            <a:r>
              <a:rPr lang="tr-TR" dirty="0"/>
              <a:t>2- TASK1: Data </a:t>
            </a:r>
            <a:r>
              <a:rPr lang="tr-TR" dirty="0" err="1"/>
              <a:t>Scrapping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Wraggling</a:t>
            </a:r>
            <a:br>
              <a:rPr lang="tr-TR" dirty="0"/>
            </a:br>
            <a:br>
              <a:rPr lang="tr-TR" dirty="0"/>
            </a:br>
            <a:r>
              <a:rPr lang="tr-TR" dirty="0"/>
              <a:t>3- TASK2: Data </a:t>
            </a:r>
            <a:r>
              <a:rPr lang="tr-TR" dirty="0" err="1"/>
              <a:t>Visulization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Dashboard</a:t>
            </a:r>
            <a:br>
              <a:rPr lang="tr-TR" dirty="0"/>
            </a:br>
            <a:br>
              <a:rPr lang="tr-TR" dirty="0"/>
            </a:br>
            <a:r>
              <a:rPr lang="tr-TR" dirty="0"/>
              <a:t>4- TASK3: Data Analysis </a:t>
            </a:r>
            <a:r>
              <a:rPr lang="tr-TR" dirty="0" err="1"/>
              <a:t>and</a:t>
            </a:r>
            <a:r>
              <a:rPr lang="tr-TR" dirty="0"/>
              <a:t> EDA</a:t>
            </a:r>
            <a:br>
              <a:rPr lang="tr-TR" dirty="0"/>
            </a:br>
            <a:br>
              <a:rPr lang="tr-TR" dirty="0"/>
            </a:br>
            <a:r>
              <a:rPr lang="tr-TR" dirty="0"/>
              <a:t>5- TASK4: </a:t>
            </a:r>
            <a:r>
              <a:rPr lang="tr-TR" dirty="0" err="1"/>
              <a:t>Predective</a:t>
            </a:r>
            <a:r>
              <a:rPr lang="tr-TR" dirty="0"/>
              <a:t> </a:t>
            </a:r>
            <a:r>
              <a:rPr lang="tr-TR" dirty="0" err="1"/>
              <a:t>Anaylsis</a:t>
            </a:r>
            <a:endParaRPr lang="tr-TR" dirty="0"/>
          </a:p>
          <a:p>
            <a:pPr rtl="0">
              <a:lnSpc>
                <a:spcPct val="110000"/>
              </a:lnSpc>
            </a:pPr>
            <a:r>
              <a:rPr lang="tr-TR" dirty="0"/>
              <a:t>6- </a:t>
            </a:r>
            <a:r>
              <a:rPr lang="tr-TR" dirty="0" err="1"/>
              <a:t>Conclusion</a:t>
            </a:r>
            <a:r>
              <a:rPr lang="tr-TR" dirty="0"/>
              <a:t> &amp; Link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14:cNvPr>
              <p14:cNvContentPartPr/>
              <p14:nvPr/>
            </p14:nvContentPartPr>
            <p14:xfrm>
              <a:off x="3838395" y="7372005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29395" y="7363005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2" name="Düz Bağlayıcı 11" descr="Düz Bağlayıcı">
            <a:extLst>
              <a:ext uri="{FF2B5EF4-FFF2-40B4-BE49-F238E27FC236}">
                <a16:creationId xmlns:a16="http://schemas.microsoft.com/office/drawing/2014/main" id="{54417E9A-885B-4AB5-82EC-43B6D9F71BAD}"/>
              </a:ext>
            </a:extLst>
          </p:cNvPr>
          <p:cNvCxnSpPr>
            <a:cxnSpLocks/>
          </p:cNvCxnSpPr>
          <p:nvPr/>
        </p:nvCxnSpPr>
        <p:spPr>
          <a:xfrm>
            <a:off x="966323" y="2358454"/>
            <a:ext cx="43968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Resim 9" descr="Daire içinde kırmızı nokta">
            <a:extLst>
              <a:ext uri="{FF2B5EF4-FFF2-40B4-BE49-F238E27FC236}">
                <a16:creationId xmlns:a16="http://schemas.microsoft.com/office/drawing/2014/main" id="{A6F0F6E8-910C-4141-A329-EB9A062328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041" y="2228044"/>
            <a:ext cx="276225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007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44A5B7E-0F58-488F-B149-1D1DC9B6B9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95232"/>
          </a:xfrm>
        </p:spPr>
        <p:txBody>
          <a:bodyPr rtlCol="0"/>
          <a:lstStyle/>
          <a:p>
            <a:pPr rtl="0"/>
            <a:r>
              <a:rPr lang="tr-TR" dirty="0"/>
              <a:t>THE MAIN PROBLEM : </a:t>
            </a:r>
            <a:r>
              <a:rPr lang="tr-TR" dirty="0" err="1"/>
              <a:t>Summary</a:t>
            </a: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811CCB4-5A42-4506-A2DE-4A66CDA93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53842"/>
            <a:ext cx="6813756" cy="4021205"/>
          </a:xfrm>
        </p:spPr>
        <p:txBody>
          <a:bodyPr rtlCol="0"/>
          <a:lstStyle/>
          <a:p>
            <a:r>
              <a:rPr lang="tr-TR" dirty="0"/>
              <a:t>Falcon 9 is a </a:t>
            </a:r>
            <a:r>
              <a:rPr lang="tr-TR" dirty="0" err="1"/>
              <a:t>rocket</a:t>
            </a:r>
            <a:r>
              <a:rPr lang="tr-TR" dirty="0"/>
              <a:t> </a:t>
            </a:r>
            <a:r>
              <a:rPr lang="tr-TR" dirty="0" err="1"/>
              <a:t>made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SpaceX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is </a:t>
            </a:r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things</a:t>
            </a:r>
            <a:r>
              <a:rPr lang="tr-TR" dirty="0"/>
              <a:t> </a:t>
            </a:r>
            <a:r>
              <a:rPr lang="tr-TR" dirty="0" err="1"/>
              <a:t>into</a:t>
            </a:r>
            <a:r>
              <a:rPr lang="tr-TR" dirty="0"/>
              <a:t> </a:t>
            </a:r>
            <a:r>
              <a:rPr lang="tr-TR" dirty="0" err="1"/>
              <a:t>space</a:t>
            </a:r>
            <a:r>
              <a:rPr lang="tr-TR" dirty="0"/>
              <a:t>, </a:t>
            </a:r>
            <a:r>
              <a:rPr lang="tr-TR" dirty="0" err="1"/>
              <a:t>such</a:t>
            </a:r>
            <a:r>
              <a:rPr lang="tr-TR" dirty="0"/>
              <a:t> as </a:t>
            </a:r>
            <a:r>
              <a:rPr lang="tr-TR" dirty="0" err="1"/>
              <a:t>satellites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spacecraft</a:t>
            </a:r>
            <a:r>
              <a:rPr lang="tr-TR" dirty="0"/>
              <a:t>.</a:t>
            </a:r>
          </a:p>
          <a:p>
            <a:r>
              <a:rPr lang="tr-TR" dirty="0"/>
              <a:t>🚀 Falcon = </a:t>
            </a:r>
            <a:r>
              <a:rPr lang="tr-TR" dirty="0" err="1"/>
              <a:t>the</a:t>
            </a:r>
            <a:r>
              <a:rPr lang="tr-TR" dirty="0"/>
              <a:t> name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rocket</a:t>
            </a:r>
            <a:r>
              <a:rPr lang="tr-TR" dirty="0"/>
              <a:t> </a:t>
            </a:r>
            <a:r>
              <a:rPr lang="tr-TR" dirty="0" err="1"/>
              <a:t>family</a:t>
            </a:r>
            <a:r>
              <a:rPr lang="tr-TR" dirty="0"/>
              <a:t>. </a:t>
            </a:r>
          </a:p>
          <a:p>
            <a:r>
              <a:rPr lang="tr-TR" dirty="0"/>
              <a:t>Falcon 9 = a </a:t>
            </a:r>
            <a:r>
              <a:rPr lang="tr-TR" dirty="0" err="1"/>
              <a:t>specific</a:t>
            </a:r>
            <a:r>
              <a:rPr lang="tr-TR" dirty="0"/>
              <a:t> </a:t>
            </a:r>
            <a:r>
              <a:rPr lang="tr-TR" dirty="0" err="1"/>
              <a:t>SpaceX</a:t>
            </a:r>
            <a:r>
              <a:rPr lang="tr-TR" dirty="0"/>
              <a:t> </a:t>
            </a:r>
            <a:r>
              <a:rPr lang="tr-TR" dirty="0" err="1"/>
              <a:t>rocket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9 </a:t>
            </a:r>
            <a:r>
              <a:rPr lang="tr-TR" dirty="0" err="1"/>
              <a:t>engines</a:t>
            </a:r>
            <a:r>
              <a:rPr lang="tr-TR" dirty="0"/>
              <a:t> on </a:t>
            </a:r>
            <a:r>
              <a:rPr lang="tr-TR" dirty="0" err="1"/>
              <a:t>its</a:t>
            </a:r>
            <a:r>
              <a:rPr lang="tr-TR" dirty="0"/>
              <a:t> </a:t>
            </a:r>
            <a:r>
              <a:rPr lang="tr-TR" dirty="0" err="1"/>
              <a:t>first</a:t>
            </a:r>
            <a:r>
              <a:rPr lang="tr-TR" dirty="0"/>
              <a:t> </a:t>
            </a:r>
            <a:r>
              <a:rPr lang="tr-TR" dirty="0" err="1"/>
              <a:t>stage</a:t>
            </a:r>
            <a:r>
              <a:rPr lang="tr-TR" dirty="0"/>
              <a:t>. </a:t>
            </a:r>
          </a:p>
          <a:p>
            <a:r>
              <a:rPr lang="tr-TR" dirty="0" err="1"/>
              <a:t>SpaceX</a:t>
            </a:r>
            <a:r>
              <a:rPr lang="tr-TR" dirty="0"/>
              <a:t> =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company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develops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operates</a:t>
            </a:r>
            <a:r>
              <a:rPr lang="tr-TR" dirty="0"/>
              <a:t> it.</a:t>
            </a:r>
          </a:p>
          <a:p>
            <a:endParaRPr lang="tr-TR" dirty="0"/>
          </a:p>
          <a:p>
            <a:pPr lvl="0"/>
            <a:r>
              <a:rPr lang="tr-TR" dirty="0" err="1"/>
              <a:t>The</a:t>
            </a:r>
            <a:r>
              <a:rPr lang="tr-TR" dirty="0"/>
              <a:t> main problem is </a:t>
            </a:r>
            <a:r>
              <a:rPr lang="tr-TR" dirty="0" err="1"/>
              <a:t>will</a:t>
            </a:r>
            <a:r>
              <a:rPr lang="tr-TR" dirty="0"/>
              <a:t> be </a:t>
            </a:r>
            <a:r>
              <a:rPr lang="tr-TR" dirty="0" err="1"/>
              <a:t>working</a:t>
            </a:r>
            <a:r>
              <a:rPr lang="tr-TR" dirty="0"/>
              <a:t> on 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station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have</a:t>
            </a:r>
            <a:r>
              <a:rPr lang="tr-TR" dirty="0"/>
              <a:t> </a:t>
            </a:r>
            <a:r>
              <a:rPr lang="tr-TR" dirty="0" err="1"/>
              <a:t>been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falcon</a:t>
            </a:r>
            <a:r>
              <a:rPr lang="tr-TR" dirty="0"/>
              <a:t> </a:t>
            </a:r>
            <a:r>
              <a:rPr lang="tr-TR" dirty="0" err="1"/>
              <a:t>will</a:t>
            </a:r>
            <a:r>
              <a:rPr lang="tr-TR" dirty="0"/>
              <a:t> can be </a:t>
            </a:r>
            <a:r>
              <a:rPr lang="tr-TR" dirty="0" err="1"/>
              <a:t>reused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note</a:t>
            </a:r>
            <a:r>
              <a:rPr lang="tr-TR" dirty="0"/>
              <a:t>,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dirty="0" err="1"/>
              <a:t>pyhon</a:t>
            </a:r>
            <a:r>
              <a:rPr lang="tr-TR" dirty="0"/>
              <a:t>, </a:t>
            </a:r>
          </a:p>
          <a:p>
            <a:pPr lvl="0"/>
            <a:r>
              <a:rPr lang="tr-TR" dirty="0"/>
              <a:t>Data </a:t>
            </a:r>
            <a:r>
              <a:rPr lang="tr-TR" dirty="0" err="1"/>
              <a:t>anaylising</a:t>
            </a:r>
            <a:r>
              <a:rPr lang="tr-TR" dirty="0"/>
              <a:t>, </a:t>
            </a:r>
            <a:r>
              <a:rPr lang="tr-TR" dirty="0" err="1"/>
              <a:t>predictive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reporting</a:t>
            </a:r>
            <a:r>
              <a:rPr lang="tr-TR" dirty="0"/>
              <a:t> in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presentation</a:t>
            </a:r>
            <a:endParaRPr lang="tr-TR" dirty="0"/>
          </a:p>
          <a:p>
            <a:pPr lvl="0"/>
            <a:endParaRPr lang="tr-T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14:cNvPr>
              <p14:cNvContentPartPr/>
              <p14:nvPr/>
            </p14:nvContentPartPr>
            <p14:xfrm>
              <a:off x="3838395" y="7372005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29395" y="7363005"/>
                <a:ext cx="1800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" name="Grup 3" descr="Düz Bağlayıcı ve Daire içinde kırmızı nokta">
            <a:extLst>
              <a:ext uri="{FF2B5EF4-FFF2-40B4-BE49-F238E27FC236}">
                <a16:creationId xmlns:a16="http://schemas.microsoft.com/office/drawing/2014/main" id="{D0B9750C-761C-4EEF-BCCB-9D64B77B41B6}"/>
              </a:ext>
            </a:extLst>
          </p:cNvPr>
          <p:cNvGrpSpPr/>
          <p:nvPr/>
        </p:nvGrpSpPr>
        <p:grpSpPr>
          <a:xfrm>
            <a:off x="1557338" y="1458610"/>
            <a:ext cx="5513866" cy="276225"/>
            <a:chOff x="1557338" y="1458610"/>
            <a:chExt cx="5513866" cy="276225"/>
          </a:xfrm>
        </p:grpSpPr>
        <p:cxnSp>
          <p:nvCxnSpPr>
            <p:cNvPr id="12" name="Düz Bağlayıcı 11">
              <a:extLst>
                <a:ext uri="{FF2B5EF4-FFF2-40B4-BE49-F238E27FC236}">
                  <a16:creationId xmlns:a16="http://schemas.microsoft.com/office/drawing/2014/main" id="{54417E9A-885B-4AB5-82EC-43B6D9F71BAD}"/>
                </a:ext>
              </a:extLst>
            </p:cNvPr>
            <p:cNvCxnSpPr/>
            <p:nvPr/>
          </p:nvCxnSpPr>
          <p:spPr>
            <a:xfrm>
              <a:off x="1557338" y="1589020"/>
              <a:ext cx="5362574" cy="0"/>
            </a:xfrm>
            <a:prstGeom prst="line">
              <a:avLst/>
            </a:prstGeom>
            <a:ln>
              <a:solidFill>
                <a:schemeClr val="bg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Resim 9" descr="Daire içinde kırmızı nokta">
              <a:extLst>
                <a:ext uri="{FF2B5EF4-FFF2-40B4-BE49-F238E27FC236}">
                  <a16:creationId xmlns:a16="http://schemas.microsoft.com/office/drawing/2014/main" id="{A6F0F6E8-910C-4141-A329-EB9A06232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94979" y="1458610"/>
              <a:ext cx="276225" cy="276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0246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D6076-48AB-0D4F-203E-97DAF480E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1D35F97-6BB5-5F2D-4E53-DC12DFF4D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95232"/>
          </a:xfrm>
        </p:spPr>
        <p:txBody>
          <a:bodyPr rtlCol="0"/>
          <a:lstStyle/>
          <a:p>
            <a:pPr rtl="0"/>
            <a:r>
              <a:rPr lang="tr-TR" dirty="0"/>
              <a:t>THE MAIN PROBLEM : </a:t>
            </a:r>
            <a:r>
              <a:rPr lang="tr-TR" dirty="0" err="1"/>
              <a:t>Summary</a:t>
            </a: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E2BF6D3-EA33-9C9D-9EAF-C02754BA1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53842"/>
            <a:ext cx="9949884" cy="4977900"/>
          </a:xfrm>
        </p:spPr>
        <p:txBody>
          <a:bodyPr rtlCol="0"/>
          <a:lstStyle/>
          <a:p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project</a:t>
            </a:r>
            <a:r>
              <a:rPr lang="tr-TR" dirty="0"/>
              <a:t> </a:t>
            </a:r>
            <a:r>
              <a:rPr lang="tr-TR" dirty="0" err="1"/>
              <a:t>investigates</a:t>
            </a:r>
            <a:r>
              <a:rPr lang="tr-TR" dirty="0"/>
              <a:t> </a:t>
            </a:r>
            <a:r>
              <a:rPr lang="tr-TR" dirty="0" err="1"/>
              <a:t>SpaceX</a:t>
            </a:r>
            <a:r>
              <a:rPr lang="tr-TR" dirty="0"/>
              <a:t> Falcon 9 </a:t>
            </a:r>
            <a:r>
              <a:rPr lang="tr-TR" dirty="0" err="1"/>
              <a:t>launch</a:t>
            </a:r>
            <a:r>
              <a:rPr lang="tr-TR" dirty="0"/>
              <a:t> data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main </a:t>
            </a:r>
            <a:r>
              <a:rPr lang="tr-TR" dirty="0" err="1"/>
              <a:t>objective</a:t>
            </a:r>
            <a:r>
              <a:rPr lang="tr-TR" dirty="0"/>
              <a:t> of </a:t>
            </a:r>
            <a:r>
              <a:rPr lang="tr-TR" dirty="0" err="1"/>
              <a:t>understanding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predicting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successful</a:t>
            </a:r>
            <a:r>
              <a:rPr lang="tr-TR" dirty="0"/>
              <a:t> </a:t>
            </a:r>
            <a:r>
              <a:rPr lang="tr-TR" dirty="0" err="1"/>
              <a:t>landing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rocket's</a:t>
            </a:r>
            <a:r>
              <a:rPr lang="tr-TR" dirty="0"/>
              <a:t> </a:t>
            </a:r>
            <a:r>
              <a:rPr lang="tr-TR" dirty="0" err="1"/>
              <a:t>first</a:t>
            </a:r>
            <a:r>
              <a:rPr lang="tr-TR" dirty="0"/>
              <a:t> </a:t>
            </a:r>
            <a:r>
              <a:rPr lang="tr-TR" dirty="0" err="1"/>
              <a:t>stage</a:t>
            </a:r>
            <a:r>
              <a:rPr lang="tr-TR" dirty="0"/>
              <a:t>. </a:t>
            </a:r>
            <a:r>
              <a:rPr lang="tr-TR" dirty="0" err="1"/>
              <a:t>Because</a:t>
            </a:r>
            <a:r>
              <a:rPr lang="tr-TR" dirty="0"/>
              <a:t> </a:t>
            </a:r>
            <a:r>
              <a:rPr lang="tr-TR" dirty="0" err="1"/>
              <a:t>first-stage</a:t>
            </a:r>
            <a:r>
              <a:rPr lang="tr-TR" dirty="0"/>
              <a:t> </a:t>
            </a:r>
            <a:r>
              <a:rPr lang="tr-TR" dirty="0" err="1"/>
              <a:t>reusability</a:t>
            </a:r>
            <a:r>
              <a:rPr lang="tr-TR" dirty="0"/>
              <a:t> is an </a:t>
            </a:r>
            <a:r>
              <a:rPr lang="tr-TR" dirty="0" err="1"/>
              <a:t>important</a:t>
            </a:r>
            <a:r>
              <a:rPr lang="tr-TR" dirty="0"/>
              <a:t> </a:t>
            </a:r>
            <a:r>
              <a:rPr lang="tr-TR" dirty="0" err="1"/>
              <a:t>factor</a:t>
            </a:r>
            <a:r>
              <a:rPr lang="tr-TR" dirty="0"/>
              <a:t> in </a:t>
            </a:r>
            <a:r>
              <a:rPr lang="tr-TR" dirty="0" err="1"/>
              <a:t>reducing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costs</a:t>
            </a:r>
            <a:r>
              <a:rPr lang="tr-TR" dirty="0"/>
              <a:t>, </a:t>
            </a:r>
            <a:r>
              <a:rPr lang="tr-TR" dirty="0" err="1"/>
              <a:t>predicting</a:t>
            </a:r>
            <a:r>
              <a:rPr lang="tr-TR" dirty="0"/>
              <a:t>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success</a:t>
            </a:r>
            <a:r>
              <a:rPr lang="tr-TR" dirty="0"/>
              <a:t> can </a:t>
            </a:r>
            <a:r>
              <a:rPr lang="tr-TR" dirty="0" err="1"/>
              <a:t>provide</a:t>
            </a:r>
            <a:r>
              <a:rPr lang="tr-TR" dirty="0"/>
              <a:t> </a:t>
            </a:r>
            <a:r>
              <a:rPr lang="tr-TR" dirty="0" err="1"/>
              <a:t>valuable</a:t>
            </a:r>
            <a:r>
              <a:rPr lang="tr-TR" dirty="0"/>
              <a:t> </a:t>
            </a:r>
            <a:r>
              <a:rPr lang="tr-TR" dirty="0" err="1"/>
              <a:t>information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evaluating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feasibility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supporting</a:t>
            </a:r>
            <a:r>
              <a:rPr lang="tr-TR" dirty="0"/>
              <a:t> </a:t>
            </a:r>
            <a:r>
              <a:rPr lang="tr-TR" dirty="0" err="1"/>
              <a:t>competitive</a:t>
            </a:r>
            <a:r>
              <a:rPr lang="tr-TR" dirty="0"/>
              <a:t> </a:t>
            </a:r>
            <a:r>
              <a:rPr lang="tr-TR" dirty="0" err="1"/>
              <a:t>pricing</a:t>
            </a:r>
            <a:r>
              <a:rPr lang="tr-TR" dirty="0"/>
              <a:t> </a:t>
            </a:r>
            <a:r>
              <a:rPr lang="tr-TR" dirty="0" err="1"/>
              <a:t>decisions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project</a:t>
            </a:r>
            <a:r>
              <a:rPr lang="tr-TR" dirty="0"/>
              <a:t> </a:t>
            </a:r>
            <a:r>
              <a:rPr lang="tr-TR" dirty="0" err="1"/>
              <a:t>follows</a:t>
            </a:r>
            <a:r>
              <a:rPr lang="tr-TR" dirty="0"/>
              <a:t> a </a:t>
            </a:r>
            <a:r>
              <a:rPr lang="tr-TR" dirty="0" err="1"/>
              <a:t>complete</a:t>
            </a:r>
            <a:r>
              <a:rPr lang="tr-TR" dirty="0"/>
              <a:t> data </a:t>
            </a:r>
            <a:r>
              <a:rPr lang="tr-TR" dirty="0" err="1"/>
              <a:t>science</a:t>
            </a:r>
            <a:r>
              <a:rPr lang="tr-TR" dirty="0"/>
              <a:t> </a:t>
            </a:r>
            <a:r>
              <a:rPr lang="tr-TR" dirty="0" err="1"/>
              <a:t>workflow</a:t>
            </a:r>
            <a:r>
              <a:rPr lang="tr-TR" dirty="0"/>
              <a:t>, </a:t>
            </a:r>
            <a:r>
              <a:rPr lang="tr-TR" dirty="0" err="1"/>
              <a:t>beginning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data </a:t>
            </a:r>
            <a:r>
              <a:rPr lang="tr-TR" dirty="0" err="1"/>
              <a:t>collection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SpaceX</a:t>
            </a:r>
            <a:r>
              <a:rPr lang="tr-TR" dirty="0"/>
              <a:t> API </a:t>
            </a:r>
            <a:r>
              <a:rPr lang="tr-TR" dirty="0" err="1"/>
              <a:t>and</a:t>
            </a:r>
            <a:r>
              <a:rPr lang="tr-TR" dirty="0"/>
              <a:t> web </a:t>
            </a:r>
            <a:r>
              <a:rPr lang="tr-TR" dirty="0" err="1"/>
              <a:t>scraping</a:t>
            </a:r>
            <a:r>
              <a:rPr lang="tr-TR" dirty="0"/>
              <a:t>, </a:t>
            </a:r>
            <a:r>
              <a:rPr lang="tr-TR" dirty="0" err="1"/>
              <a:t>followed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data </a:t>
            </a:r>
            <a:r>
              <a:rPr lang="tr-TR" dirty="0" err="1"/>
              <a:t>cleaning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transformation</a:t>
            </a:r>
            <a:r>
              <a:rPr lang="tr-TR" dirty="0"/>
              <a:t>. </a:t>
            </a:r>
            <a:r>
              <a:rPr lang="tr-TR" dirty="0" err="1"/>
              <a:t>Exploratory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was</a:t>
            </a:r>
            <a:r>
              <a:rPr lang="tr-TR" dirty="0"/>
              <a:t> </a:t>
            </a:r>
            <a:r>
              <a:rPr lang="tr-TR" dirty="0" err="1"/>
              <a:t>then</a:t>
            </a:r>
            <a:r>
              <a:rPr lang="tr-TR" dirty="0"/>
              <a:t> </a:t>
            </a:r>
            <a:r>
              <a:rPr lang="tr-TR" dirty="0" err="1"/>
              <a:t>performed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Python, SQL, </a:t>
            </a:r>
            <a:r>
              <a:rPr lang="tr-TR" dirty="0" err="1"/>
              <a:t>statistical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interactive</a:t>
            </a:r>
            <a:r>
              <a:rPr lang="tr-TR" dirty="0"/>
              <a:t> </a:t>
            </a:r>
            <a:r>
              <a:rPr lang="tr-TR" dirty="0" err="1"/>
              <a:t>visualizations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investigate</a:t>
            </a:r>
            <a:r>
              <a:rPr lang="tr-TR" dirty="0"/>
              <a:t> </a:t>
            </a:r>
            <a:r>
              <a:rPr lang="tr-TR" dirty="0" err="1"/>
              <a:t>relationships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success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factors</a:t>
            </a:r>
            <a:r>
              <a:rPr lang="tr-TR" dirty="0"/>
              <a:t> </a:t>
            </a:r>
            <a:r>
              <a:rPr lang="tr-TR" dirty="0" err="1"/>
              <a:t>such</a:t>
            </a:r>
            <a:r>
              <a:rPr lang="tr-TR" dirty="0"/>
              <a:t> as </a:t>
            </a:r>
            <a:r>
              <a:rPr lang="tr-TR" dirty="0" err="1"/>
              <a:t>launch</a:t>
            </a:r>
            <a:r>
              <a:rPr lang="tr-TR" dirty="0"/>
              <a:t> site, </a:t>
            </a:r>
            <a:r>
              <a:rPr lang="tr-TR" dirty="0" err="1"/>
              <a:t>payload</a:t>
            </a:r>
            <a:r>
              <a:rPr lang="tr-TR" dirty="0"/>
              <a:t> </a:t>
            </a:r>
            <a:r>
              <a:rPr lang="tr-TR" dirty="0" err="1"/>
              <a:t>mass</a:t>
            </a:r>
            <a:r>
              <a:rPr lang="tr-TR" dirty="0"/>
              <a:t>, </a:t>
            </a:r>
            <a:r>
              <a:rPr lang="tr-TR" dirty="0" err="1"/>
              <a:t>flight</a:t>
            </a:r>
            <a:r>
              <a:rPr lang="tr-TR" dirty="0"/>
              <a:t> </a:t>
            </a:r>
            <a:r>
              <a:rPr lang="tr-TR" dirty="0" err="1"/>
              <a:t>number</a:t>
            </a:r>
            <a:r>
              <a:rPr lang="tr-TR" dirty="0"/>
              <a:t>, orbit, </a:t>
            </a:r>
            <a:r>
              <a:rPr lang="tr-TR" dirty="0" err="1"/>
              <a:t>and</a:t>
            </a:r>
            <a:r>
              <a:rPr lang="tr-TR" dirty="0"/>
              <a:t> time. </a:t>
            </a:r>
            <a:r>
              <a:rPr lang="tr-TR" dirty="0" err="1"/>
              <a:t>Geographical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dirty="0" err="1"/>
              <a:t>Folium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an </a:t>
            </a:r>
            <a:r>
              <a:rPr lang="tr-TR" dirty="0" err="1"/>
              <a:t>interactive</a:t>
            </a:r>
            <a:r>
              <a:rPr lang="tr-TR" dirty="0"/>
              <a:t> </a:t>
            </a:r>
            <a:r>
              <a:rPr lang="tr-TR" dirty="0" err="1"/>
              <a:t>Plotly</a:t>
            </a:r>
            <a:r>
              <a:rPr lang="tr-TR" dirty="0"/>
              <a:t> </a:t>
            </a:r>
            <a:r>
              <a:rPr lang="tr-TR" dirty="0" err="1"/>
              <a:t>Dash</a:t>
            </a:r>
            <a:r>
              <a:rPr lang="tr-TR" dirty="0"/>
              <a:t> </a:t>
            </a:r>
            <a:r>
              <a:rPr lang="tr-TR" dirty="0" err="1"/>
              <a:t>dashboard</a:t>
            </a:r>
            <a:r>
              <a:rPr lang="tr-TR" dirty="0"/>
              <a:t> </a:t>
            </a:r>
            <a:r>
              <a:rPr lang="tr-TR" dirty="0" err="1"/>
              <a:t>provided</a:t>
            </a:r>
            <a:r>
              <a:rPr lang="tr-TR" dirty="0"/>
              <a:t> </a:t>
            </a:r>
            <a:r>
              <a:rPr lang="tr-TR" dirty="0" err="1"/>
              <a:t>additional</a:t>
            </a:r>
            <a:r>
              <a:rPr lang="tr-TR" dirty="0"/>
              <a:t> </a:t>
            </a:r>
            <a:r>
              <a:rPr lang="tr-TR" dirty="0" err="1"/>
              <a:t>insight</a:t>
            </a:r>
            <a:r>
              <a:rPr lang="tr-TR" dirty="0"/>
              <a:t> </a:t>
            </a:r>
            <a:r>
              <a:rPr lang="tr-TR" dirty="0" err="1"/>
              <a:t>into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-site </a:t>
            </a:r>
            <a:r>
              <a:rPr lang="tr-TR" dirty="0" err="1"/>
              <a:t>performance</a:t>
            </a:r>
            <a:r>
              <a:rPr lang="tr-TR" dirty="0"/>
              <a:t>. </a:t>
            </a:r>
            <a:r>
              <a:rPr lang="tr-TR" dirty="0" err="1"/>
              <a:t>Finally</a:t>
            </a:r>
            <a:r>
              <a:rPr lang="tr-TR" dirty="0"/>
              <a:t>, </a:t>
            </a:r>
            <a:r>
              <a:rPr lang="tr-TR" dirty="0" err="1"/>
              <a:t>several</a:t>
            </a:r>
            <a:r>
              <a:rPr lang="tr-TR" dirty="0"/>
              <a:t> </a:t>
            </a:r>
            <a:r>
              <a:rPr lang="tr-TR" dirty="0" err="1"/>
              <a:t>machine-learning</a:t>
            </a:r>
            <a:r>
              <a:rPr lang="tr-TR" dirty="0"/>
              <a:t> </a:t>
            </a:r>
            <a:r>
              <a:rPr lang="tr-TR" dirty="0" err="1"/>
              <a:t>classification</a:t>
            </a:r>
            <a:r>
              <a:rPr lang="tr-TR" dirty="0"/>
              <a:t> </a:t>
            </a:r>
            <a:r>
              <a:rPr lang="tr-TR" dirty="0" err="1"/>
              <a:t>models</a:t>
            </a:r>
            <a:r>
              <a:rPr lang="tr-TR" dirty="0"/>
              <a:t> </a:t>
            </a:r>
            <a:r>
              <a:rPr lang="tr-TR" dirty="0" err="1"/>
              <a:t>were</a:t>
            </a:r>
            <a:r>
              <a:rPr lang="tr-TR" dirty="0"/>
              <a:t> </a:t>
            </a:r>
            <a:r>
              <a:rPr lang="tr-TR" dirty="0" err="1"/>
              <a:t>developed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evaluated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predict</a:t>
            </a:r>
            <a:r>
              <a:rPr lang="tr-TR" dirty="0"/>
              <a:t> </a:t>
            </a:r>
            <a:r>
              <a:rPr lang="tr-TR" dirty="0" err="1"/>
              <a:t>first-stage</a:t>
            </a:r>
            <a:r>
              <a:rPr lang="tr-TR" dirty="0"/>
              <a:t>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outcomes</a:t>
            </a:r>
            <a:r>
              <a:rPr lang="tr-TR" dirty="0"/>
              <a:t>. </a:t>
            </a:r>
            <a:r>
              <a:rPr lang="tr-TR" dirty="0" err="1"/>
              <a:t>Overall</a:t>
            </a:r>
            <a:r>
              <a:rPr lang="tr-TR" dirty="0"/>
              <a:t>,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project</a:t>
            </a:r>
            <a:r>
              <a:rPr lang="tr-TR" dirty="0"/>
              <a:t> </a:t>
            </a:r>
            <a:r>
              <a:rPr lang="tr-TR" dirty="0" err="1"/>
              <a:t>demonstrates</a:t>
            </a:r>
            <a:r>
              <a:rPr lang="tr-TR" dirty="0"/>
              <a:t> how </a:t>
            </a:r>
            <a:r>
              <a:rPr lang="tr-TR" dirty="0" err="1"/>
              <a:t>historical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data can be </a:t>
            </a:r>
            <a:r>
              <a:rPr lang="tr-TR" dirty="0" err="1"/>
              <a:t>transformed</a:t>
            </a:r>
            <a:r>
              <a:rPr lang="tr-TR" dirty="0"/>
              <a:t> </a:t>
            </a:r>
            <a:r>
              <a:rPr lang="tr-TR" dirty="0" err="1"/>
              <a:t>into</a:t>
            </a:r>
            <a:r>
              <a:rPr lang="tr-TR" dirty="0"/>
              <a:t> </a:t>
            </a:r>
            <a:r>
              <a:rPr lang="tr-TR" dirty="0" err="1"/>
              <a:t>actionable</a:t>
            </a:r>
            <a:r>
              <a:rPr lang="tr-TR" dirty="0"/>
              <a:t> </a:t>
            </a:r>
            <a:r>
              <a:rPr lang="tr-TR" dirty="0" err="1"/>
              <a:t>insights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predictive</a:t>
            </a:r>
            <a:r>
              <a:rPr lang="tr-TR" dirty="0"/>
              <a:t> </a:t>
            </a:r>
            <a:r>
              <a:rPr lang="tr-TR" dirty="0" err="1"/>
              <a:t>information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future</a:t>
            </a:r>
            <a:r>
              <a:rPr lang="tr-TR" dirty="0"/>
              <a:t> Falcon 9 </a:t>
            </a:r>
            <a:r>
              <a:rPr lang="tr-TR" dirty="0" err="1"/>
              <a:t>missions</a:t>
            </a:r>
            <a:r>
              <a:rPr lang="tr-TR" dirty="0"/>
              <a:t>.</a:t>
            </a:r>
          </a:p>
          <a:p>
            <a:pPr lvl="0"/>
            <a:endParaRPr lang="tr-T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FDD55DF7-A469-69F3-DFDF-A6BAD54B0A1A}"/>
                  </a:ext>
                </a:extLst>
              </p14:cNvPr>
              <p14:cNvContentPartPr/>
              <p14:nvPr/>
            </p14:nvContentPartPr>
            <p14:xfrm>
              <a:off x="3838395" y="7372005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29395" y="7363005"/>
                <a:ext cx="1800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" name="Grup 3" descr="Düz Bağlayıcı ve Daire içinde kırmızı nokta">
            <a:extLst>
              <a:ext uri="{FF2B5EF4-FFF2-40B4-BE49-F238E27FC236}">
                <a16:creationId xmlns:a16="http://schemas.microsoft.com/office/drawing/2014/main" id="{F6556EF2-B7FF-2145-F751-3C87625ACCDA}"/>
              </a:ext>
            </a:extLst>
          </p:cNvPr>
          <p:cNvGrpSpPr/>
          <p:nvPr/>
        </p:nvGrpSpPr>
        <p:grpSpPr>
          <a:xfrm>
            <a:off x="1557338" y="1458610"/>
            <a:ext cx="5513866" cy="276225"/>
            <a:chOff x="1557338" y="1458610"/>
            <a:chExt cx="5513866" cy="276225"/>
          </a:xfrm>
        </p:grpSpPr>
        <p:cxnSp>
          <p:nvCxnSpPr>
            <p:cNvPr id="12" name="Düz Bağlayıcı 11">
              <a:extLst>
                <a:ext uri="{FF2B5EF4-FFF2-40B4-BE49-F238E27FC236}">
                  <a16:creationId xmlns:a16="http://schemas.microsoft.com/office/drawing/2014/main" id="{C9333B75-B1B5-A4B8-B28B-5C37FA97279B}"/>
                </a:ext>
              </a:extLst>
            </p:cNvPr>
            <p:cNvCxnSpPr/>
            <p:nvPr/>
          </p:nvCxnSpPr>
          <p:spPr>
            <a:xfrm>
              <a:off x="1557338" y="1589020"/>
              <a:ext cx="5362574" cy="0"/>
            </a:xfrm>
            <a:prstGeom prst="line">
              <a:avLst/>
            </a:prstGeom>
            <a:ln>
              <a:solidFill>
                <a:schemeClr val="bg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Resim 9" descr="Daire içinde kırmızı nokta">
              <a:extLst>
                <a:ext uri="{FF2B5EF4-FFF2-40B4-BE49-F238E27FC236}">
                  <a16:creationId xmlns:a16="http://schemas.microsoft.com/office/drawing/2014/main" id="{068C2A74-A49A-2D17-50A6-0CF17A3CD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94979" y="1458610"/>
              <a:ext cx="276225" cy="276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2245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452B0-952D-CC4F-0BDE-6D9FB50D7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0D23D7D-5638-C9EB-FE1D-EE8C09D05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95232"/>
          </a:xfrm>
        </p:spPr>
        <p:txBody>
          <a:bodyPr rtlCol="0"/>
          <a:lstStyle/>
          <a:p>
            <a:pPr rtl="0"/>
            <a:r>
              <a:rPr lang="tr-TR" dirty="0"/>
              <a:t>THE MAIN PROBLEM : </a:t>
            </a:r>
            <a:r>
              <a:rPr lang="tr-TR" dirty="0" err="1"/>
              <a:t>Methodology</a:t>
            </a: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9C6BBB9B-4060-DC01-BDA2-2A271508D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53842"/>
            <a:ext cx="9861394" cy="4021205"/>
          </a:xfrm>
        </p:spPr>
        <p:txBody>
          <a:bodyPr rtlCol="0">
            <a:normAutofit/>
          </a:bodyPr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project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a </a:t>
            </a:r>
            <a:r>
              <a:rPr lang="tr-TR" dirty="0" err="1"/>
              <a:t>structured</a:t>
            </a:r>
            <a:r>
              <a:rPr lang="tr-TR" dirty="0"/>
              <a:t> </a:t>
            </a:r>
            <a:r>
              <a:rPr lang="tr-TR" dirty="0" err="1"/>
              <a:t>end-to-end</a:t>
            </a:r>
            <a:r>
              <a:rPr lang="tr-TR" dirty="0"/>
              <a:t> data </a:t>
            </a:r>
            <a:r>
              <a:rPr lang="tr-TR" dirty="0" err="1"/>
              <a:t>science</a:t>
            </a:r>
            <a:r>
              <a:rPr lang="tr-TR" dirty="0"/>
              <a:t> </a:t>
            </a:r>
            <a:r>
              <a:rPr lang="tr-TR" dirty="0" err="1"/>
              <a:t>methodology</a:t>
            </a:r>
            <a:r>
              <a:rPr lang="tr-TR" dirty="0"/>
              <a:t>. First, </a:t>
            </a:r>
            <a:r>
              <a:rPr lang="tr-TR" b="1" dirty="0"/>
              <a:t>data </a:t>
            </a:r>
            <a:r>
              <a:rPr lang="tr-TR" b="1" dirty="0" err="1"/>
              <a:t>was</a:t>
            </a:r>
            <a:r>
              <a:rPr lang="tr-TR" b="1" dirty="0"/>
              <a:t> </a:t>
            </a:r>
            <a:r>
              <a:rPr lang="tr-TR" b="1" dirty="0" err="1"/>
              <a:t>collected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SpaceX</a:t>
            </a:r>
            <a:r>
              <a:rPr lang="tr-TR" dirty="0"/>
              <a:t> REST API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supplemented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b="1" dirty="0"/>
              <a:t>web </a:t>
            </a:r>
            <a:r>
              <a:rPr lang="tr-TR" b="1" dirty="0" err="1"/>
              <a:t>scraping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obtain</a:t>
            </a:r>
            <a:r>
              <a:rPr lang="tr-TR" dirty="0"/>
              <a:t> </a:t>
            </a:r>
            <a:r>
              <a:rPr lang="tr-TR" dirty="0" err="1"/>
              <a:t>additional</a:t>
            </a:r>
            <a:r>
              <a:rPr lang="tr-TR" dirty="0"/>
              <a:t> Falcon 9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information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collected</a:t>
            </a:r>
            <a:r>
              <a:rPr lang="tr-TR" dirty="0"/>
              <a:t> data </a:t>
            </a:r>
            <a:r>
              <a:rPr lang="tr-TR" dirty="0" err="1"/>
              <a:t>was</a:t>
            </a:r>
            <a:r>
              <a:rPr lang="tr-TR" dirty="0"/>
              <a:t> </a:t>
            </a:r>
            <a:r>
              <a:rPr lang="tr-TR" dirty="0" err="1"/>
              <a:t>then</a:t>
            </a:r>
            <a:r>
              <a:rPr lang="tr-TR" dirty="0"/>
              <a:t> </a:t>
            </a:r>
            <a:r>
              <a:rPr lang="tr-TR" b="1" dirty="0" err="1"/>
              <a:t>cleaned</a:t>
            </a:r>
            <a:r>
              <a:rPr lang="tr-TR" b="1" dirty="0"/>
              <a:t>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wrangled</a:t>
            </a:r>
            <a:r>
              <a:rPr lang="tr-TR" dirty="0"/>
              <a:t>, </a:t>
            </a:r>
            <a:r>
              <a:rPr lang="tr-TR" dirty="0" err="1"/>
              <a:t>including</a:t>
            </a:r>
            <a:r>
              <a:rPr lang="tr-TR" dirty="0"/>
              <a:t> </a:t>
            </a:r>
            <a:r>
              <a:rPr lang="tr-TR" dirty="0" err="1"/>
              <a:t>handling</a:t>
            </a:r>
            <a:r>
              <a:rPr lang="tr-TR" dirty="0"/>
              <a:t> </a:t>
            </a:r>
            <a:r>
              <a:rPr lang="tr-TR" dirty="0" err="1"/>
              <a:t>missing</a:t>
            </a:r>
            <a:r>
              <a:rPr lang="tr-TR" dirty="0"/>
              <a:t> </a:t>
            </a:r>
            <a:r>
              <a:rPr lang="tr-TR" dirty="0" err="1"/>
              <a:t>values</a:t>
            </a:r>
            <a:r>
              <a:rPr lang="tr-TR" dirty="0"/>
              <a:t>, </a:t>
            </a:r>
            <a:r>
              <a:rPr lang="tr-TR" dirty="0" err="1"/>
              <a:t>selecting</a:t>
            </a:r>
            <a:r>
              <a:rPr lang="tr-TR" dirty="0"/>
              <a:t> </a:t>
            </a:r>
            <a:r>
              <a:rPr lang="tr-TR" dirty="0" err="1"/>
              <a:t>relevant</a:t>
            </a:r>
            <a:r>
              <a:rPr lang="tr-TR" dirty="0"/>
              <a:t> </a:t>
            </a:r>
            <a:r>
              <a:rPr lang="tr-TR" dirty="0" err="1"/>
              <a:t>variables</a:t>
            </a:r>
            <a:r>
              <a:rPr lang="tr-TR" dirty="0"/>
              <a:t>, </a:t>
            </a:r>
            <a:r>
              <a:rPr lang="tr-TR" dirty="0" err="1"/>
              <a:t>creating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landing-success</a:t>
            </a:r>
            <a:r>
              <a:rPr lang="tr-TR" dirty="0"/>
              <a:t> </a:t>
            </a:r>
            <a:r>
              <a:rPr lang="tr-TR" dirty="0" err="1"/>
              <a:t>target</a:t>
            </a:r>
            <a:r>
              <a:rPr lang="tr-TR" dirty="0"/>
              <a:t> </a:t>
            </a:r>
            <a:r>
              <a:rPr lang="tr-TR" dirty="0" err="1"/>
              <a:t>variable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transforming</a:t>
            </a:r>
            <a:r>
              <a:rPr lang="tr-TR" dirty="0"/>
              <a:t> </a:t>
            </a:r>
            <a:r>
              <a:rPr lang="tr-TR" dirty="0" err="1"/>
              <a:t>categorical</a:t>
            </a:r>
            <a:r>
              <a:rPr lang="tr-TR" dirty="0"/>
              <a:t> </a:t>
            </a:r>
            <a:r>
              <a:rPr lang="tr-TR" dirty="0" err="1"/>
              <a:t>variables</a:t>
            </a:r>
            <a:r>
              <a:rPr lang="tr-TR" dirty="0"/>
              <a:t> </a:t>
            </a:r>
            <a:r>
              <a:rPr lang="tr-TR" dirty="0" err="1"/>
              <a:t>into</a:t>
            </a:r>
            <a:r>
              <a:rPr lang="tr-TR" dirty="0"/>
              <a:t> </a:t>
            </a:r>
            <a:r>
              <a:rPr lang="tr-TR" dirty="0" err="1"/>
              <a:t>numerical</a:t>
            </a:r>
            <a:r>
              <a:rPr lang="tr-TR" dirty="0"/>
              <a:t> </a:t>
            </a:r>
            <a:r>
              <a:rPr lang="tr-TR" dirty="0" err="1"/>
              <a:t>features</a:t>
            </a:r>
            <a:r>
              <a:rPr lang="tr-TR" dirty="0"/>
              <a:t> </a:t>
            </a:r>
            <a:r>
              <a:rPr lang="tr-TR" dirty="0" err="1"/>
              <a:t>suitable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machine</a:t>
            </a:r>
            <a:r>
              <a:rPr lang="tr-TR" dirty="0"/>
              <a:t> </a:t>
            </a:r>
            <a:r>
              <a:rPr lang="tr-TR" dirty="0" err="1"/>
              <a:t>learning</a:t>
            </a:r>
            <a:r>
              <a:rPr lang="tr-TR" dirty="0"/>
              <a:t>.</a:t>
            </a:r>
          </a:p>
          <a:p>
            <a:r>
              <a:rPr lang="tr-TR" dirty="0" err="1"/>
              <a:t>Next</a:t>
            </a:r>
            <a:r>
              <a:rPr lang="tr-TR" dirty="0"/>
              <a:t>, </a:t>
            </a:r>
            <a:r>
              <a:rPr lang="tr-TR" b="1" dirty="0" err="1"/>
              <a:t>exploratory</a:t>
            </a:r>
            <a:r>
              <a:rPr lang="tr-TR" b="1" dirty="0"/>
              <a:t> data </a:t>
            </a:r>
            <a:r>
              <a:rPr lang="tr-TR" b="1" dirty="0" err="1"/>
              <a:t>analysis</a:t>
            </a:r>
            <a:r>
              <a:rPr lang="tr-TR" b="1" dirty="0"/>
              <a:t> (EDA)</a:t>
            </a:r>
            <a:r>
              <a:rPr lang="tr-TR" dirty="0"/>
              <a:t> </a:t>
            </a:r>
            <a:r>
              <a:rPr lang="tr-TR" dirty="0" err="1"/>
              <a:t>was</a:t>
            </a:r>
            <a:r>
              <a:rPr lang="tr-TR" dirty="0"/>
              <a:t> </a:t>
            </a:r>
            <a:r>
              <a:rPr lang="tr-TR" dirty="0" err="1"/>
              <a:t>conducted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Python </a:t>
            </a:r>
            <a:r>
              <a:rPr lang="tr-TR" dirty="0" err="1"/>
              <a:t>libraries</a:t>
            </a:r>
            <a:r>
              <a:rPr lang="tr-TR" dirty="0"/>
              <a:t> </a:t>
            </a:r>
            <a:r>
              <a:rPr lang="tr-TR" dirty="0" err="1"/>
              <a:t>such</a:t>
            </a:r>
            <a:r>
              <a:rPr lang="tr-TR" dirty="0"/>
              <a:t> as </a:t>
            </a:r>
            <a:r>
              <a:rPr lang="tr-TR" dirty="0" err="1"/>
              <a:t>Pandas</a:t>
            </a:r>
            <a:r>
              <a:rPr lang="tr-TR" dirty="0"/>
              <a:t>, </a:t>
            </a:r>
            <a:r>
              <a:rPr lang="tr-TR" dirty="0" err="1"/>
              <a:t>Matplotlib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Seaborn</a:t>
            </a:r>
            <a:r>
              <a:rPr lang="tr-TR" dirty="0"/>
              <a:t>, </a:t>
            </a:r>
            <a:r>
              <a:rPr lang="tr-TR" dirty="0" err="1"/>
              <a:t>together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b="1" dirty="0"/>
              <a:t>SQL/</a:t>
            </a:r>
            <a:r>
              <a:rPr lang="tr-TR" b="1" dirty="0" err="1"/>
              <a:t>SQLite</a:t>
            </a:r>
            <a:r>
              <a:rPr lang="tr-TR" b="1" dirty="0"/>
              <a:t> </a:t>
            </a:r>
            <a:r>
              <a:rPr lang="tr-TR" b="1" dirty="0" err="1"/>
              <a:t>queries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investigate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sites</a:t>
            </a:r>
            <a:r>
              <a:rPr lang="tr-TR" dirty="0"/>
              <a:t>, </a:t>
            </a:r>
            <a:r>
              <a:rPr lang="tr-TR" dirty="0" err="1"/>
              <a:t>payloads</a:t>
            </a:r>
            <a:r>
              <a:rPr lang="tr-TR" dirty="0"/>
              <a:t>, </a:t>
            </a:r>
            <a:r>
              <a:rPr lang="tr-TR" dirty="0" err="1"/>
              <a:t>booster</a:t>
            </a:r>
            <a:r>
              <a:rPr lang="tr-TR" dirty="0"/>
              <a:t> </a:t>
            </a:r>
            <a:r>
              <a:rPr lang="tr-TR" dirty="0" err="1"/>
              <a:t>versions</a:t>
            </a:r>
            <a:r>
              <a:rPr lang="tr-TR" dirty="0"/>
              <a:t>,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outcomes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historical</a:t>
            </a:r>
            <a:r>
              <a:rPr lang="tr-TR" dirty="0"/>
              <a:t> </a:t>
            </a:r>
            <a:r>
              <a:rPr lang="tr-TR" dirty="0" err="1"/>
              <a:t>trends</a:t>
            </a:r>
            <a:r>
              <a:rPr lang="tr-TR" dirty="0"/>
              <a:t>. Statistical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graphical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was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identify</a:t>
            </a:r>
            <a:r>
              <a:rPr lang="tr-TR" dirty="0"/>
              <a:t> </a:t>
            </a:r>
            <a:r>
              <a:rPr lang="tr-TR" dirty="0" err="1"/>
              <a:t>relationships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characteristics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success</a:t>
            </a:r>
            <a:r>
              <a:rPr lang="tr-TR" dirty="0"/>
              <a:t>.</a:t>
            </a:r>
          </a:p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project</a:t>
            </a:r>
            <a:r>
              <a:rPr lang="tr-TR" dirty="0"/>
              <a:t> </a:t>
            </a:r>
            <a:r>
              <a:rPr lang="tr-TR" dirty="0" err="1"/>
              <a:t>then</a:t>
            </a:r>
            <a:r>
              <a:rPr lang="tr-TR" dirty="0"/>
              <a:t> </a:t>
            </a:r>
            <a:r>
              <a:rPr lang="tr-TR" dirty="0" err="1"/>
              <a:t>applied</a:t>
            </a:r>
            <a:r>
              <a:rPr lang="tr-TR" dirty="0"/>
              <a:t> </a:t>
            </a:r>
            <a:r>
              <a:rPr lang="tr-TR" b="1" dirty="0" err="1"/>
              <a:t>interactive</a:t>
            </a:r>
            <a:r>
              <a:rPr lang="tr-TR" b="1" dirty="0"/>
              <a:t> </a:t>
            </a:r>
            <a:r>
              <a:rPr lang="tr-TR" b="1" dirty="0" err="1"/>
              <a:t>visual</a:t>
            </a:r>
            <a:r>
              <a:rPr lang="tr-TR" b="1" dirty="0"/>
              <a:t> </a:t>
            </a:r>
            <a:r>
              <a:rPr lang="tr-TR" b="1" dirty="0" err="1"/>
              <a:t>analytics</a:t>
            </a:r>
            <a:r>
              <a:rPr lang="tr-TR" dirty="0"/>
              <a:t>. </a:t>
            </a:r>
            <a:r>
              <a:rPr lang="tr-TR" dirty="0" err="1"/>
              <a:t>Folium</a:t>
            </a:r>
            <a:r>
              <a:rPr lang="tr-TR" dirty="0"/>
              <a:t> </a:t>
            </a:r>
            <a:r>
              <a:rPr lang="tr-TR" dirty="0" err="1"/>
              <a:t>was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map</a:t>
            </a:r>
            <a:r>
              <a:rPr lang="tr-TR" dirty="0"/>
              <a:t> </a:t>
            </a:r>
            <a:r>
              <a:rPr lang="tr-TR" dirty="0" err="1"/>
              <a:t>SpaceX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sites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examine</a:t>
            </a:r>
            <a:r>
              <a:rPr lang="tr-TR" dirty="0"/>
              <a:t> </a:t>
            </a:r>
            <a:r>
              <a:rPr lang="tr-TR" dirty="0" err="1"/>
              <a:t>their</a:t>
            </a:r>
            <a:r>
              <a:rPr lang="tr-TR" dirty="0"/>
              <a:t> </a:t>
            </a:r>
            <a:r>
              <a:rPr lang="tr-TR" dirty="0" err="1"/>
              <a:t>geographical</a:t>
            </a:r>
            <a:r>
              <a:rPr lang="tr-TR" dirty="0"/>
              <a:t> </a:t>
            </a:r>
            <a:r>
              <a:rPr lang="tr-TR" dirty="0" err="1"/>
              <a:t>relationship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coastlines</a:t>
            </a:r>
            <a:r>
              <a:rPr lang="tr-TR" dirty="0"/>
              <a:t>, </a:t>
            </a:r>
            <a:r>
              <a:rPr lang="tr-TR" dirty="0" err="1"/>
              <a:t>cities</a:t>
            </a:r>
            <a:r>
              <a:rPr lang="tr-TR" dirty="0"/>
              <a:t>, </a:t>
            </a:r>
            <a:r>
              <a:rPr lang="tr-TR" dirty="0" err="1"/>
              <a:t>roads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other</a:t>
            </a:r>
            <a:r>
              <a:rPr lang="tr-TR" dirty="0"/>
              <a:t> </a:t>
            </a:r>
            <a:r>
              <a:rPr lang="tr-TR" dirty="0" err="1"/>
              <a:t>features</a:t>
            </a:r>
            <a:r>
              <a:rPr lang="tr-TR" dirty="0"/>
              <a:t>. A </a:t>
            </a:r>
            <a:r>
              <a:rPr lang="tr-TR" b="1" dirty="0" err="1"/>
              <a:t>Plotly</a:t>
            </a:r>
            <a:r>
              <a:rPr lang="tr-TR" b="1" dirty="0"/>
              <a:t> </a:t>
            </a:r>
            <a:r>
              <a:rPr lang="tr-TR" b="1" dirty="0" err="1"/>
              <a:t>Dash</a:t>
            </a:r>
            <a:r>
              <a:rPr lang="tr-TR" b="1" dirty="0"/>
              <a:t> </a:t>
            </a:r>
            <a:r>
              <a:rPr lang="tr-TR" b="1" dirty="0" err="1"/>
              <a:t>dashboard</a:t>
            </a:r>
            <a:r>
              <a:rPr lang="tr-TR" dirty="0"/>
              <a:t> </a:t>
            </a:r>
            <a:r>
              <a:rPr lang="tr-TR" dirty="0" err="1"/>
              <a:t>was</a:t>
            </a:r>
            <a:r>
              <a:rPr lang="tr-TR" dirty="0"/>
              <a:t> </a:t>
            </a:r>
            <a:r>
              <a:rPr lang="tr-TR" dirty="0" err="1"/>
              <a:t>developed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allow</a:t>
            </a:r>
            <a:r>
              <a:rPr lang="tr-TR" dirty="0"/>
              <a:t> </a:t>
            </a:r>
            <a:r>
              <a:rPr lang="tr-TR" dirty="0" err="1"/>
              <a:t>users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interactively</a:t>
            </a:r>
            <a:r>
              <a:rPr lang="tr-TR" dirty="0"/>
              <a:t> </a:t>
            </a:r>
            <a:r>
              <a:rPr lang="tr-TR" dirty="0" err="1"/>
              <a:t>filter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sites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payload</a:t>
            </a:r>
            <a:r>
              <a:rPr lang="tr-TR" dirty="0"/>
              <a:t> </a:t>
            </a:r>
            <a:r>
              <a:rPr lang="tr-TR" dirty="0" err="1"/>
              <a:t>ranges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explore</a:t>
            </a:r>
            <a:r>
              <a:rPr lang="tr-TR" dirty="0"/>
              <a:t>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outcomes</a:t>
            </a:r>
            <a:r>
              <a:rPr lang="tr-TR" dirty="0"/>
              <a:t>.</a:t>
            </a:r>
          </a:p>
          <a:p>
            <a:r>
              <a:rPr lang="tr-TR" dirty="0" err="1"/>
              <a:t>Finally</a:t>
            </a:r>
            <a:r>
              <a:rPr lang="tr-TR" dirty="0"/>
              <a:t>,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project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b="1" dirty="0" err="1"/>
              <a:t>supervised</a:t>
            </a:r>
            <a:r>
              <a:rPr lang="tr-TR" b="1" dirty="0"/>
              <a:t> </a:t>
            </a:r>
            <a:r>
              <a:rPr lang="tr-TR" b="1" dirty="0" err="1"/>
              <a:t>machine</a:t>
            </a:r>
            <a:r>
              <a:rPr lang="tr-TR" b="1" dirty="0"/>
              <a:t> </a:t>
            </a:r>
            <a:r>
              <a:rPr lang="tr-TR" b="1" dirty="0" err="1"/>
              <a:t>learning</a:t>
            </a:r>
            <a:r>
              <a:rPr lang="tr-TR" b="1" dirty="0"/>
              <a:t> </a:t>
            </a:r>
            <a:r>
              <a:rPr lang="tr-TR" b="1" dirty="0" err="1"/>
              <a:t>classification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predict</a:t>
            </a:r>
            <a:r>
              <a:rPr lang="tr-TR" dirty="0"/>
              <a:t> </a:t>
            </a:r>
            <a:r>
              <a:rPr lang="tr-TR" dirty="0" err="1"/>
              <a:t>whether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Falcon 9 </a:t>
            </a:r>
            <a:r>
              <a:rPr lang="tr-TR" dirty="0" err="1"/>
              <a:t>first</a:t>
            </a:r>
            <a:r>
              <a:rPr lang="tr-TR" dirty="0"/>
              <a:t> </a:t>
            </a:r>
            <a:r>
              <a:rPr lang="tr-TR" dirty="0" err="1"/>
              <a:t>stage</a:t>
            </a:r>
            <a:r>
              <a:rPr lang="tr-TR" dirty="0"/>
              <a:t> </a:t>
            </a:r>
            <a:r>
              <a:rPr lang="tr-TR" dirty="0" err="1"/>
              <a:t>would</a:t>
            </a:r>
            <a:r>
              <a:rPr lang="tr-TR" dirty="0"/>
              <a:t> </a:t>
            </a:r>
            <a:r>
              <a:rPr lang="tr-TR" dirty="0" err="1"/>
              <a:t>land</a:t>
            </a:r>
            <a:r>
              <a:rPr lang="tr-TR" dirty="0"/>
              <a:t> </a:t>
            </a:r>
            <a:r>
              <a:rPr lang="tr-TR" dirty="0" err="1"/>
              <a:t>successfully</a:t>
            </a:r>
            <a:r>
              <a:rPr lang="tr-TR" dirty="0"/>
              <a:t>. Multiple </a:t>
            </a:r>
            <a:r>
              <a:rPr lang="tr-TR" dirty="0" err="1"/>
              <a:t>algorithms</a:t>
            </a:r>
            <a:r>
              <a:rPr lang="tr-TR" dirty="0"/>
              <a:t>, </a:t>
            </a:r>
            <a:r>
              <a:rPr lang="tr-TR" dirty="0" err="1"/>
              <a:t>including</a:t>
            </a:r>
            <a:r>
              <a:rPr lang="tr-TR" dirty="0"/>
              <a:t> </a:t>
            </a:r>
            <a:r>
              <a:rPr lang="tr-TR" dirty="0" err="1"/>
              <a:t>Logistic</a:t>
            </a:r>
            <a:r>
              <a:rPr lang="tr-TR" dirty="0"/>
              <a:t> </a:t>
            </a:r>
            <a:r>
              <a:rPr lang="tr-TR" dirty="0" err="1"/>
              <a:t>Regression</a:t>
            </a:r>
            <a:r>
              <a:rPr lang="tr-TR" dirty="0"/>
              <a:t>, </a:t>
            </a:r>
            <a:r>
              <a:rPr lang="tr-TR" dirty="0" err="1"/>
              <a:t>Support</a:t>
            </a:r>
            <a:r>
              <a:rPr lang="tr-TR" dirty="0"/>
              <a:t> </a:t>
            </a:r>
            <a:r>
              <a:rPr lang="tr-TR" dirty="0" err="1"/>
              <a:t>Vector</a:t>
            </a:r>
            <a:r>
              <a:rPr lang="tr-TR" dirty="0"/>
              <a:t> Machine, </a:t>
            </a:r>
            <a:r>
              <a:rPr lang="tr-TR" dirty="0" err="1"/>
              <a:t>Decision</a:t>
            </a:r>
            <a:r>
              <a:rPr lang="tr-TR" dirty="0"/>
              <a:t> </a:t>
            </a:r>
            <a:r>
              <a:rPr lang="tr-TR" dirty="0" err="1"/>
              <a:t>Tree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K-</a:t>
            </a:r>
            <a:r>
              <a:rPr lang="tr-TR" dirty="0" err="1"/>
              <a:t>Nearest</a:t>
            </a:r>
            <a:r>
              <a:rPr lang="tr-TR" dirty="0"/>
              <a:t> </a:t>
            </a:r>
            <a:r>
              <a:rPr lang="tr-TR" dirty="0" err="1"/>
              <a:t>Neighbors</a:t>
            </a:r>
            <a:r>
              <a:rPr lang="tr-TR" dirty="0"/>
              <a:t>, </a:t>
            </a:r>
            <a:r>
              <a:rPr lang="tr-TR" dirty="0" err="1"/>
              <a:t>were</a:t>
            </a:r>
            <a:r>
              <a:rPr lang="tr-TR" dirty="0"/>
              <a:t> </a:t>
            </a:r>
            <a:r>
              <a:rPr lang="tr-TR" dirty="0" err="1"/>
              <a:t>trained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evaluated</a:t>
            </a:r>
            <a:r>
              <a:rPr lang="tr-TR" dirty="0"/>
              <a:t>. </a:t>
            </a:r>
            <a:r>
              <a:rPr lang="tr-TR" dirty="0" err="1"/>
              <a:t>Hyperparameter</a:t>
            </a:r>
            <a:r>
              <a:rPr lang="tr-TR" dirty="0"/>
              <a:t> </a:t>
            </a:r>
            <a:r>
              <a:rPr lang="tr-TR" dirty="0" err="1"/>
              <a:t>tuning</a:t>
            </a:r>
            <a:r>
              <a:rPr lang="tr-TR" dirty="0"/>
              <a:t> </a:t>
            </a:r>
            <a:r>
              <a:rPr lang="tr-TR" dirty="0" err="1"/>
              <a:t>was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improve</a:t>
            </a:r>
            <a:r>
              <a:rPr lang="tr-TR" dirty="0"/>
              <a:t> model </a:t>
            </a:r>
            <a:r>
              <a:rPr lang="tr-TR" dirty="0" err="1"/>
              <a:t>performance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evaluation</a:t>
            </a:r>
            <a:r>
              <a:rPr lang="tr-TR" dirty="0"/>
              <a:t> </a:t>
            </a:r>
            <a:r>
              <a:rPr lang="tr-TR" dirty="0" err="1"/>
              <a:t>metrics</a:t>
            </a:r>
            <a:r>
              <a:rPr lang="tr-TR" dirty="0"/>
              <a:t> </a:t>
            </a:r>
            <a:r>
              <a:rPr lang="tr-TR" dirty="0" err="1"/>
              <a:t>such</a:t>
            </a:r>
            <a:r>
              <a:rPr lang="tr-TR" dirty="0"/>
              <a:t> as </a:t>
            </a:r>
            <a:r>
              <a:rPr lang="tr-TR" dirty="0" err="1"/>
              <a:t>accuracy</a:t>
            </a:r>
            <a:r>
              <a:rPr lang="tr-TR" dirty="0"/>
              <a:t>, F1 </a:t>
            </a:r>
            <a:r>
              <a:rPr lang="tr-TR" dirty="0" err="1"/>
              <a:t>score</a:t>
            </a:r>
            <a:r>
              <a:rPr lang="tr-TR" dirty="0"/>
              <a:t>, </a:t>
            </a:r>
            <a:r>
              <a:rPr lang="tr-TR" dirty="0" err="1"/>
              <a:t>Jaccard</a:t>
            </a:r>
            <a:r>
              <a:rPr lang="tr-TR" dirty="0"/>
              <a:t> </a:t>
            </a:r>
            <a:r>
              <a:rPr lang="tr-TR" dirty="0" err="1"/>
              <a:t>score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confusion</a:t>
            </a:r>
            <a:r>
              <a:rPr lang="tr-TR" dirty="0"/>
              <a:t> </a:t>
            </a:r>
            <a:r>
              <a:rPr lang="tr-TR" dirty="0" err="1"/>
              <a:t>matrices</a:t>
            </a:r>
            <a:r>
              <a:rPr lang="tr-TR" dirty="0"/>
              <a:t> </a:t>
            </a:r>
            <a:r>
              <a:rPr lang="tr-TR" dirty="0" err="1"/>
              <a:t>were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compare</a:t>
            </a:r>
            <a:r>
              <a:rPr lang="tr-TR" dirty="0"/>
              <a:t> </a:t>
            </a:r>
            <a:r>
              <a:rPr lang="tr-TR" dirty="0" err="1"/>
              <a:t>predictions</a:t>
            </a:r>
            <a:r>
              <a:rPr lang="tr-TR" dirty="0"/>
              <a:t>.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methodology</a:t>
            </a:r>
            <a:r>
              <a:rPr lang="tr-TR" dirty="0"/>
              <a:t> </a:t>
            </a:r>
            <a:r>
              <a:rPr lang="tr-TR" dirty="0" err="1"/>
              <a:t>connects</a:t>
            </a:r>
            <a:r>
              <a:rPr lang="tr-TR" dirty="0"/>
              <a:t> </a:t>
            </a:r>
            <a:r>
              <a:rPr lang="tr-TR" dirty="0" err="1"/>
              <a:t>descriptive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predictive</a:t>
            </a:r>
            <a:r>
              <a:rPr lang="tr-TR" dirty="0"/>
              <a:t> </a:t>
            </a:r>
            <a:r>
              <a:rPr lang="tr-TR" dirty="0" err="1"/>
              <a:t>modeling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provides</a:t>
            </a:r>
            <a:r>
              <a:rPr lang="tr-TR" dirty="0"/>
              <a:t> a </a:t>
            </a:r>
            <a:r>
              <a:rPr lang="tr-TR" dirty="0" err="1"/>
              <a:t>complete</a:t>
            </a:r>
            <a:r>
              <a:rPr lang="tr-TR" dirty="0"/>
              <a:t> </a:t>
            </a:r>
            <a:r>
              <a:rPr lang="tr-TR" dirty="0" err="1"/>
              <a:t>framework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understanding</a:t>
            </a:r>
            <a:r>
              <a:rPr lang="tr-TR" dirty="0"/>
              <a:t> Falcon 9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performance</a:t>
            </a:r>
            <a:r>
              <a:rPr lang="tr-TR" dirty="0"/>
              <a:t>.</a:t>
            </a:r>
          </a:p>
          <a:p>
            <a:pPr lvl="0"/>
            <a:endParaRPr lang="tr-T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F0357BDC-3B42-F329-3AEB-970FCE5D5E5D}"/>
                  </a:ext>
                </a:extLst>
              </p14:cNvPr>
              <p14:cNvContentPartPr/>
              <p14:nvPr/>
            </p14:nvContentPartPr>
            <p14:xfrm>
              <a:off x="3838395" y="7372005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29395" y="7363005"/>
                <a:ext cx="1800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" name="Grup 3" descr="Düz Bağlayıcı ve Daire içinde kırmızı nokta">
            <a:extLst>
              <a:ext uri="{FF2B5EF4-FFF2-40B4-BE49-F238E27FC236}">
                <a16:creationId xmlns:a16="http://schemas.microsoft.com/office/drawing/2014/main" id="{7A760CDB-7B46-D175-A795-2B45C6813C2C}"/>
              </a:ext>
            </a:extLst>
          </p:cNvPr>
          <p:cNvGrpSpPr/>
          <p:nvPr/>
        </p:nvGrpSpPr>
        <p:grpSpPr>
          <a:xfrm>
            <a:off x="1557338" y="1458610"/>
            <a:ext cx="5513866" cy="276225"/>
            <a:chOff x="1557338" y="1458610"/>
            <a:chExt cx="5513866" cy="276225"/>
          </a:xfrm>
        </p:grpSpPr>
        <p:cxnSp>
          <p:nvCxnSpPr>
            <p:cNvPr id="12" name="Düz Bağlayıcı 11">
              <a:extLst>
                <a:ext uri="{FF2B5EF4-FFF2-40B4-BE49-F238E27FC236}">
                  <a16:creationId xmlns:a16="http://schemas.microsoft.com/office/drawing/2014/main" id="{545668B2-4C6E-23ED-72F4-E8E6424CFE4C}"/>
                </a:ext>
              </a:extLst>
            </p:cNvPr>
            <p:cNvCxnSpPr/>
            <p:nvPr/>
          </p:nvCxnSpPr>
          <p:spPr>
            <a:xfrm>
              <a:off x="1557338" y="1589020"/>
              <a:ext cx="5362574" cy="0"/>
            </a:xfrm>
            <a:prstGeom prst="line">
              <a:avLst/>
            </a:prstGeom>
            <a:ln>
              <a:solidFill>
                <a:schemeClr val="bg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Resim 9" descr="Daire içinde kırmızı nokta">
              <a:extLst>
                <a:ext uri="{FF2B5EF4-FFF2-40B4-BE49-F238E27FC236}">
                  <a16:creationId xmlns:a16="http://schemas.microsoft.com/office/drawing/2014/main" id="{06E00DBE-656A-6689-E5F9-2D0F34813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94979" y="1458610"/>
              <a:ext cx="276225" cy="276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07956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1AF88-C445-5080-F7CB-FE28C0113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53FF26E-8DB1-1DA5-AC9C-EB5A6241B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95232"/>
          </a:xfrm>
        </p:spPr>
        <p:txBody>
          <a:bodyPr rtlCol="0"/>
          <a:lstStyle/>
          <a:p>
            <a:pPr rtl="0"/>
            <a:r>
              <a:rPr lang="tr-TR" dirty="0"/>
              <a:t>THE MAIN PROBLEM : </a:t>
            </a:r>
            <a:r>
              <a:rPr lang="tr-TR" dirty="0" err="1"/>
              <a:t>Key</a:t>
            </a:r>
            <a:r>
              <a:rPr lang="tr-TR" dirty="0"/>
              <a:t> </a:t>
            </a:r>
            <a:r>
              <a:rPr lang="tr-TR" dirty="0" err="1"/>
              <a:t>Results</a:t>
            </a: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618F598-809E-9558-90ED-75AF92CEC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7947" y="1923565"/>
            <a:ext cx="10637783" cy="4644383"/>
          </a:xfrm>
        </p:spPr>
        <p:txBody>
          <a:bodyPr rtlCol="0">
            <a:normAutofit/>
          </a:bodyPr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revealed</a:t>
            </a:r>
            <a:r>
              <a:rPr lang="tr-TR" dirty="0"/>
              <a:t> </a:t>
            </a:r>
            <a:r>
              <a:rPr lang="tr-TR" dirty="0" err="1"/>
              <a:t>several</a:t>
            </a:r>
            <a:r>
              <a:rPr lang="tr-TR" dirty="0"/>
              <a:t> </a:t>
            </a:r>
            <a:r>
              <a:rPr lang="tr-TR" dirty="0" err="1"/>
              <a:t>important</a:t>
            </a:r>
            <a:r>
              <a:rPr lang="tr-TR" dirty="0"/>
              <a:t> </a:t>
            </a:r>
            <a:r>
              <a:rPr lang="tr-TR" dirty="0" err="1"/>
              <a:t>patterns</a:t>
            </a:r>
            <a:r>
              <a:rPr lang="tr-TR" dirty="0"/>
              <a:t> in Falcon 9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performance</a:t>
            </a:r>
            <a:r>
              <a:rPr lang="tr-TR" dirty="0"/>
              <a:t>. </a:t>
            </a:r>
            <a:r>
              <a:rPr lang="tr-TR" b="1" dirty="0" err="1"/>
              <a:t>Landing</a:t>
            </a:r>
            <a:r>
              <a:rPr lang="tr-TR" b="1" dirty="0"/>
              <a:t> </a:t>
            </a:r>
            <a:r>
              <a:rPr lang="tr-TR" b="1" dirty="0" err="1"/>
              <a:t>success</a:t>
            </a:r>
            <a:r>
              <a:rPr lang="tr-TR" b="1" dirty="0"/>
              <a:t> </a:t>
            </a:r>
            <a:r>
              <a:rPr lang="tr-TR" b="1" dirty="0" err="1"/>
              <a:t>increased</a:t>
            </a:r>
            <a:r>
              <a:rPr lang="tr-TR" b="1" dirty="0"/>
              <a:t> </a:t>
            </a:r>
            <a:r>
              <a:rPr lang="tr-TR" b="1" dirty="0" err="1"/>
              <a:t>over</a:t>
            </a:r>
            <a:r>
              <a:rPr lang="tr-TR" b="1" dirty="0"/>
              <a:t> time</a:t>
            </a:r>
            <a:r>
              <a:rPr lang="tr-TR" dirty="0"/>
              <a:t>, </a:t>
            </a:r>
            <a:r>
              <a:rPr lang="tr-TR" dirty="0" err="1"/>
              <a:t>indicating</a:t>
            </a:r>
            <a:r>
              <a:rPr lang="tr-TR" dirty="0"/>
              <a:t> a </a:t>
            </a:r>
            <a:r>
              <a:rPr lang="tr-TR" dirty="0" err="1"/>
              <a:t>clear</a:t>
            </a:r>
            <a:r>
              <a:rPr lang="tr-TR" dirty="0"/>
              <a:t> </a:t>
            </a:r>
            <a:r>
              <a:rPr lang="tr-TR" dirty="0" err="1"/>
              <a:t>improvement</a:t>
            </a:r>
            <a:r>
              <a:rPr lang="tr-TR" dirty="0"/>
              <a:t> in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historical</a:t>
            </a:r>
            <a:r>
              <a:rPr lang="tr-TR" dirty="0"/>
              <a:t> </a:t>
            </a:r>
            <a:r>
              <a:rPr lang="tr-TR" dirty="0" err="1"/>
              <a:t>success</a:t>
            </a:r>
            <a:r>
              <a:rPr lang="tr-TR" dirty="0"/>
              <a:t> rate of </a:t>
            </a:r>
            <a:r>
              <a:rPr lang="tr-TR" dirty="0" err="1"/>
              <a:t>first-stage</a:t>
            </a:r>
            <a:r>
              <a:rPr lang="tr-TR" dirty="0"/>
              <a:t> </a:t>
            </a:r>
            <a:r>
              <a:rPr lang="tr-TR" dirty="0" err="1"/>
              <a:t>recovery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exploratory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also</a:t>
            </a:r>
            <a:r>
              <a:rPr lang="tr-TR" dirty="0"/>
              <a:t> </a:t>
            </a:r>
            <a:r>
              <a:rPr lang="tr-TR" dirty="0" err="1"/>
              <a:t>showed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characteristics</a:t>
            </a:r>
            <a:r>
              <a:rPr lang="tr-TR" dirty="0"/>
              <a:t> </a:t>
            </a:r>
            <a:r>
              <a:rPr lang="tr-TR" dirty="0" err="1"/>
              <a:t>such</a:t>
            </a:r>
            <a:r>
              <a:rPr lang="tr-TR" dirty="0"/>
              <a:t> as </a:t>
            </a:r>
            <a:r>
              <a:rPr lang="tr-TR" b="1" dirty="0" err="1"/>
              <a:t>flight</a:t>
            </a:r>
            <a:r>
              <a:rPr lang="tr-TR" b="1" dirty="0"/>
              <a:t> </a:t>
            </a:r>
            <a:r>
              <a:rPr lang="tr-TR" b="1" dirty="0" err="1"/>
              <a:t>number</a:t>
            </a:r>
            <a:r>
              <a:rPr lang="tr-TR" b="1" dirty="0"/>
              <a:t>, </a:t>
            </a:r>
            <a:r>
              <a:rPr lang="tr-TR" b="1" dirty="0" err="1"/>
              <a:t>launch</a:t>
            </a:r>
            <a:r>
              <a:rPr lang="tr-TR" b="1" dirty="0"/>
              <a:t> site, </a:t>
            </a:r>
            <a:r>
              <a:rPr lang="tr-TR" b="1" dirty="0" err="1"/>
              <a:t>payload</a:t>
            </a:r>
            <a:r>
              <a:rPr lang="tr-TR" b="1" dirty="0"/>
              <a:t> </a:t>
            </a:r>
            <a:r>
              <a:rPr lang="tr-TR" b="1" dirty="0" err="1"/>
              <a:t>mass</a:t>
            </a:r>
            <a:r>
              <a:rPr lang="tr-TR" b="1" dirty="0"/>
              <a:t>, </a:t>
            </a:r>
            <a:r>
              <a:rPr lang="tr-TR" b="1" dirty="0" err="1"/>
              <a:t>and</a:t>
            </a:r>
            <a:r>
              <a:rPr lang="tr-TR" b="1" dirty="0"/>
              <a:t> orbit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associated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differences</a:t>
            </a:r>
            <a:r>
              <a:rPr lang="tr-TR" dirty="0"/>
              <a:t> in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outcomes</a:t>
            </a:r>
            <a:r>
              <a:rPr lang="tr-TR" dirty="0"/>
              <a:t>. </a:t>
            </a:r>
            <a:r>
              <a:rPr lang="tr-TR" dirty="0" err="1"/>
              <a:t>Among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sites</a:t>
            </a:r>
            <a:r>
              <a:rPr lang="tr-TR" dirty="0"/>
              <a:t> </a:t>
            </a:r>
            <a:r>
              <a:rPr lang="tr-TR" dirty="0" err="1"/>
              <a:t>examined</a:t>
            </a:r>
            <a:r>
              <a:rPr lang="tr-TR" dirty="0"/>
              <a:t>, </a:t>
            </a:r>
            <a:r>
              <a:rPr lang="tr-TR" b="1" dirty="0"/>
              <a:t>KSC LC-39A </a:t>
            </a:r>
            <a:r>
              <a:rPr lang="tr-TR" b="1" dirty="0" err="1"/>
              <a:t>showed</a:t>
            </a:r>
            <a:r>
              <a:rPr lang="tr-TR" b="1" dirty="0"/>
              <a:t> a </a:t>
            </a:r>
            <a:r>
              <a:rPr lang="tr-TR" b="1" dirty="0" err="1"/>
              <a:t>high</a:t>
            </a:r>
            <a:r>
              <a:rPr lang="tr-TR" b="1" dirty="0"/>
              <a:t> </a:t>
            </a:r>
            <a:r>
              <a:rPr lang="tr-TR" b="1" dirty="0" err="1"/>
              <a:t>level</a:t>
            </a:r>
            <a:r>
              <a:rPr lang="tr-TR" b="1" dirty="0"/>
              <a:t> of </a:t>
            </a:r>
            <a:r>
              <a:rPr lang="tr-TR" b="1" dirty="0" err="1"/>
              <a:t>landing</a:t>
            </a:r>
            <a:r>
              <a:rPr lang="tr-TR" b="1" dirty="0"/>
              <a:t> </a:t>
            </a:r>
            <a:r>
              <a:rPr lang="tr-TR" b="1" dirty="0" err="1"/>
              <a:t>success</a:t>
            </a:r>
            <a:r>
              <a:rPr lang="tr-TR" dirty="0"/>
              <a:t>, </a:t>
            </a:r>
            <a:r>
              <a:rPr lang="tr-TR" dirty="0" err="1"/>
              <a:t>while</a:t>
            </a:r>
            <a:r>
              <a:rPr lang="tr-TR" dirty="0"/>
              <a:t> </a:t>
            </a:r>
            <a:r>
              <a:rPr lang="tr-TR" dirty="0" err="1"/>
              <a:t>some</a:t>
            </a:r>
            <a:r>
              <a:rPr lang="tr-TR" dirty="0"/>
              <a:t> orbital </a:t>
            </a:r>
            <a:r>
              <a:rPr lang="tr-TR" dirty="0" err="1"/>
              <a:t>categories</a:t>
            </a:r>
            <a:r>
              <a:rPr lang="tr-TR" dirty="0"/>
              <a:t> </a:t>
            </a:r>
            <a:r>
              <a:rPr lang="tr-TR" dirty="0" err="1"/>
              <a:t>displayed</a:t>
            </a:r>
            <a:r>
              <a:rPr lang="tr-TR" dirty="0"/>
              <a:t> </a:t>
            </a:r>
            <a:r>
              <a:rPr lang="tr-TR" dirty="0" err="1"/>
              <a:t>particularly</a:t>
            </a:r>
            <a:r>
              <a:rPr lang="tr-TR" dirty="0"/>
              <a:t> </a:t>
            </a:r>
            <a:r>
              <a:rPr lang="tr-TR" dirty="0" err="1"/>
              <a:t>strong</a:t>
            </a:r>
            <a:r>
              <a:rPr lang="tr-TR" dirty="0"/>
              <a:t> </a:t>
            </a:r>
            <a:r>
              <a:rPr lang="tr-TR" dirty="0" err="1"/>
              <a:t>historical</a:t>
            </a:r>
            <a:r>
              <a:rPr lang="tr-TR" dirty="0"/>
              <a:t> </a:t>
            </a:r>
            <a:r>
              <a:rPr lang="tr-TR" dirty="0" err="1"/>
              <a:t>success</a:t>
            </a:r>
            <a:r>
              <a:rPr lang="tr-TR" dirty="0"/>
              <a:t> </a:t>
            </a:r>
            <a:r>
              <a:rPr lang="tr-TR" dirty="0" err="1"/>
              <a:t>rates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geographical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showed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SpaceX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sites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positioned</a:t>
            </a:r>
            <a:r>
              <a:rPr lang="tr-TR" dirty="0"/>
              <a:t> </a:t>
            </a:r>
            <a:r>
              <a:rPr lang="tr-TR" dirty="0" err="1"/>
              <a:t>close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b="1" dirty="0" err="1"/>
              <a:t>coast</a:t>
            </a:r>
            <a:r>
              <a:rPr lang="tr-TR" dirty="0"/>
              <a:t>, </a:t>
            </a:r>
            <a:r>
              <a:rPr lang="tr-TR" dirty="0" err="1"/>
              <a:t>while</a:t>
            </a:r>
            <a:r>
              <a:rPr lang="tr-TR" dirty="0"/>
              <a:t> </a:t>
            </a:r>
            <a:r>
              <a:rPr lang="tr-TR" dirty="0" err="1"/>
              <a:t>also</a:t>
            </a:r>
            <a:r>
              <a:rPr lang="tr-TR" dirty="0"/>
              <a:t> </a:t>
            </a:r>
            <a:r>
              <a:rPr lang="tr-TR" dirty="0" err="1"/>
              <a:t>having</a:t>
            </a:r>
            <a:r>
              <a:rPr lang="tr-TR" dirty="0"/>
              <a:t> </a:t>
            </a:r>
            <a:r>
              <a:rPr lang="tr-TR" dirty="0" err="1"/>
              <a:t>proximity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transportation</a:t>
            </a:r>
            <a:r>
              <a:rPr lang="tr-TR" dirty="0"/>
              <a:t> </a:t>
            </a:r>
            <a:r>
              <a:rPr lang="tr-TR" dirty="0" err="1"/>
              <a:t>infrastructure</a:t>
            </a:r>
            <a:r>
              <a:rPr lang="tr-TR" dirty="0"/>
              <a:t> </a:t>
            </a:r>
            <a:r>
              <a:rPr lang="tr-TR" dirty="0" err="1"/>
              <a:t>such</a:t>
            </a:r>
            <a:r>
              <a:rPr lang="tr-TR" dirty="0"/>
              <a:t> as </a:t>
            </a:r>
            <a:r>
              <a:rPr lang="tr-TR" dirty="0" err="1"/>
              <a:t>roads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railways</a:t>
            </a:r>
            <a:r>
              <a:rPr lang="tr-TR" dirty="0"/>
              <a:t>, </a:t>
            </a:r>
            <a:r>
              <a:rPr lang="tr-TR" dirty="0" err="1"/>
              <a:t>which</a:t>
            </a:r>
            <a:r>
              <a:rPr lang="tr-TR" dirty="0"/>
              <a:t> is </a:t>
            </a:r>
            <a:r>
              <a:rPr lang="tr-TR" dirty="0" err="1"/>
              <a:t>relevant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operational</a:t>
            </a:r>
            <a:r>
              <a:rPr lang="tr-TR" dirty="0"/>
              <a:t> </a:t>
            </a:r>
            <a:r>
              <a:rPr lang="tr-TR" dirty="0" err="1"/>
              <a:t>context</a:t>
            </a:r>
            <a:r>
              <a:rPr lang="tr-TR" dirty="0"/>
              <a:t> of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activities</a:t>
            </a:r>
            <a:r>
              <a:rPr lang="tr-TR" dirty="0"/>
              <a:t>.</a:t>
            </a:r>
          </a:p>
          <a:p>
            <a:r>
              <a:rPr lang="tr-TR" dirty="0" err="1"/>
              <a:t>The</a:t>
            </a:r>
            <a:r>
              <a:rPr lang="tr-TR" dirty="0"/>
              <a:t> SQL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provided</a:t>
            </a:r>
            <a:r>
              <a:rPr lang="tr-TR" dirty="0"/>
              <a:t> </a:t>
            </a:r>
            <a:r>
              <a:rPr lang="tr-TR" dirty="0" err="1"/>
              <a:t>another</a:t>
            </a:r>
            <a:r>
              <a:rPr lang="tr-TR" dirty="0"/>
              <a:t> </a:t>
            </a:r>
            <a:r>
              <a:rPr lang="tr-TR" dirty="0" err="1"/>
              <a:t>perspective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aggregating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records</a:t>
            </a:r>
            <a:r>
              <a:rPr lang="tr-TR" dirty="0"/>
              <a:t> </a:t>
            </a:r>
            <a:r>
              <a:rPr lang="tr-TR" dirty="0" err="1"/>
              <a:t>according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payload</a:t>
            </a:r>
            <a:r>
              <a:rPr lang="tr-TR" dirty="0"/>
              <a:t>, </a:t>
            </a:r>
            <a:r>
              <a:rPr lang="tr-TR" dirty="0" err="1"/>
              <a:t>booster</a:t>
            </a:r>
            <a:r>
              <a:rPr lang="tr-TR" dirty="0"/>
              <a:t> </a:t>
            </a:r>
            <a:r>
              <a:rPr lang="tr-TR" dirty="0" err="1"/>
              <a:t>version</a:t>
            </a:r>
            <a:r>
              <a:rPr lang="tr-TR" dirty="0"/>
              <a:t>, </a:t>
            </a:r>
            <a:r>
              <a:rPr lang="tr-TR" dirty="0" err="1"/>
              <a:t>date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outcome</a:t>
            </a:r>
            <a:r>
              <a:rPr lang="tr-TR" dirty="0"/>
              <a:t>.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made</a:t>
            </a:r>
            <a:r>
              <a:rPr lang="tr-TR" dirty="0"/>
              <a:t> it </a:t>
            </a:r>
            <a:r>
              <a:rPr lang="tr-TR" dirty="0" err="1"/>
              <a:t>possible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identify</a:t>
            </a:r>
            <a:r>
              <a:rPr lang="tr-TR" dirty="0"/>
              <a:t> </a:t>
            </a:r>
            <a:r>
              <a:rPr lang="tr-TR" dirty="0" err="1"/>
              <a:t>historical</a:t>
            </a:r>
            <a:r>
              <a:rPr lang="tr-TR" dirty="0"/>
              <a:t> </a:t>
            </a:r>
            <a:r>
              <a:rPr lang="tr-TR" dirty="0" err="1"/>
              <a:t>patterns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difficult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see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individual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records</a:t>
            </a:r>
            <a:r>
              <a:rPr lang="tr-TR" dirty="0"/>
              <a:t> </a:t>
            </a:r>
            <a:r>
              <a:rPr lang="tr-TR" dirty="0" err="1"/>
              <a:t>alone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interactive</a:t>
            </a:r>
            <a:r>
              <a:rPr lang="tr-TR" dirty="0"/>
              <a:t> </a:t>
            </a:r>
            <a:r>
              <a:rPr lang="tr-TR" dirty="0" err="1"/>
              <a:t>dashboard</a:t>
            </a:r>
            <a:r>
              <a:rPr lang="tr-TR" dirty="0"/>
              <a:t> </a:t>
            </a:r>
            <a:r>
              <a:rPr lang="tr-TR" dirty="0" err="1"/>
              <a:t>further</a:t>
            </a:r>
            <a:r>
              <a:rPr lang="tr-TR" dirty="0"/>
              <a:t> </a:t>
            </a:r>
            <a:r>
              <a:rPr lang="tr-TR" dirty="0" err="1"/>
              <a:t>transformed</a:t>
            </a:r>
            <a:r>
              <a:rPr lang="tr-TR" dirty="0"/>
              <a:t> </a:t>
            </a:r>
            <a:r>
              <a:rPr lang="tr-TR" dirty="0" err="1"/>
              <a:t>these</a:t>
            </a:r>
            <a:r>
              <a:rPr lang="tr-TR" dirty="0"/>
              <a:t> </a:t>
            </a:r>
            <a:r>
              <a:rPr lang="tr-TR" dirty="0" err="1"/>
              <a:t>findings</a:t>
            </a:r>
            <a:r>
              <a:rPr lang="tr-TR" dirty="0"/>
              <a:t> </a:t>
            </a:r>
            <a:r>
              <a:rPr lang="tr-TR" dirty="0" err="1"/>
              <a:t>into</a:t>
            </a:r>
            <a:r>
              <a:rPr lang="tr-TR" dirty="0"/>
              <a:t> a </a:t>
            </a:r>
            <a:r>
              <a:rPr lang="tr-TR" dirty="0" err="1"/>
              <a:t>practical</a:t>
            </a:r>
            <a:r>
              <a:rPr lang="tr-TR" dirty="0"/>
              <a:t> </a:t>
            </a:r>
            <a:r>
              <a:rPr lang="tr-TR" dirty="0" err="1"/>
              <a:t>analytical</a:t>
            </a:r>
            <a:r>
              <a:rPr lang="tr-TR" dirty="0"/>
              <a:t> </a:t>
            </a:r>
            <a:r>
              <a:rPr lang="tr-TR" dirty="0" err="1"/>
              <a:t>tool</a:t>
            </a:r>
            <a:r>
              <a:rPr lang="tr-TR" dirty="0"/>
              <a:t>, </a:t>
            </a:r>
            <a:r>
              <a:rPr lang="tr-TR" dirty="0" err="1"/>
              <a:t>allowing</a:t>
            </a:r>
            <a:r>
              <a:rPr lang="tr-TR" dirty="0"/>
              <a:t> </a:t>
            </a:r>
            <a:r>
              <a:rPr lang="tr-TR" dirty="0" err="1"/>
              <a:t>users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investigate</a:t>
            </a:r>
            <a:r>
              <a:rPr lang="tr-TR" dirty="0"/>
              <a:t> how </a:t>
            </a:r>
            <a:r>
              <a:rPr lang="tr-TR" b="1" dirty="0" err="1"/>
              <a:t>launch</a:t>
            </a:r>
            <a:r>
              <a:rPr lang="tr-TR" b="1" dirty="0"/>
              <a:t> site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payload</a:t>
            </a:r>
            <a:r>
              <a:rPr lang="tr-TR" b="1" dirty="0"/>
              <a:t> </a:t>
            </a:r>
            <a:r>
              <a:rPr lang="tr-TR" b="1" dirty="0" err="1"/>
              <a:t>range</a:t>
            </a:r>
            <a:r>
              <a:rPr lang="tr-TR" b="1" dirty="0"/>
              <a:t> </a:t>
            </a:r>
            <a:r>
              <a:rPr lang="tr-TR" b="1" dirty="0" err="1"/>
              <a:t>relate</a:t>
            </a:r>
            <a:r>
              <a:rPr lang="tr-TR" b="1" dirty="0"/>
              <a:t> </a:t>
            </a:r>
            <a:r>
              <a:rPr lang="tr-TR" b="1" dirty="0" err="1"/>
              <a:t>to</a:t>
            </a:r>
            <a:r>
              <a:rPr lang="tr-TR" b="1" dirty="0"/>
              <a:t> </a:t>
            </a:r>
            <a:r>
              <a:rPr lang="tr-TR" b="1" dirty="0" err="1"/>
              <a:t>successful</a:t>
            </a:r>
            <a:r>
              <a:rPr lang="tr-TR" b="1" dirty="0"/>
              <a:t>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unsuccessful</a:t>
            </a:r>
            <a:r>
              <a:rPr lang="tr-TR" b="1" dirty="0"/>
              <a:t> </a:t>
            </a:r>
            <a:r>
              <a:rPr lang="tr-TR" b="1" dirty="0" err="1"/>
              <a:t>outcomes</a:t>
            </a:r>
            <a:r>
              <a:rPr lang="tr-TR" dirty="0"/>
              <a:t>.</a:t>
            </a:r>
          </a:p>
          <a:p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predictive</a:t>
            </a:r>
            <a:r>
              <a:rPr lang="tr-TR" dirty="0"/>
              <a:t> </a:t>
            </a:r>
            <a:r>
              <a:rPr lang="tr-TR" dirty="0" err="1"/>
              <a:t>analytics</a:t>
            </a:r>
            <a:r>
              <a:rPr lang="tr-TR" dirty="0"/>
              <a:t>, multiple </a:t>
            </a:r>
            <a:r>
              <a:rPr lang="tr-TR" dirty="0" err="1"/>
              <a:t>classification</a:t>
            </a:r>
            <a:r>
              <a:rPr lang="tr-TR" dirty="0"/>
              <a:t> </a:t>
            </a:r>
            <a:r>
              <a:rPr lang="tr-TR" dirty="0" err="1"/>
              <a:t>algorithms</a:t>
            </a:r>
            <a:r>
              <a:rPr lang="tr-TR" dirty="0"/>
              <a:t> </a:t>
            </a:r>
            <a:r>
              <a:rPr lang="tr-TR" dirty="0" err="1"/>
              <a:t>were</a:t>
            </a:r>
            <a:r>
              <a:rPr lang="tr-TR" dirty="0"/>
              <a:t> </a:t>
            </a:r>
            <a:r>
              <a:rPr lang="tr-TR" dirty="0" err="1"/>
              <a:t>trained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compared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models</a:t>
            </a:r>
            <a:r>
              <a:rPr lang="tr-TR" dirty="0"/>
              <a:t> </a:t>
            </a:r>
            <a:r>
              <a:rPr lang="tr-TR" dirty="0" err="1"/>
              <a:t>produced</a:t>
            </a:r>
            <a:r>
              <a:rPr lang="tr-TR" dirty="0"/>
              <a:t> </a:t>
            </a:r>
            <a:r>
              <a:rPr lang="tr-TR" dirty="0" err="1"/>
              <a:t>broadly</a:t>
            </a:r>
            <a:r>
              <a:rPr lang="tr-TR" dirty="0"/>
              <a:t> </a:t>
            </a:r>
            <a:r>
              <a:rPr lang="tr-TR" dirty="0" err="1"/>
              <a:t>comparable</a:t>
            </a:r>
            <a:r>
              <a:rPr lang="tr-TR" dirty="0"/>
              <a:t> </a:t>
            </a:r>
            <a:r>
              <a:rPr lang="tr-TR" dirty="0" err="1"/>
              <a:t>results</a:t>
            </a:r>
            <a:r>
              <a:rPr lang="tr-TR" dirty="0"/>
              <a:t> on </a:t>
            </a:r>
            <a:r>
              <a:rPr lang="tr-TR" dirty="0" err="1"/>
              <a:t>the</a:t>
            </a:r>
            <a:r>
              <a:rPr lang="tr-TR" dirty="0"/>
              <a:t> test data, </a:t>
            </a:r>
            <a:r>
              <a:rPr lang="tr-TR" dirty="0" err="1"/>
              <a:t>while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b="1" dirty="0" err="1"/>
              <a:t>Decision</a:t>
            </a:r>
            <a:r>
              <a:rPr lang="tr-TR" b="1" dirty="0"/>
              <a:t> </a:t>
            </a:r>
            <a:r>
              <a:rPr lang="tr-TR" b="1" dirty="0" err="1"/>
              <a:t>Tree</a:t>
            </a:r>
            <a:r>
              <a:rPr lang="tr-TR" b="1" dirty="0"/>
              <a:t> </a:t>
            </a:r>
            <a:r>
              <a:rPr lang="tr-TR" b="1" dirty="0" err="1"/>
              <a:t>showed</a:t>
            </a:r>
            <a:r>
              <a:rPr lang="tr-TR" b="1" dirty="0"/>
              <a:t> a </a:t>
            </a:r>
            <a:r>
              <a:rPr lang="tr-TR" b="1" dirty="0" err="1"/>
              <a:t>slight</a:t>
            </a:r>
            <a:r>
              <a:rPr lang="tr-TR" b="1" dirty="0"/>
              <a:t> </a:t>
            </a:r>
            <a:r>
              <a:rPr lang="tr-TR" b="1" dirty="0" err="1"/>
              <a:t>advantage</a:t>
            </a:r>
            <a:r>
              <a:rPr lang="tr-TR" b="1" dirty="0"/>
              <a:t> </a:t>
            </a:r>
            <a:r>
              <a:rPr lang="tr-TR" b="1" dirty="0" err="1"/>
              <a:t>according</a:t>
            </a:r>
            <a:r>
              <a:rPr lang="tr-TR" b="1" dirty="0"/>
              <a:t> </a:t>
            </a:r>
            <a:r>
              <a:rPr lang="tr-TR" b="1" dirty="0" err="1"/>
              <a:t>to</a:t>
            </a:r>
            <a:r>
              <a:rPr lang="tr-TR" b="1" dirty="0"/>
              <a:t> </a:t>
            </a:r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notebook's</a:t>
            </a:r>
            <a:r>
              <a:rPr lang="tr-TR" b="1" dirty="0"/>
              <a:t> model-</a:t>
            </a:r>
            <a:r>
              <a:rPr lang="tr-TR" b="1" dirty="0" err="1"/>
              <a:t>selection</a:t>
            </a:r>
            <a:r>
              <a:rPr lang="tr-TR" b="1" dirty="0"/>
              <a:t> </a:t>
            </a:r>
            <a:r>
              <a:rPr lang="tr-TR" b="1" dirty="0" err="1"/>
              <a:t>criterion</a:t>
            </a:r>
            <a:r>
              <a:rPr lang="tr-TR" dirty="0"/>
              <a:t>.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indicates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relationship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characteristics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outcome</a:t>
            </a:r>
            <a:r>
              <a:rPr lang="tr-TR" dirty="0"/>
              <a:t> can be </a:t>
            </a:r>
            <a:r>
              <a:rPr lang="tr-TR" dirty="0" err="1"/>
              <a:t>captured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machine-learning</a:t>
            </a:r>
            <a:r>
              <a:rPr lang="tr-TR" dirty="0"/>
              <a:t> </a:t>
            </a:r>
            <a:r>
              <a:rPr lang="tr-TR" dirty="0" err="1"/>
              <a:t>models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generate</a:t>
            </a:r>
            <a:r>
              <a:rPr lang="tr-TR" dirty="0"/>
              <a:t> </a:t>
            </a:r>
            <a:r>
              <a:rPr lang="tr-TR" dirty="0" err="1"/>
              <a:t>predictions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scenarios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results</a:t>
            </a:r>
            <a:r>
              <a:rPr lang="tr-TR" dirty="0"/>
              <a:t> </a:t>
            </a:r>
            <a:r>
              <a:rPr lang="tr-TR" dirty="0" err="1"/>
              <a:t>should</a:t>
            </a:r>
            <a:r>
              <a:rPr lang="tr-TR" dirty="0"/>
              <a:t> be </a:t>
            </a:r>
            <a:r>
              <a:rPr lang="tr-TR" dirty="0" err="1"/>
              <a:t>interpreted</a:t>
            </a:r>
            <a:r>
              <a:rPr lang="tr-TR" dirty="0"/>
              <a:t> as </a:t>
            </a:r>
            <a:r>
              <a:rPr lang="tr-TR" dirty="0" err="1"/>
              <a:t>predictions</a:t>
            </a:r>
            <a:r>
              <a:rPr lang="tr-TR" dirty="0"/>
              <a:t> </a:t>
            </a:r>
            <a:r>
              <a:rPr lang="tr-TR" dirty="0" err="1"/>
              <a:t>based</a:t>
            </a:r>
            <a:r>
              <a:rPr lang="tr-TR" dirty="0"/>
              <a:t> on </a:t>
            </a:r>
            <a:r>
              <a:rPr lang="tr-TR" dirty="0" err="1"/>
              <a:t>historical</a:t>
            </a:r>
            <a:r>
              <a:rPr lang="tr-TR" dirty="0"/>
              <a:t> data </a:t>
            </a:r>
            <a:r>
              <a:rPr lang="tr-TR" dirty="0" err="1"/>
              <a:t>rather</a:t>
            </a:r>
            <a:r>
              <a:rPr lang="tr-TR" dirty="0"/>
              <a:t> </a:t>
            </a:r>
            <a:r>
              <a:rPr lang="tr-TR" dirty="0" err="1"/>
              <a:t>than</a:t>
            </a:r>
            <a:r>
              <a:rPr lang="tr-TR" dirty="0"/>
              <a:t> </a:t>
            </a:r>
            <a:r>
              <a:rPr lang="tr-TR" dirty="0" err="1"/>
              <a:t>guarantees</a:t>
            </a:r>
            <a:r>
              <a:rPr lang="tr-TR" dirty="0"/>
              <a:t> of </a:t>
            </a:r>
            <a:r>
              <a:rPr lang="tr-TR" dirty="0" err="1"/>
              <a:t>future</a:t>
            </a:r>
            <a:r>
              <a:rPr lang="tr-TR" dirty="0"/>
              <a:t>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performance</a:t>
            </a:r>
            <a:r>
              <a:rPr lang="tr-TR" dirty="0"/>
              <a:t>.</a:t>
            </a:r>
          </a:p>
          <a:p>
            <a:r>
              <a:rPr lang="tr-TR" dirty="0" err="1"/>
              <a:t>Taken</a:t>
            </a:r>
            <a:r>
              <a:rPr lang="tr-TR" dirty="0"/>
              <a:t> </a:t>
            </a:r>
            <a:r>
              <a:rPr lang="tr-TR" dirty="0" err="1"/>
              <a:t>together</a:t>
            </a:r>
            <a:r>
              <a:rPr lang="tr-TR" dirty="0"/>
              <a:t>,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project</a:t>
            </a:r>
            <a:r>
              <a:rPr lang="tr-TR" dirty="0"/>
              <a:t> </a:t>
            </a:r>
            <a:r>
              <a:rPr lang="tr-TR" dirty="0" err="1"/>
              <a:t>demonstrates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Falcon 9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success</a:t>
            </a:r>
            <a:r>
              <a:rPr lang="tr-TR" dirty="0"/>
              <a:t> is not </a:t>
            </a:r>
            <a:r>
              <a:rPr lang="tr-TR" dirty="0" err="1"/>
              <a:t>explained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a </a:t>
            </a:r>
            <a:r>
              <a:rPr lang="tr-TR" dirty="0" err="1"/>
              <a:t>single</a:t>
            </a:r>
            <a:r>
              <a:rPr lang="tr-TR" dirty="0"/>
              <a:t> </a:t>
            </a:r>
            <a:r>
              <a:rPr lang="tr-TR" dirty="0" err="1"/>
              <a:t>variable</a:t>
            </a:r>
            <a:r>
              <a:rPr lang="tr-TR" dirty="0"/>
              <a:t>. </a:t>
            </a:r>
            <a:r>
              <a:rPr lang="tr-TR" dirty="0" err="1"/>
              <a:t>Instead</a:t>
            </a:r>
            <a:r>
              <a:rPr lang="tr-TR" dirty="0"/>
              <a:t>, it </a:t>
            </a:r>
            <a:r>
              <a:rPr lang="tr-TR" dirty="0" err="1"/>
              <a:t>reflects</a:t>
            </a:r>
            <a:r>
              <a:rPr lang="tr-TR" dirty="0"/>
              <a:t> a </a:t>
            </a:r>
            <a:r>
              <a:rPr lang="tr-TR" dirty="0" err="1"/>
              <a:t>combination</a:t>
            </a:r>
            <a:r>
              <a:rPr lang="tr-TR" dirty="0"/>
              <a:t> of </a:t>
            </a:r>
            <a:r>
              <a:rPr lang="tr-TR" b="1" dirty="0" err="1"/>
              <a:t>mission</a:t>
            </a:r>
            <a:r>
              <a:rPr lang="tr-TR" b="1" dirty="0"/>
              <a:t> </a:t>
            </a:r>
            <a:r>
              <a:rPr lang="tr-TR" b="1" dirty="0" err="1"/>
              <a:t>characteristics</a:t>
            </a:r>
            <a:r>
              <a:rPr lang="tr-TR" b="1" dirty="0"/>
              <a:t>, </a:t>
            </a:r>
            <a:r>
              <a:rPr lang="tr-TR" b="1" dirty="0" err="1"/>
              <a:t>launch</a:t>
            </a:r>
            <a:r>
              <a:rPr lang="tr-TR" b="1" dirty="0"/>
              <a:t> </a:t>
            </a:r>
            <a:r>
              <a:rPr lang="tr-TR" b="1" dirty="0" err="1"/>
              <a:t>location</a:t>
            </a:r>
            <a:r>
              <a:rPr lang="tr-TR" b="1" dirty="0"/>
              <a:t>, </a:t>
            </a:r>
            <a:r>
              <a:rPr lang="tr-TR" b="1" dirty="0" err="1"/>
              <a:t>payload</a:t>
            </a:r>
            <a:r>
              <a:rPr lang="tr-TR" b="1" dirty="0"/>
              <a:t>, </a:t>
            </a:r>
            <a:r>
              <a:rPr lang="tr-TR" b="1" dirty="0" err="1"/>
              <a:t>booster</a:t>
            </a:r>
            <a:r>
              <a:rPr lang="tr-TR" b="1" dirty="0"/>
              <a:t> </a:t>
            </a:r>
            <a:r>
              <a:rPr lang="tr-TR" b="1" dirty="0" err="1"/>
              <a:t>history</a:t>
            </a:r>
            <a:r>
              <a:rPr lang="tr-TR" b="1" dirty="0"/>
              <a:t>, orbit,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technological</a:t>
            </a:r>
            <a:r>
              <a:rPr lang="tr-TR" b="1" dirty="0"/>
              <a:t> </a:t>
            </a:r>
            <a:r>
              <a:rPr lang="tr-TR" b="1" dirty="0" err="1"/>
              <a:t>evolution</a:t>
            </a:r>
            <a:r>
              <a:rPr lang="tr-TR" b="1" dirty="0"/>
              <a:t> </a:t>
            </a:r>
            <a:r>
              <a:rPr lang="tr-TR" b="1" dirty="0" err="1"/>
              <a:t>over</a:t>
            </a:r>
            <a:r>
              <a:rPr lang="tr-TR" b="1" dirty="0"/>
              <a:t> time</a:t>
            </a:r>
            <a:r>
              <a:rPr lang="tr-TR" dirty="0"/>
              <a:t>. An </a:t>
            </a:r>
            <a:r>
              <a:rPr lang="tr-TR" dirty="0" err="1"/>
              <a:t>innovative</a:t>
            </a:r>
            <a:r>
              <a:rPr lang="tr-TR" dirty="0"/>
              <a:t> </a:t>
            </a:r>
            <a:r>
              <a:rPr lang="tr-TR" dirty="0" err="1"/>
              <a:t>extension</a:t>
            </a:r>
            <a:r>
              <a:rPr lang="tr-TR" dirty="0"/>
              <a:t> of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work</a:t>
            </a:r>
            <a:r>
              <a:rPr lang="tr-TR" dirty="0"/>
              <a:t> </a:t>
            </a:r>
            <a:r>
              <a:rPr lang="tr-TR" dirty="0" err="1"/>
              <a:t>would</a:t>
            </a:r>
            <a:r>
              <a:rPr lang="tr-TR" dirty="0"/>
              <a:t> be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turn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predictive</a:t>
            </a:r>
            <a:r>
              <a:rPr lang="tr-TR" dirty="0"/>
              <a:t> model </a:t>
            </a:r>
            <a:r>
              <a:rPr lang="tr-TR" dirty="0" err="1"/>
              <a:t>into</a:t>
            </a:r>
            <a:r>
              <a:rPr lang="tr-TR" dirty="0"/>
              <a:t> a </a:t>
            </a:r>
            <a:r>
              <a:rPr lang="tr-TR" dirty="0" err="1"/>
              <a:t>scenario-analysis</a:t>
            </a:r>
            <a:r>
              <a:rPr lang="tr-TR" dirty="0"/>
              <a:t> </a:t>
            </a:r>
            <a:r>
              <a:rPr lang="tr-TR" dirty="0" err="1"/>
              <a:t>tool</a:t>
            </a:r>
            <a:r>
              <a:rPr lang="tr-TR" dirty="0"/>
              <a:t>: </a:t>
            </a:r>
            <a:r>
              <a:rPr lang="tr-TR" dirty="0" err="1"/>
              <a:t>users</a:t>
            </a:r>
            <a:r>
              <a:rPr lang="tr-TR" dirty="0"/>
              <a:t> </a:t>
            </a:r>
            <a:r>
              <a:rPr lang="tr-TR" dirty="0" err="1"/>
              <a:t>could</a:t>
            </a:r>
            <a:r>
              <a:rPr lang="tr-TR" dirty="0"/>
              <a:t> </a:t>
            </a:r>
            <a:r>
              <a:rPr lang="tr-TR" dirty="0" err="1"/>
              <a:t>change</a:t>
            </a:r>
            <a:r>
              <a:rPr lang="tr-TR" dirty="0"/>
              <a:t> </a:t>
            </a:r>
            <a:r>
              <a:rPr lang="tr-TR" dirty="0" err="1"/>
              <a:t>payload</a:t>
            </a:r>
            <a:r>
              <a:rPr lang="tr-TR" dirty="0"/>
              <a:t>, </a:t>
            </a:r>
            <a:r>
              <a:rPr lang="tr-TR" dirty="0" err="1"/>
              <a:t>launch</a:t>
            </a:r>
            <a:r>
              <a:rPr lang="tr-TR" dirty="0"/>
              <a:t> site, orbit,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booster</a:t>
            </a:r>
            <a:r>
              <a:rPr lang="tr-TR" dirty="0"/>
              <a:t> </a:t>
            </a:r>
            <a:r>
              <a:rPr lang="tr-TR" dirty="0" err="1"/>
              <a:t>characteristics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examine</a:t>
            </a:r>
            <a:r>
              <a:rPr lang="tr-TR" dirty="0"/>
              <a:t> how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predicted</a:t>
            </a:r>
            <a:r>
              <a:rPr lang="tr-TR" dirty="0"/>
              <a:t>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outcome</a:t>
            </a:r>
            <a:r>
              <a:rPr lang="tr-TR" dirty="0"/>
              <a:t> </a:t>
            </a:r>
            <a:r>
              <a:rPr lang="tr-TR" dirty="0" err="1"/>
              <a:t>changes</a:t>
            </a:r>
            <a:r>
              <a:rPr lang="tr-TR" dirty="0"/>
              <a:t>.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would</a:t>
            </a:r>
            <a:r>
              <a:rPr lang="tr-TR" dirty="0"/>
              <a:t> </a:t>
            </a:r>
            <a:r>
              <a:rPr lang="tr-TR" dirty="0" err="1"/>
              <a:t>move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project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simply</a:t>
            </a:r>
            <a:r>
              <a:rPr lang="tr-TR" dirty="0"/>
              <a:t> </a:t>
            </a:r>
            <a:r>
              <a:rPr lang="tr-TR" dirty="0" err="1"/>
              <a:t>predicting</a:t>
            </a:r>
            <a:r>
              <a:rPr lang="tr-TR" dirty="0"/>
              <a:t> </a:t>
            </a:r>
            <a:r>
              <a:rPr lang="tr-TR" dirty="0" err="1"/>
              <a:t>historical</a:t>
            </a:r>
            <a:r>
              <a:rPr lang="tr-TR" dirty="0"/>
              <a:t> </a:t>
            </a:r>
            <a:r>
              <a:rPr lang="tr-TR" dirty="0" err="1"/>
              <a:t>outcomes</a:t>
            </a:r>
            <a:r>
              <a:rPr lang="tr-TR" dirty="0"/>
              <a:t> </a:t>
            </a:r>
            <a:r>
              <a:rPr lang="tr-TR" dirty="0" err="1"/>
              <a:t>toward</a:t>
            </a:r>
            <a:r>
              <a:rPr lang="tr-TR" dirty="0"/>
              <a:t> </a:t>
            </a:r>
            <a:r>
              <a:rPr lang="tr-TR" dirty="0" err="1"/>
              <a:t>supporting</a:t>
            </a:r>
            <a:r>
              <a:rPr lang="tr-TR" dirty="0"/>
              <a:t> </a:t>
            </a:r>
            <a:r>
              <a:rPr lang="tr-TR" b="1" dirty="0"/>
              <a:t>data-</a:t>
            </a:r>
            <a:r>
              <a:rPr lang="tr-TR" b="1" dirty="0" err="1"/>
              <a:t>driven</a:t>
            </a:r>
            <a:r>
              <a:rPr lang="tr-TR" b="1" dirty="0"/>
              <a:t> </a:t>
            </a:r>
            <a:r>
              <a:rPr lang="tr-TR" b="1" dirty="0" err="1"/>
              <a:t>mission</a:t>
            </a:r>
            <a:r>
              <a:rPr lang="tr-TR" b="1" dirty="0"/>
              <a:t> </a:t>
            </a:r>
            <a:r>
              <a:rPr lang="tr-TR" b="1" dirty="0" err="1"/>
              <a:t>planning</a:t>
            </a:r>
            <a:r>
              <a:rPr lang="tr-TR" b="1" dirty="0"/>
              <a:t>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launch-cost</a:t>
            </a:r>
            <a:r>
              <a:rPr lang="tr-TR" b="1" dirty="0"/>
              <a:t> </a:t>
            </a:r>
            <a:r>
              <a:rPr lang="tr-TR" b="1" dirty="0" err="1"/>
              <a:t>analysis</a:t>
            </a:r>
            <a:r>
              <a:rPr lang="tr-TR" dirty="0"/>
              <a:t>.</a:t>
            </a:r>
          </a:p>
          <a:p>
            <a:pPr lvl="0"/>
            <a:endParaRPr lang="tr-T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1C0AF81E-5B1C-9C01-96FD-7D6ED901D865}"/>
                  </a:ext>
                </a:extLst>
              </p14:cNvPr>
              <p14:cNvContentPartPr/>
              <p14:nvPr/>
            </p14:nvContentPartPr>
            <p14:xfrm>
              <a:off x="3838395" y="7372005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29395" y="7363005"/>
                <a:ext cx="1800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" name="Grup 3" descr="Düz Bağlayıcı ve Daire içinde kırmızı nokta">
            <a:extLst>
              <a:ext uri="{FF2B5EF4-FFF2-40B4-BE49-F238E27FC236}">
                <a16:creationId xmlns:a16="http://schemas.microsoft.com/office/drawing/2014/main" id="{7A790856-FEC2-B3BD-2EC9-3634B79D498C}"/>
              </a:ext>
            </a:extLst>
          </p:cNvPr>
          <p:cNvGrpSpPr/>
          <p:nvPr/>
        </p:nvGrpSpPr>
        <p:grpSpPr>
          <a:xfrm>
            <a:off x="1557338" y="1458610"/>
            <a:ext cx="5513866" cy="276225"/>
            <a:chOff x="1557338" y="1458610"/>
            <a:chExt cx="5513866" cy="276225"/>
          </a:xfrm>
        </p:grpSpPr>
        <p:cxnSp>
          <p:nvCxnSpPr>
            <p:cNvPr id="12" name="Düz Bağlayıcı 11">
              <a:extLst>
                <a:ext uri="{FF2B5EF4-FFF2-40B4-BE49-F238E27FC236}">
                  <a16:creationId xmlns:a16="http://schemas.microsoft.com/office/drawing/2014/main" id="{4577198D-C3D5-EE35-7465-870A77B4BCC8}"/>
                </a:ext>
              </a:extLst>
            </p:cNvPr>
            <p:cNvCxnSpPr/>
            <p:nvPr/>
          </p:nvCxnSpPr>
          <p:spPr>
            <a:xfrm>
              <a:off x="1557338" y="1589020"/>
              <a:ext cx="5362574" cy="0"/>
            </a:xfrm>
            <a:prstGeom prst="line">
              <a:avLst/>
            </a:prstGeom>
            <a:ln>
              <a:solidFill>
                <a:schemeClr val="bg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Resim 9" descr="Daire içinde kırmızı nokta">
              <a:extLst>
                <a:ext uri="{FF2B5EF4-FFF2-40B4-BE49-F238E27FC236}">
                  <a16:creationId xmlns:a16="http://schemas.microsoft.com/office/drawing/2014/main" id="{4286DF87-F164-9B3C-14D2-2B2DDE7F1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94979" y="1458610"/>
              <a:ext cx="276225" cy="276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133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1811CCB4-5A42-4506-A2DE-4A66CDA93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0757" y="1734834"/>
            <a:ext cx="5912430" cy="5123166"/>
          </a:xfrm>
        </p:spPr>
        <p:txBody>
          <a:bodyPr rtlCol="0">
            <a:normAutofit lnSpcReduction="10000"/>
          </a:bodyPr>
          <a:lstStyle/>
          <a:p>
            <a:r>
              <a:rPr lang="tr-TR" b="1" dirty="0"/>
              <a:t>Web </a:t>
            </a:r>
            <a:r>
              <a:rPr lang="tr-TR" b="1" dirty="0" err="1"/>
              <a:t>Scraping</a:t>
            </a:r>
            <a:r>
              <a:rPr lang="tr-TR" b="1" dirty="0"/>
              <a:t> — Falcon 9 </a:t>
            </a:r>
            <a:r>
              <a:rPr lang="tr-TR" b="1" dirty="0" err="1"/>
              <a:t>Launch</a:t>
            </a:r>
            <a:r>
              <a:rPr lang="tr-TR" b="1" dirty="0"/>
              <a:t> Data</a:t>
            </a:r>
          </a:p>
          <a:p>
            <a:pPr lvl="0"/>
            <a:r>
              <a:rPr lang="tr-TR" b="1" dirty="0" err="1"/>
              <a:t>Send</a:t>
            </a:r>
            <a:r>
              <a:rPr lang="tr-TR" b="1" dirty="0"/>
              <a:t> an HTTP </a:t>
            </a:r>
            <a:r>
              <a:rPr lang="tr-TR" b="1" dirty="0" err="1"/>
              <a:t>request</a:t>
            </a:r>
            <a:br>
              <a:rPr lang="tr-TR" dirty="0"/>
            </a:b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dirty="0" err="1"/>
              <a:t>requests.get</a:t>
            </a:r>
            <a:r>
              <a:rPr lang="tr-TR" dirty="0"/>
              <a:t>()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download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Wikipedia </a:t>
            </a:r>
            <a:r>
              <a:rPr lang="tr-TR" dirty="0" err="1"/>
              <a:t>page</a:t>
            </a:r>
            <a:r>
              <a:rPr lang="tr-TR" dirty="0"/>
              <a:t> </a:t>
            </a:r>
            <a:r>
              <a:rPr lang="tr-TR" dirty="0" err="1"/>
              <a:t>containing</a:t>
            </a:r>
            <a:r>
              <a:rPr lang="tr-TR" dirty="0"/>
              <a:t> Falcon 9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information</a:t>
            </a:r>
            <a:r>
              <a:rPr lang="tr-TR" dirty="0"/>
              <a:t>.</a:t>
            </a:r>
          </a:p>
          <a:p>
            <a:pPr lvl="0"/>
            <a:r>
              <a:rPr lang="tr-TR" b="1" dirty="0" err="1"/>
              <a:t>Create</a:t>
            </a:r>
            <a:r>
              <a:rPr lang="tr-TR" b="1" dirty="0"/>
              <a:t> a </a:t>
            </a:r>
            <a:r>
              <a:rPr lang="tr-TR" b="1" dirty="0" err="1"/>
              <a:t>BeautifulSoup</a:t>
            </a:r>
            <a:r>
              <a:rPr lang="tr-TR" b="1" dirty="0"/>
              <a:t> </a:t>
            </a:r>
            <a:r>
              <a:rPr lang="tr-TR" b="1" dirty="0" err="1"/>
              <a:t>object</a:t>
            </a:r>
            <a:br>
              <a:rPr lang="tr-TR" dirty="0"/>
            </a:b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dirty="0" err="1"/>
              <a:t>BeautifulSoup</a:t>
            </a:r>
            <a:r>
              <a:rPr lang="tr-TR" dirty="0"/>
              <a:t>(</a:t>
            </a:r>
            <a:r>
              <a:rPr lang="tr-TR" dirty="0" err="1"/>
              <a:t>response.text</a:t>
            </a:r>
            <a:r>
              <a:rPr lang="tr-TR" dirty="0"/>
              <a:t>, "</a:t>
            </a:r>
            <a:r>
              <a:rPr lang="tr-TR" dirty="0" err="1"/>
              <a:t>html.parser</a:t>
            </a:r>
            <a:r>
              <a:rPr lang="tr-TR" dirty="0"/>
              <a:t>")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parse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HTML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make</a:t>
            </a:r>
            <a:r>
              <a:rPr lang="tr-TR" dirty="0"/>
              <a:t> it </a:t>
            </a:r>
            <a:r>
              <a:rPr lang="tr-TR" dirty="0" err="1"/>
              <a:t>easier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work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.</a:t>
            </a:r>
          </a:p>
          <a:p>
            <a:pPr lvl="0"/>
            <a:r>
              <a:rPr lang="tr-TR" b="1" dirty="0" err="1"/>
              <a:t>Find</a:t>
            </a:r>
            <a:r>
              <a:rPr lang="tr-TR" b="1" dirty="0"/>
              <a:t> </a:t>
            </a:r>
            <a:r>
              <a:rPr lang="tr-TR" b="1" dirty="0" err="1"/>
              <a:t>all</a:t>
            </a:r>
            <a:r>
              <a:rPr lang="tr-TR" b="1" dirty="0"/>
              <a:t> </a:t>
            </a:r>
            <a:r>
              <a:rPr lang="tr-TR" b="1" dirty="0" err="1"/>
              <a:t>tables</a:t>
            </a:r>
            <a:br>
              <a:rPr lang="tr-TR" dirty="0"/>
            </a:b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:</a:t>
            </a:r>
          </a:p>
          <a:p>
            <a:pPr lvl="0"/>
            <a:r>
              <a:rPr lang="tr-TR" dirty="0" err="1"/>
              <a:t>html_tables</a:t>
            </a:r>
            <a:r>
              <a:rPr lang="tr-TR" dirty="0"/>
              <a:t> = </a:t>
            </a:r>
            <a:r>
              <a:rPr lang="tr-TR" dirty="0" err="1"/>
              <a:t>soup.find_all</a:t>
            </a:r>
            <a:r>
              <a:rPr lang="tr-TR" dirty="0"/>
              <a:t>("</a:t>
            </a:r>
            <a:r>
              <a:rPr lang="tr-TR" dirty="0" err="1"/>
              <a:t>table</a:t>
            </a:r>
            <a:r>
              <a:rPr lang="tr-TR" dirty="0"/>
              <a:t>")</a:t>
            </a:r>
          </a:p>
          <a:p>
            <a:pPr lvl="0"/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finds</a:t>
            </a:r>
            <a:r>
              <a:rPr lang="tr-TR" dirty="0"/>
              <a:t> </a:t>
            </a:r>
            <a:r>
              <a:rPr lang="tr-TR" dirty="0" err="1"/>
              <a:t>all</a:t>
            </a:r>
            <a:r>
              <a:rPr lang="tr-TR" dirty="0"/>
              <a:t> &lt;</a:t>
            </a:r>
            <a:r>
              <a:rPr lang="tr-TR" dirty="0" err="1"/>
              <a:t>table</a:t>
            </a:r>
            <a:r>
              <a:rPr lang="tr-TR" dirty="0"/>
              <a:t>&gt; </a:t>
            </a:r>
            <a:r>
              <a:rPr lang="tr-TR" dirty="0" err="1"/>
              <a:t>elements</a:t>
            </a:r>
            <a:r>
              <a:rPr lang="tr-TR" dirty="0"/>
              <a:t> on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webpage</a:t>
            </a:r>
            <a:r>
              <a:rPr lang="tr-TR" dirty="0"/>
              <a:t>.</a:t>
            </a:r>
          </a:p>
          <a:p>
            <a:pPr lvl="0"/>
            <a:r>
              <a:rPr lang="tr-TR" b="1" dirty="0" err="1"/>
              <a:t>Find</a:t>
            </a:r>
            <a:r>
              <a:rPr lang="tr-TR" b="1" dirty="0"/>
              <a:t> </a:t>
            </a:r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launch</a:t>
            </a:r>
            <a:r>
              <a:rPr lang="tr-TR" b="1" dirty="0"/>
              <a:t> </a:t>
            </a:r>
            <a:r>
              <a:rPr lang="tr-TR" b="1" dirty="0" err="1"/>
              <a:t>table</a:t>
            </a:r>
            <a:br>
              <a:rPr lang="tr-TR" dirty="0"/>
            </a:b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selected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table</a:t>
            </a:r>
            <a:r>
              <a:rPr lang="tr-TR" dirty="0"/>
              <a:t> </a:t>
            </a:r>
            <a:r>
              <a:rPr lang="tr-TR" dirty="0" err="1"/>
              <a:t>containing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Falcon 9 </a:t>
            </a:r>
            <a:r>
              <a:rPr lang="tr-TR" dirty="0" err="1"/>
              <a:t>launch</a:t>
            </a:r>
            <a:r>
              <a:rPr lang="tr-TR" dirty="0"/>
              <a:t> data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stored</a:t>
            </a:r>
            <a:r>
              <a:rPr lang="tr-TR" dirty="0"/>
              <a:t> it in </a:t>
            </a:r>
            <a:r>
              <a:rPr lang="tr-TR" dirty="0" err="1"/>
              <a:t>first_launch_table</a:t>
            </a:r>
            <a:r>
              <a:rPr lang="tr-TR" dirty="0"/>
              <a:t>.</a:t>
            </a:r>
          </a:p>
          <a:p>
            <a:pPr lvl="0"/>
            <a:r>
              <a:rPr lang="tr-TR" b="1" dirty="0" err="1"/>
              <a:t>Extract</a:t>
            </a:r>
            <a:r>
              <a:rPr lang="tr-TR" b="1" dirty="0"/>
              <a:t> </a:t>
            </a:r>
            <a:r>
              <a:rPr lang="tr-TR" b="1" dirty="0" err="1"/>
              <a:t>column</a:t>
            </a:r>
            <a:r>
              <a:rPr lang="tr-TR" b="1" dirty="0"/>
              <a:t> </a:t>
            </a:r>
            <a:r>
              <a:rPr lang="tr-TR" b="1" dirty="0" err="1"/>
              <a:t>names</a:t>
            </a:r>
            <a:br>
              <a:rPr lang="tr-TR" dirty="0"/>
            </a:b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searched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&lt;</a:t>
            </a:r>
            <a:r>
              <a:rPr lang="tr-TR" dirty="0" err="1"/>
              <a:t>th</a:t>
            </a:r>
            <a:r>
              <a:rPr lang="tr-TR" dirty="0"/>
              <a:t>&gt; </a:t>
            </a:r>
            <a:r>
              <a:rPr lang="tr-TR" dirty="0" err="1"/>
              <a:t>elements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dirty="0" err="1"/>
              <a:t>find_all</a:t>
            </a:r>
            <a:r>
              <a:rPr lang="tr-TR" dirty="0"/>
              <a:t>("</a:t>
            </a:r>
            <a:r>
              <a:rPr lang="tr-TR" dirty="0" err="1"/>
              <a:t>th</a:t>
            </a:r>
            <a:r>
              <a:rPr lang="tr-TR" dirty="0"/>
              <a:t>"), </a:t>
            </a:r>
            <a:r>
              <a:rPr lang="tr-TR" dirty="0" err="1"/>
              <a:t>then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dirty="0" err="1"/>
              <a:t>extract_column_from_header</a:t>
            </a:r>
            <a:r>
              <a:rPr lang="tr-TR" dirty="0"/>
              <a:t>()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get</a:t>
            </a:r>
            <a:r>
              <a:rPr lang="tr-TR" dirty="0"/>
              <a:t> </a:t>
            </a:r>
            <a:r>
              <a:rPr lang="tr-TR" dirty="0" err="1"/>
              <a:t>each</a:t>
            </a:r>
            <a:r>
              <a:rPr lang="tr-TR" dirty="0"/>
              <a:t> </a:t>
            </a:r>
            <a:r>
              <a:rPr lang="tr-TR" dirty="0" err="1"/>
              <a:t>column</a:t>
            </a:r>
            <a:r>
              <a:rPr lang="tr-TR" dirty="0"/>
              <a:t> name.</a:t>
            </a:r>
          </a:p>
          <a:p>
            <a:pPr lvl="0"/>
            <a:r>
              <a:rPr lang="tr-TR" b="1" dirty="0" err="1"/>
              <a:t>Store</a:t>
            </a:r>
            <a:r>
              <a:rPr lang="tr-TR" b="1" dirty="0"/>
              <a:t> </a:t>
            </a:r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column</a:t>
            </a:r>
            <a:r>
              <a:rPr lang="tr-TR" b="1" dirty="0"/>
              <a:t> </a:t>
            </a:r>
            <a:r>
              <a:rPr lang="tr-TR" b="1" dirty="0" err="1"/>
              <a:t>names</a:t>
            </a:r>
            <a:br>
              <a:rPr lang="tr-TR" dirty="0"/>
            </a:b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added</a:t>
            </a:r>
            <a:r>
              <a:rPr lang="tr-TR" dirty="0"/>
              <a:t> </a:t>
            </a:r>
            <a:r>
              <a:rPr lang="tr-TR" dirty="0" err="1"/>
              <a:t>only</a:t>
            </a:r>
            <a:r>
              <a:rPr lang="tr-TR" dirty="0"/>
              <a:t> </a:t>
            </a:r>
            <a:r>
              <a:rPr lang="tr-TR" dirty="0" err="1"/>
              <a:t>non-empty</a:t>
            </a:r>
            <a:r>
              <a:rPr lang="tr-TR" dirty="0"/>
              <a:t> </a:t>
            </a:r>
            <a:r>
              <a:rPr lang="tr-TR" dirty="0" err="1"/>
              <a:t>column</a:t>
            </a:r>
            <a:r>
              <a:rPr lang="tr-TR" dirty="0"/>
              <a:t> </a:t>
            </a:r>
            <a:r>
              <a:rPr lang="tr-TR" dirty="0" err="1"/>
              <a:t>names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column_names</a:t>
            </a:r>
            <a:r>
              <a:rPr lang="tr-TR" dirty="0"/>
              <a:t> </a:t>
            </a:r>
            <a:r>
              <a:rPr lang="tr-TR" dirty="0" err="1"/>
              <a:t>list</a:t>
            </a:r>
            <a:r>
              <a:rPr lang="tr-TR" dirty="0"/>
              <a:t>.</a:t>
            </a:r>
          </a:p>
          <a:p>
            <a:r>
              <a:rPr lang="tr-TR" b="1" dirty="0" err="1"/>
              <a:t>In</a:t>
            </a:r>
            <a:r>
              <a:rPr lang="tr-TR" b="1" dirty="0"/>
              <a:t> </a:t>
            </a:r>
            <a:r>
              <a:rPr lang="tr-TR" b="1" dirty="0" err="1"/>
              <a:t>simple</a:t>
            </a:r>
            <a:r>
              <a:rPr lang="tr-TR" b="1" dirty="0"/>
              <a:t> </a:t>
            </a:r>
            <a:r>
              <a:rPr lang="tr-TR" b="1" dirty="0" err="1"/>
              <a:t>terms</a:t>
            </a:r>
            <a:r>
              <a:rPr lang="tr-TR" b="1" dirty="0"/>
              <a:t>:</a:t>
            </a:r>
          </a:p>
          <a:p>
            <a:r>
              <a:rPr lang="tr-TR" b="1" dirty="0" err="1"/>
              <a:t>Website</a:t>
            </a:r>
            <a:r>
              <a:rPr lang="tr-TR" b="1" dirty="0"/>
              <a:t> → </a:t>
            </a:r>
            <a:r>
              <a:rPr lang="tr-TR" b="1" dirty="0" err="1"/>
              <a:t>Request</a:t>
            </a:r>
            <a:r>
              <a:rPr lang="tr-TR" b="1" dirty="0"/>
              <a:t> HTML → </a:t>
            </a:r>
            <a:r>
              <a:rPr lang="tr-TR" b="1" dirty="0" err="1"/>
              <a:t>BeautifulSoup</a:t>
            </a:r>
            <a:r>
              <a:rPr lang="tr-TR" b="1" dirty="0"/>
              <a:t> → </a:t>
            </a:r>
            <a:r>
              <a:rPr lang="tr-TR" b="1" dirty="0" err="1"/>
              <a:t>Find</a:t>
            </a:r>
            <a:r>
              <a:rPr lang="tr-TR" b="1" dirty="0"/>
              <a:t> </a:t>
            </a:r>
            <a:r>
              <a:rPr lang="tr-TR" b="1" dirty="0" err="1"/>
              <a:t>tables</a:t>
            </a:r>
            <a:r>
              <a:rPr lang="tr-TR" b="1" dirty="0"/>
              <a:t> → </a:t>
            </a:r>
            <a:r>
              <a:rPr lang="tr-TR" b="1" dirty="0" err="1"/>
              <a:t>Find</a:t>
            </a:r>
            <a:r>
              <a:rPr lang="tr-TR" b="1" dirty="0"/>
              <a:t> </a:t>
            </a:r>
            <a:r>
              <a:rPr lang="tr-TR" b="1" dirty="0" err="1"/>
              <a:t>launch</a:t>
            </a:r>
            <a:r>
              <a:rPr lang="tr-TR" b="1" dirty="0"/>
              <a:t> </a:t>
            </a:r>
            <a:r>
              <a:rPr lang="tr-TR" b="1" dirty="0" err="1"/>
              <a:t>table</a:t>
            </a:r>
            <a:r>
              <a:rPr lang="tr-TR" b="1" dirty="0"/>
              <a:t> → </a:t>
            </a:r>
            <a:r>
              <a:rPr lang="tr-TR" b="1" dirty="0" err="1"/>
              <a:t>Extract</a:t>
            </a:r>
            <a:r>
              <a:rPr lang="tr-TR" b="1" dirty="0"/>
              <a:t> </a:t>
            </a:r>
            <a:r>
              <a:rPr lang="tr-TR" b="1" dirty="0" err="1"/>
              <a:t>column</a:t>
            </a:r>
            <a:r>
              <a:rPr lang="tr-TR" b="1" dirty="0"/>
              <a:t> </a:t>
            </a:r>
            <a:r>
              <a:rPr lang="tr-TR" b="1" dirty="0" err="1"/>
              <a:t>names</a:t>
            </a:r>
            <a:endParaRPr lang="tr-T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8F2F4B2C-FE61-4FA3-8045-22A4CA454824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430157DC-AA3D-44C1-BC60-E2120D5014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7E1FE317-8570-4C97-849A-322043F64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170714" cy="466657"/>
          </a:xfrm>
        </p:spPr>
        <p:txBody>
          <a:bodyPr rtlCol="0">
            <a:normAutofit/>
          </a:bodyPr>
          <a:lstStyle/>
          <a:p>
            <a:r>
              <a:rPr lang="tr-TR" dirty="0"/>
              <a:t>TASK1: Data </a:t>
            </a:r>
            <a:r>
              <a:rPr lang="tr-TR" dirty="0" err="1"/>
              <a:t>Scrapping</a:t>
            </a:r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ED9A19A-C8D1-D980-2FE4-5F202964D0F1}"/>
              </a:ext>
            </a:extLst>
          </p:cNvPr>
          <p:cNvSpPr txBox="1">
            <a:spLocks/>
          </p:cNvSpPr>
          <p:nvPr/>
        </p:nvSpPr>
        <p:spPr>
          <a:xfrm>
            <a:off x="8229600" y="2002949"/>
            <a:ext cx="3569110" cy="26477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dirty="0"/>
              <a:t>Link:</a:t>
            </a:r>
          </a:p>
          <a:p>
            <a:endParaRPr lang="tr-TR" dirty="0"/>
          </a:p>
          <a:p>
            <a:r>
              <a:rPr lang="tr-TR" dirty="0"/>
              <a:t>https://github.com/Selmabanzema/Data-Science-Capston-Project-/blob/main/jupyter-labs-webscraping.ipynb</a:t>
            </a:r>
          </a:p>
        </p:txBody>
      </p:sp>
    </p:spTree>
    <p:extLst>
      <p:ext uri="{BB962C8B-B14F-4D97-AF65-F5344CB8AC3E}">
        <p14:creationId xmlns:p14="http://schemas.microsoft.com/office/powerpoint/2010/main" val="4083931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0D47-0F56-C4F7-6385-ACCD35DA5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F63C5138-EC9E-FAD2-19CB-C6434B3B8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0757" y="1734834"/>
            <a:ext cx="6423708" cy="5123166"/>
          </a:xfrm>
        </p:spPr>
        <p:txBody>
          <a:bodyPr rtlCol="0">
            <a:normAutofit/>
          </a:bodyPr>
          <a:lstStyle/>
          <a:p>
            <a:r>
              <a:rPr lang="tr-TR" b="1" dirty="0" err="1"/>
              <a:t>print</a:t>
            </a:r>
            <a:r>
              <a:rPr lang="tr-TR" b="1" dirty="0"/>
              <a:t>(</a:t>
            </a:r>
            <a:r>
              <a:rPr lang="tr-TR" b="1" dirty="0" err="1"/>
              <a:t>response.content</a:t>
            </a:r>
            <a:r>
              <a:rPr lang="tr-TR" b="1" dirty="0"/>
              <a:t>)</a:t>
            </a:r>
          </a:p>
          <a:p>
            <a:r>
              <a:rPr lang="tr-TR" dirty="0"/>
              <a:t>b'&lt;!DOCTYPE html&gt;\n&lt;!--[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lt</a:t>
            </a:r>
            <a:r>
              <a:rPr lang="tr-TR" dirty="0"/>
              <a:t> IE 7]&gt; &lt;html </a:t>
            </a:r>
            <a:r>
              <a:rPr lang="tr-TR" dirty="0" err="1"/>
              <a:t>class</a:t>
            </a:r>
            <a:r>
              <a:rPr lang="tr-TR" dirty="0"/>
              <a:t>="</a:t>
            </a:r>
            <a:r>
              <a:rPr lang="tr-TR" dirty="0" err="1"/>
              <a:t>no-js</a:t>
            </a:r>
            <a:r>
              <a:rPr lang="tr-TR" dirty="0"/>
              <a:t> ie6 </a:t>
            </a:r>
            <a:r>
              <a:rPr lang="tr-TR" dirty="0" err="1"/>
              <a:t>oldie</a:t>
            </a:r>
            <a:r>
              <a:rPr lang="tr-TR" dirty="0"/>
              <a:t>" </a:t>
            </a:r>
            <a:r>
              <a:rPr lang="tr-TR" dirty="0" err="1"/>
              <a:t>lang</a:t>
            </a:r>
            <a:r>
              <a:rPr lang="tr-TR" dirty="0"/>
              <a:t>="en-US"&gt; &lt;![</a:t>
            </a:r>
            <a:r>
              <a:rPr lang="tr-TR" dirty="0" err="1"/>
              <a:t>endif</a:t>
            </a:r>
            <a:r>
              <a:rPr lang="tr-TR" dirty="0"/>
              <a:t>]--&gt;\n&lt;!--[</a:t>
            </a:r>
            <a:r>
              <a:rPr lang="tr-TR" dirty="0" err="1"/>
              <a:t>if</a:t>
            </a:r>
            <a:r>
              <a:rPr lang="tr-TR" dirty="0"/>
              <a:t> IE 7]&gt;    &lt;html </a:t>
            </a:r>
            <a:r>
              <a:rPr lang="tr-TR" dirty="0" err="1"/>
              <a:t>class</a:t>
            </a:r>
            <a:r>
              <a:rPr lang="tr-TR" dirty="0"/>
              <a:t>="</a:t>
            </a:r>
            <a:r>
              <a:rPr lang="tr-TR" dirty="0" err="1"/>
              <a:t>no-js</a:t>
            </a:r>
            <a:r>
              <a:rPr lang="tr-TR" dirty="0"/>
              <a:t> ie7 </a:t>
            </a:r>
            <a:r>
              <a:rPr lang="tr-TR" dirty="0" err="1"/>
              <a:t>oldie</a:t>
            </a:r>
            <a:r>
              <a:rPr lang="tr-TR" dirty="0"/>
              <a:t>" </a:t>
            </a:r>
            <a:r>
              <a:rPr lang="tr-TR" dirty="0" err="1"/>
              <a:t>lang</a:t>
            </a:r>
            <a:r>
              <a:rPr lang="tr-TR" dirty="0"/>
              <a:t>="en-US"&gt; &lt;![</a:t>
            </a:r>
            <a:r>
              <a:rPr lang="tr-TR" dirty="0" err="1"/>
              <a:t>endif</a:t>
            </a:r>
            <a:r>
              <a:rPr lang="tr-TR" dirty="0"/>
              <a:t>]--&gt;\n&lt;!--[</a:t>
            </a:r>
            <a:r>
              <a:rPr lang="tr-TR" dirty="0" err="1"/>
              <a:t>if</a:t>
            </a:r>
            <a:r>
              <a:rPr lang="tr-TR" dirty="0"/>
              <a:t> IE 8]&gt;    &lt;html </a:t>
            </a:r>
            <a:r>
              <a:rPr lang="tr-TR" dirty="0" err="1"/>
              <a:t>class</a:t>
            </a:r>
            <a:r>
              <a:rPr lang="tr-TR" dirty="0"/>
              <a:t>="</a:t>
            </a:r>
            <a:r>
              <a:rPr lang="tr-TR" dirty="0" err="1"/>
              <a:t>no-js</a:t>
            </a:r>
            <a:r>
              <a:rPr lang="tr-TR" dirty="0"/>
              <a:t> ie8 </a:t>
            </a:r>
            <a:r>
              <a:rPr lang="tr-TR" dirty="0" err="1"/>
              <a:t>oldie</a:t>
            </a:r>
            <a:r>
              <a:rPr lang="tr-TR" dirty="0"/>
              <a:t>" </a:t>
            </a:r>
            <a:r>
              <a:rPr lang="tr-TR" dirty="0" err="1"/>
              <a:t>lang</a:t>
            </a:r>
            <a:r>
              <a:rPr lang="tr-TR" dirty="0"/>
              <a:t>="en-US"&gt;…….</a:t>
            </a:r>
          </a:p>
          <a:p>
            <a:endParaRPr lang="tr-TR" b="1" dirty="0"/>
          </a:p>
          <a:p>
            <a:r>
              <a:rPr lang="tr-TR" b="1" dirty="0" err="1"/>
              <a:t>response.status_code</a:t>
            </a:r>
            <a:r>
              <a:rPr lang="tr-TR" b="1" dirty="0"/>
              <a:t> </a:t>
            </a:r>
          </a:p>
          <a:p>
            <a:r>
              <a:rPr lang="tr-TR" dirty="0"/>
              <a:t>20</a:t>
            </a:r>
            <a:r>
              <a:rPr lang="tr-TR" b="1" dirty="0"/>
              <a:t> </a:t>
            </a:r>
          </a:p>
          <a:p>
            <a:r>
              <a:rPr lang="tr-TR" b="1" dirty="0" err="1"/>
              <a:t>Print</a:t>
            </a:r>
            <a:r>
              <a:rPr lang="tr-TR" b="1" dirty="0"/>
              <a:t> </a:t>
            </a:r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page</a:t>
            </a:r>
            <a:r>
              <a:rPr lang="tr-TR" b="1" dirty="0"/>
              <a:t> </a:t>
            </a:r>
            <a:r>
              <a:rPr lang="tr-TR" b="1" dirty="0" err="1"/>
              <a:t>title</a:t>
            </a:r>
            <a:r>
              <a:rPr lang="tr-TR" b="1" dirty="0"/>
              <a:t> </a:t>
            </a:r>
            <a:r>
              <a:rPr lang="tr-TR" b="1" dirty="0" err="1"/>
              <a:t>to</a:t>
            </a:r>
            <a:r>
              <a:rPr lang="tr-TR" b="1" dirty="0"/>
              <a:t> </a:t>
            </a:r>
            <a:r>
              <a:rPr lang="tr-TR" b="1" dirty="0" err="1"/>
              <a:t>verify</a:t>
            </a:r>
            <a:r>
              <a:rPr lang="tr-TR" b="1" dirty="0"/>
              <a:t> </a:t>
            </a:r>
            <a:r>
              <a:rPr lang="tr-TR" b="1" dirty="0" err="1"/>
              <a:t>if</a:t>
            </a:r>
            <a:r>
              <a:rPr lang="tr-TR" b="1" dirty="0"/>
              <a:t> </a:t>
            </a:r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BeautifulSoup</a:t>
            </a:r>
            <a:r>
              <a:rPr lang="tr-TR" b="1" dirty="0"/>
              <a:t> </a:t>
            </a:r>
            <a:r>
              <a:rPr lang="tr-TR" b="1" dirty="0" err="1"/>
              <a:t>object</a:t>
            </a:r>
            <a:r>
              <a:rPr lang="tr-TR" b="1" dirty="0"/>
              <a:t> </a:t>
            </a:r>
            <a:r>
              <a:rPr lang="tr-TR" b="1" dirty="0" err="1"/>
              <a:t>was</a:t>
            </a:r>
            <a:r>
              <a:rPr lang="tr-TR" b="1" dirty="0"/>
              <a:t> </a:t>
            </a:r>
            <a:r>
              <a:rPr lang="tr-TR" b="1" dirty="0" err="1"/>
              <a:t>created</a:t>
            </a:r>
            <a:r>
              <a:rPr lang="tr-TR" b="1" dirty="0"/>
              <a:t> </a:t>
            </a:r>
            <a:r>
              <a:rPr lang="tr-TR" b="1" dirty="0" err="1"/>
              <a:t>properly</a:t>
            </a:r>
            <a:endParaRPr lang="tr-TR" b="1" dirty="0"/>
          </a:p>
          <a:p>
            <a:pPr fontAlgn="base" latinLnBrk="1"/>
            <a:r>
              <a:rPr lang="tr-TR" dirty="0"/>
              <a:t>&lt;</a:t>
            </a:r>
            <a:r>
              <a:rPr lang="tr-TR" dirty="0" err="1"/>
              <a:t>title</a:t>
            </a:r>
            <a:r>
              <a:rPr lang="tr-TR" dirty="0"/>
              <a:t>&gt;</a:t>
            </a:r>
            <a:r>
              <a:rPr lang="tr-TR" dirty="0" err="1"/>
              <a:t>List</a:t>
            </a:r>
            <a:r>
              <a:rPr lang="tr-TR" dirty="0"/>
              <a:t> of Falcon 9 </a:t>
            </a:r>
            <a:r>
              <a:rPr lang="tr-TR" dirty="0" err="1"/>
              <a:t>and</a:t>
            </a:r>
            <a:r>
              <a:rPr lang="tr-TR" dirty="0"/>
              <a:t> Falcon </a:t>
            </a:r>
            <a:r>
              <a:rPr lang="tr-TR" dirty="0" err="1"/>
              <a:t>Heavy</a:t>
            </a:r>
            <a:r>
              <a:rPr lang="tr-TR" dirty="0"/>
              <a:t> </a:t>
            </a:r>
            <a:r>
              <a:rPr lang="tr-TR" dirty="0" err="1"/>
              <a:t>launches</a:t>
            </a:r>
            <a:r>
              <a:rPr lang="tr-TR" dirty="0"/>
              <a:t> - Wikipedia&lt;/</a:t>
            </a:r>
            <a:r>
              <a:rPr lang="tr-TR" dirty="0" err="1"/>
              <a:t>title</a:t>
            </a:r>
            <a:r>
              <a:rPr lang="tr-TR" dirty="0"/>
              <a:t>&gt;</a:t>
            </a:r>
          </a:p>
          <a:p>
            <a:br>
              <a:rPr lang="tr-TR" b="1" dirty="0"/>
            </a:br>
            <a:r>
              <a:rPr lang="tr-TR" b="1" dirty="0" err="1"/>
              <a:t>print</a:t>
            </a:r>
            <a:r>
              <a:rPr lang="tr-TR" b="1" dirty="0"/>
              <a:t>(</a:t>
            </a:r>
            <a:r>
              <a:rPr lang="tr-TR" b="1" dirty="0" err="1"/>
              <a:t>column_names</a:t>
            </a:r>
            <a:r>
              <a:rPr lang="tr-TR" b="1" dirty="0"/>
              <a:t>)</a:t>
            </a:r>
          </a:p>
          <a:p>
            <a:pPr fontAlgn="base" latinLnBrk="1"/>
            <a:r>
              <a:rPr lang="tr-TR" dirty="0"/>
              <a:t>['Flight No.', '</a:t>
            </a:r>
            <a:r>
              <a:rPr lang="tr-TR" dirty="0" err="1"/>
              <a:t>Date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time ( )', '</a:t>
            </a:r>
            <a:r>
              <a:rPr lang="tr-TR" dirty="0" err="1"/>
              <a:t>Launch</a:t>
            </a:r>
            <a:r>
              <a:rPr lang="tr-TR" dirty="0"/>
              <a:t> site', '</a:t>
            </a:r>
            <a:r>
              <a:rPr lang="tr-TR" dirty="0" err="1"/>
              <a:t>Payload</a:t>
            </a:r>
            <a:r>
              <a:rPr lang="tr-TR" dirty="0"/>
              <a:t>', '</a:t>
            </a:r>
            <a:r>
              <a:rPr lang="tr-TR" dirty="0" err="1"/>
              <a:t>Payload</a:t>
            </a:r>
            <a:r>
              <a:rPr lang="tr-TR" dirty="0"/>
              <a:t> </a:t>
            </a:r>
            <a:r>
              <a:rPr lang="tr-TR" dirty="0" err="1"/>
              <a:t>mass</a:t>
            </a:r>
            <a:r>
              <a:rPr lang="tr-TR" dirty="0"/>
              <a:t>', 'Orbit', '</a:t>
            </a:r>
            <a:r>
              <a:rPr lang="tr-TR" dirty="0" err="1"/>
              <a:t>Customer</a:t>
            </a:r>
            <a:r>
              <a:rPr lang="tr-TR" dirty="0"/>
              <a:t>', '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outcome</a:t>
            </a:r>
            <a:r>
              <a:rPr lang="tr-TR" dirty="0"/>
              <a:t>’]</a:t>
            </a:r>
          </a:p>
          <a:p>
            <a:pPr fontAlgn="base" latinLnBrk="1"/>
            <a:endParaRPr lang="tr-TR" dirty="0"/>
          </a:p>
          <a:p>
            <a:br>
              <a:rPr lang="tr-TR" dirty="0"/>
            </a:br>
            <a:endParaRPr lang="tr-TR" b="1" dirty="0"/>
          </a:p>
          <a:p>
            <a:endParaRPr lang="tr-TR" b="1" dirty="0"/>
          </a:p>
          <a:p>
            <a:endParaRPr lang="tr-TR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B27E98E5-7334-E4DB-E1BD-61E26FCF01BF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4DA6CDE8-AAAE-ED54-EB1B-25DD2AB7A495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4B37F15B-8EDE-8C1B-197B-D8D3371072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D85D30E7-F05B-7505-52F7-D97F95B0C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170714" cy="466657"/>
          </a:xfrm>
        </p:spPr>
        <p:txBody>
          <a:bodyPr rtlCol="0">
            <a:normAutofit/>
          </a:bodyPr>
          <a:lstStyle/>
          <a:p>
            <a:r>
              <a:rPr lang="tr-TR" dirty="0"/>
              <a:t>TASK1: Data </a:t>
            </a:r>
            <a:r>
              <a:rPr lang="tr-TR" dirty="0" err="1"/>
              <a:t>Scrapping</a:t>
            </a:r>
            <a:r>
              <a:rPr lang="tr-TR" dirty="0"/>
              <a:t> </a:t>
            </a:r>
            <a:r>
              <a:rPr lang="tr-TR" dirty="0" err="1"/>
              <a:t>Outputs</a:t>
            </a:r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481905F-1F61-974C-42B8-8B802FB54CBB}"/>
              </a:ext>
            </a:extLst>
          </p:cNvPr>
          <p:cNvSpPr txBox="1">
            <a:spLocks/>
          </p:cNvSpPr>
          <p:nvPr/>
        </p:nvSpPr>
        <p:spPr>
          <a:xfrm>
            <a:off x="8229600" y="2002949"/>
            <a:ext cx="3569110" cy="26477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dirty="0"/>
              <a:t>Link:</a:t>
            </a:r>
          </a:p>
          <a:p>
            <a:endParaRPr lang="tr-TR" dirty="0"/>
          </a:p>
          <a:p>
            <a:r>
              <a:rPr lang="tr-TR" dirty="0"/>
              <a:t>https://github.com/Selmabanzema/Data-Science-Capston-Project-/blob/main/jupyter-labs-webscraping.ipynb</a:t>
            </a:r>
          </a:p>
        </p:txBody>
      </p:sp>
    </p:spTree>
    <p:extLst>
      <p:ext uri="{BB962C8B-B14F-4D97-AF65-F5344CB8AC3E}">
        <p14:creationId xmlns:p14="http://schemas.microsoft.com/office/powerpoint/2010/main" val="2329672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E2028-360C-54DA-7C86-930E709F3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E7D9C57E-BD73-A6F5-23D8-0B39A0DC9F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0757" y="1734834"/>
            <a:ext cx="5912430" cy="5123166"/>
          </a:xfrm>
        </p:spPr>
        <p:txBody>
          <a:bodyPr rtlCol="0">
            <a:normAutofit lnSpcReduction="10000"/>
          </a:bodyPr>
          <a:lstStyle/>
          <a:p>
            <a:r>
              <a:rPr lang="tr-TR" b="1" dirty="0"/>
              <a:t>Web </a:t>
            </a:r>
            <a:r>
              <a:rPr lang="tr-TR" b="1" dirty="0" err="1"/>
              <a:t>Scraping</a:t>
            </a:r>
            <a:r>
              <a:rPr lang="tr-TR" b="1" dirty="0"/>
              <a:t> — Falcon 9 </a:t>
            </a:r>
            <a:r>
              <a:rPr lang="tr-TR" b="1" dirty="0" err="1"/>
              <a:t>Launch</a:t>
            </a:r>
            <a:r>
              <a:rPr lang="tr-TR" b="1" dirty="0"/>
              <a:t> Data</a:t>
            </a:r>
          </a:p>
          <a:p>
            <a:pPr lvl="0"/>
            <a:r>
              <a:rPr lang="tr-TR" b="1" dirty="0" err="1"/>
              <a:t>Send</a:t>
            </a:r>
            <a:r>
              <a:rPr lang="tr-TR" b="1" dirty="0"/>
              <a:t> an HTTP </a:t>
            </a:r>
            <a:r>
              <a:rPr lang="tr-TR" b="1" dirty="0" err="1"/>
              <a:t>request</a:t>
            </a:r>
            <a:br>
              <a:rPr lang="tr-TR" dirty="0"/>
            </a:b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dirty="0" err="1"/>
              <a:t>requests.get</a:t>
            </a:r>
            <a:r>
              <a:rPr lang="tr-TR" dirty="0"/>
              <a:t>()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download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Wikipedia </a:t>
            </a:r>
            <a:r>
              <a:rPr lang="tr-TR" dirty="0" err="1"/>
              <a:t>page</a:t>
            </a:r>
            <a:r>
              <a:rPr lang="tr-TR" dirty="0"/>
              <a:t> </a:t>
            </a:r>
            <a:r>
              <a:rPr lang="tr-TR" dirty="0" err="1"/>
              <a:t>containing</a:t>
            </a:r>
            <a:r>
              <a:rPr lang="tr-TR" dirty="0"/>
              <a:t> Falcon 9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information</a:t>
            </a:r>
            <a:r>
              <a:rPr lang="tr-TR" dirty="0"/>
              <a:t>.</a:t>
            </a:r>
          </a:p>
          <a:p>
            <a:pPr lvl="0"/>
            <a:r>
              <a:rPr lang="tr-TR" b="1" dirty="0" err="1"/>
              <a:t>Create</a:t>
            </a:r>
            <a:r>
              <a:rPr lang="tr-TR" b="1" dirty="0"/>
              <a:t> a </a:t>
            </a:r>
            <a:r>
              <a:rPr lang="tr-TR" b="1" dirty="0" err="1"/>
              <a:t>BeautifulSoup</a:t>
            </a:r>
            <a:r>
              <a:rPr lang="tr-TR" b="1" dirty="0"/>
              <a:t> </a:t>
            </a:r>
            <a:r>
              <a:rPr lang="tr-TR" b="1" dirty="0" err="1"/>
              <a:t>object</a:t>
            </a:r>
            <a:br>
              <a:rPr lang="tr-TR" dirty="0"/>
            </a:b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dirty="0" err="1"/>
              <a:t>BeautifulSoup</a:t>
            </a:r>
            <a:r>
              <a:rPr lang="tr-TR" dirty="0"/>
              <a:t>(</a:t>
            </a:r>
            <a:r>
              <a:rPr lang="tr-TR" dirty="0" err="1"/>
              <a:t>response.text</a:t>
            </a:r>
            <a:r>
              <a:rPr lang="tr-TR" dirty="0"/>
              <a:t>, "</a:t>
            </a:r>
            <a:r>
              <a:rPr lang="tr-TR" dirty="0" err="1"/>
              <a:t>html.parser</a:t>
            </a:r>
            <a:r>
              <a:rPr lang="tr-TR" dirty="0"/>
              <a:t>")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parse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HTML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make</a:t>
            </a:r>
            <a:r>
              <a:rPr lang="tr-TR" dirty="0"/>
              <a:t> it </a:t>
            </a:r>
            <a:r>
              <a:rPr lang="tr-TR" dirty="0" err="1"/>
              <a:t>easier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work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.</a:t>
            </a:r>
          </a:p>
          <a:p>
            <a:pPr lvl="0"/>
            <a:r>
              <a:rPr lang="tr-TR" b="1" dirty="0" err="1"/>
              <a:t>Find</a:t>
            </a:r>
            <a:r>
              <a:rPr lang="tr-TR" b="1" dirty="0"/>
              <a:t> </a:t>
            </a:r>
            <a:r>
              <a:rPr lang="tr-TR" b="1" dirty="0" err="1"/>
              <a:t>all</a:t>
            </a:r>
            <a:r>
              <a:rPr lang="tr-TR" b="1" dirty="0"/>
              <a:t> </a:t>
            </a:r>
            <a:r>
              <a:rPr lang="tr-TR" b="1" dirty="0" err="1"/>
              <a:t>tables</a:t>
            </a:r>
            <a:br>
              <a:rPr lang="tr-TR" dirty="0"/>
            </a:b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:</a:t>
            </a:r>
          </a:p>
          <a:p>
            <a:pPr lvl="0"/>
            <a:r>
              <a:rPr lang="tr-TR" dirty="0" err="1"/>
              <a:t>html_tables</a:t>
            </a:r>
            <a:r>
              <a:rPr lang="tr-TR" dirty="0"/>
              <a:t> = </a:t>
            </a:r>
            <a:r>
              <a:rPr lang="tr-TR" dirty="0" err="1"/>
              <a:t>soup.find_all</a:t>
            </a:r>
            <a:r>
              <a:rPr lang="tr-TR" dirty="0"/>
              <a:t>("</a:t>
            </a:r>
            <a:r>
              <a:rPr lang="tr-TR" dirty="0" err="1"/>
              <a:t>table</a:t>
            </a:r>
            <a:r>
              <a:rPr lang="tr-TR" dirty="0"/>
              <a:t>")</a:t>
            </a:r>
          </a:p>
          <a:p>
            <a:pPr lvl="0"/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finds</a:t>
            </a:r>
            <a:r>
              <a:rPr lang="tr-TR" dirty="0"/>
              <a:t> </a:t>
            </a:r>
            <a:r>
              <a:rPr lang="tr-TR" dirty="0" err="1"/>
              <a:t>all</a:t>
            </a:r>
            <a:r>
              <a:rPr lang="tr-TR" dirty="0"/>
              <a:t> &lt;</a:t>
            </a:r>
            <a:r>
              <a:rPr lang="tr-TR" dirty="0" err="1"/>
              <a:t>table</a:t>
            </a:r>
            <a:r>
              <a:rPr lang="tr-TR" dirty="0"/>
              <a:t>&gt; </a:t>
            </a:r>
            <a:r>
              <a:rPr lang="tr-TR" dirty="0" err="1"/>
              <a:t>elements</a:t>
            </a:r>
            <a:r>
              <a:rPr lang="tr-TR" dirty="0"/>
              <a:t> on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webpage</a:t>
            </a:r>
            <a:r>
              <a:rPr lang="tr-TR" dirty="0"/>
              <a:t>.</a:t>
            </a:r>
          </a:p>
          <a:p>
            <a:pPr lvl="0"/>
            <a:r>
              <a:rPr lang="tr-TR" b="1" dirty="0" err="1"/>
              <a:t>Find</a:t>
            </a:r>
            <a:r>
              <a:rPr lang="tr-TR" b="1" dirty="0"/>
              <a:t> </a:t>
            </a:r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launch</a:t>
            </a:r>
            <a:r>
              <a:rPr lang="tr-TR" b="1" dirty="0"/>
              <a:t> </a:t>
            </a:r>
            <a:r>
              <a:rPr lang="tr-TR" b="1" dirty="0" err="1"/>
              <a:t>table</a:t>
            </a:r>
            <a:br>
              <a:rPr lang="tr-TR" dirty="0"/>
            </a:b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selected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table</a:t>
            </a:r>
            <a:r>
              <a:rPr lang="tr-TR" dirty="0"/>
              <a:t> </a:t>
            </a:r>
            <a:r>
              <a:rPr lang="tr-TR" dirty="0" err="1"/>
              <a:t>containing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Falcon 9 </a:t>
            </a:r>
            <a:r>
              <a:rPr lang="tr-TR" dirty="0" err="1"/>
              <a:t>launch</a:t>
            </a:r>
            <a:r>
              <a:rPr lang="tr-TR" dirty="0"/>
              <a:t> data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stored</a:t>
            </a:r>
            <a:r>
              <a:rPr lang="tr-TR" dirty="0"/>
              <a:t> it in </a:t>
            </a:r>
            <a:r>
              <a:rPr lang="tr-TR" dirty="0" err="1"/>
              <a:t>first_launch_table</a:t>
            </a:r>
            <a:r>
              <a:rPr lang="tr-TR" dirty="0"/>
              <a:t>.</a:t>
            </a:r>
          </a:p>
          <a:p>
            <a:pPr lvl="0"/>
            <a:r>
              <a:rPr lang="tr-TR" b="1" dirty="0" err="1"/>
              <a:t>Extract</a:t>
            </a:r>
            <a:r>
              <a:rPr lang="tr-TR" b="1" dirty="0"/>
              <a:t> </a:t>
            </a:r>
            <a:r>
              <a:rPr lang="tr-TR" b="1" dirty="0" err="1"/>
              <a:t>column</a:t>
            </a:r>
            <a:r>
              <a:rPr lang="tr-TR" b="1" dirty="0"/>
              <a:t> </a:t>
            </a:r>
            <a:r>
              <a:rPr lang="tr-TR" b="1" dirty="0" err="1"/>
              <a:t>names</a:t>
            </a:r>
            <a:br>
              <a:rPr lang="tr-TR" dirty="0"/>
            </a:b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searched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&lt;</a:t>
            </a:r>
            <a:r>
              <a:rPr lang="tr-TR" dirty="0" err="1"/>
              <a:t>th</a:t>
            </a:r>
            <a:r>
              <a:rPr lang="tr-TR" dirty="0"/>
              <a:t>&gt; </a:t>
            </a:r>
            <a:r>
              <a:rPr lang="tr-TR" dirty="0" err="1"/>
              <a:t>elements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dirty="0" err="1"/>
              <a:t>find_all</a:t>
            </a:r>
            <a:r>
              <a:rPr lang="tr-TR" dirty="0"/>
              <a:t>("</a:t>
            </a:r>
            <a:r>
              <a:rPr lang="tr-TR" dirty="0" err="1"/>
              <a:t>th</a:t>
            </a:r>
            <a:r>
              <a:rPr lang="tr-TR" dirty="0"/>
              <a:t>"), </a:t>
            </a:r>
            <a:r>
              <a:rPr lang="tr-TR" dirty="0" err="1"/>
              <a:t>then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dirty="0" err="1"/>
              <a:t>extract_column_from_header</a:t>
            </a:r>
            <a:r>
              <a:rPr lang="tr-TR" dirty="0"/>
              <a:t>()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get</a:t>
            </a:r>
            <a:r>
              <a:rPr lang="tr-TR" dirty="0"/>
              <a:t> </a:t>
            </a:r>
            <a:r>
              <a:rPr lang="tr-TR" dirty="0" err="1"/>
              <a:t>each</a:t>
            </a:r>
            <a:r>
              <a:rPr lang="tr-TR" dirty="0"/>
              <a:t> </a:t>
            </a:r>
            <a:r>
              <a:rPr lang="tr-TR" dirty="0" err="1"/>
              <a:t>column</a:t>
            </a:r>
            <a:r>
              <a:rPr lang="tr-TR" dirty="0"/>
              <a:t> name.</a:t>
            </a:r>
          </a:p>
          <a:p>
            <a:pPr lvl="0"/>
            <a:r>
              <a:rPr lang="tr-TR" b="1" dirty="0" err="1"/>
              <a:t>Store</a:t>
            </a:r>
            <a:r>
              <a:rPr lang="tr-TR" b="1" dirty="0"/>
              <a:t> </a:t>
            </a:r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column</a:t>
            </a:r>
            <a:r>
              <a:rPr lang="tr-TR" b="1" dirty="0"/>
              <a:t> </a:t>
            </a:r>
            <a:r>
              <a:rPr lang="tr-TR" b="1" dirty="0" err="1"/>
              <a:t>names</a:t>
            </a:r>
            <a:br>
              <a:rPr lang="tr-TR" dirty="0"/>
            </a:b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added</a:t>
            </a:r>
            <a:r>
              <a:rPr lang="tr-TR" dirty="0"/>
              <a:t> </a:t>
            </a:r>
            <a:r>
              <a:rPr lang="tr-TR" dirty="0" err="1"/>
              <a:t>only</a:t>
            </a:r>
            <a:r>
              <a:rPr lang="tr-TR" dirty="0"/>
              <a:t> </a:t>
            </a:r>
            <a:r>
              <a:rPr lang="tr-TR" dirty="0" err="1"/>
              <a:t>non-empty</a:t>
            </a:r>
            <a:r>
              <a:rPr lang="tr-TR" dirty="0"/>
              <a:t> </a:t>
            </a:r>
            <a:r>
              <a:rPr lang="tr-TR" dirty="0" err="1"/>
              <a:t>column</a:t>
            </a:r>
            <a:r>
              <a:rPr lang="tr-TR" dirty="0"/>
              <a:t> </a:t>
            </a:r>
            <a:r>
              <a:rPr lang="tr-TR" dirty="0" err="1"/>
              <a:t>names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column_names</a:t>
            </a:r>
            <a:r>
              <a:rPr lang="tr-TR" dirty="0"/>
              <a:t> </a:t>
            </a:r>
            <a:r>
              <a:rPr lang="tr-TR" dirty="0" err="1"/>
              <a:t>list</a:t>
            </a:r>
            <a:r>
              <a:rPr lang="tr-TR" dirty="0"/>
              <a:t>.</a:t>
            </a:r>
          </a:p>
          <a:p>
            <a:r>
              <a:rPr lang="tr-TR" b="1" dirty="0" err="1"/>
              <a:t>In</a:t>
            </a:r>
            <a:r>
              <a:rPr lang="tr-TR" b="1" dirty="0"/>
              <a:t> </a:t>
            </a:r>
            <a:r>
              <a:rPr lang="tr-TR" b="1" dirty="0" err="1"/>
              <a:t>simple</a:t>
            </a:r>
            <a:r>
              <a:rPr lang="tr-TR" b="1" dirty="0"/>
              <a:t> </a:t>
            </a:r>
            <a:r>
              <a:rPr lang="tr-TR" b="1" dirty="0" err="1"/>
              <a:t>terms</a:t>
            </a:r>
            <a:r>
              <a:rPr lang="tr-TR" b="1" dirty="0"/>
              <a:t>:</a:t>
            </a:r>
          </a:p>
          <a:p>
            <a:r>
              <a:rPr lang="tr-TR" b="1" dirty="0" err="1"/>
              <a:t>Website</a:t>
            </a:r>
            <a:r>
              <a:rPr lang="tr-TR" b="1" dirty="0"/>
              <a:t> → </a:t>
            </a:r>
            <a:r>
              <a:rPr lang="tr-TR" b="1" dirty="0" err="1"/>
              <a:t>Request</a:t>
            </a:r>
            <a:r>
              <a:rPr lang="tr-TR" b="1" dirty="0"/>
              <a:t> HTML → </a:t>
            </a:r>
            <a:r>
              <a:rPr lang="tr-TR" b="1" dirty="0" err="1"/>
              <a:t>BeautifulSoup</a:t>
            </a:r>
            <a:r>
              <a:rPr lang="tr-TR" b="1" dirty="0"/>
              <a:t> → </a:t>
            </a:r>
            <a:r>
              <a:rPr lang="tr-TR" b="1" dirty="0" err="1"/>
              <a:t>Find</a:t>
            </a:r>
            <a:r>
              <a:rPr lang="tr-TR" b="1" dirty="0"/>
              <a:t> </a:t>
            </a:r>
            <a:r>
              <a:rPr lang="tr-TR" b="1" dirty="0" err="1"/>
              <a:t>tables</a:t>
            </a:r>
            <a:r>
              <a:rPr lang="tr-TR" b="1" dirty="0"/>
              <a:t> → </a:t>
            </a:r>
            <a:r>
              <a:rPr lang="tr-TR" b="1" dirty="0" err="1"/>
              <a:t>Find</a:t>
            </a:r>
            <a:r>
              <a:rPr lang="tr-TR" b="1" dirty="0"/>
              <a:t> </a:t>
            </a:r>
            <a:r>
              <a:rPr lang="tr-TR" b="1" dirty="0" err="1"/>
              <a:t>launch</a:t>
            </a:r>
            <a:r>
              <a:rPr lang="tr-TR" b="1" dirty="0"/>
              <a:t> </a:t>
            </a:r>
            <a:r>
              <a:rPr lang="tr-TR" b="1" dirty="0" err="1"/>
              <a:t>table</a:t>
            </a:r>
            <a:r>
              <a:rPr lang="tr-TR" b="1" dirty="0"/>
              <a:t> → </a:t>
            </a:r>
            <a:r>
              <a:rPr lang="tr-TR" b="1" dirty="0" err="1"/>
              <a:t>Extract</a:t>
            </a:r>
            <a:r>
              <a:rPr lang="tr-TR" b="1" dirty="0"/>
              <a:t> </a:t>
            </a:r>
            <a:r>
              <a:rPr lang="tr-TR" b="1" dirty="0" err="1"/>
              <a:t>column</a:t>
            </a:r>
            <a:r>
              <a:rPr lang="tr-TR" b="1" dirty="0"/>
              <a:t> </a:t>
            </a:r>
            <a:r>
              <a:rPr lang="tr-TR" b="1" dirty="0" err="1"/>
              <a:t>names</a:t>
            </a:r>
            <a:endParaRPr lang="tr-T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EFDB61F7-75D4-AB5F-3BA8-2BE6138AFB45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87408103-1993-C06C-6290-6931B3443107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BAAACE86-BF95-05F1-0D21-73200CE16F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82FA694F-3E86-E567-F8DE-8F81748B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170714" cy="466657"/>
          </a:xfrm>
        </p:spPr>
        <p:txBody>
          <a:bodyPr rtlCol="0">
            <a:normAutofit/>
          </a:bodyPr>
          <a:lstStyle/>
          <a:p>
            <a:r>
              <a:rPr lang="tr-TR" dirty="0"/>
              <a:t>TASK1: Data </a:t>
            </a:r>
            <a:r>
              <a:rPr lang="tr-TR" dirty="0" err="1"/>
              <a:t>Scrapping</a:t>
            </a:r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E317F73-A7D2-3255-8C52-B6D2A0F6B43F}"/>
              </a:ext>
            </a:extLst>
          </p:cNvPr>
          <p:cNvSpPr txBox="1">
            <a:spLocks/>
          </p:cNvSpPr>
          <p:nvPr/>
        </p:nvSpPr>
        <p:spPr>
          <a:xfrm>
            <a:off x="8229600" y="2002949"/>
            <a:ext cx="3569110" cy="26477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dirty="0"/>
              <a:t>Link:</a:t>
            </a:r>
          </a:p>
          <a:p>
            <a:endParaRPr lang="tr-TR" dirty="0"/>
          </a:p>
          <a:p>
            <a:r>
              <a:rPr lang="tr-TR" dirty="0"/>
              <a:t>https://github.com/Selmabanzema/Data-Science-Capston-Project-/blob/main/jupyter-labs-webscraping.ipynb</a:t>
            </a:r>
          </a:p>
        </p:txBody>
      </p:sp>
    </p:spTree>
    <p:extLst>
      <p:ext uri="{BB962C8B-B14F-4D97-AF65-F5344CB8AC3E}">
        <p14:creationId xmlns:p14="http://schemas.microsoft.com/office/powerpoint/2010/main" val="80309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7FBA1-7039-2ABC-D9E7-1812356BB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65131738-825C-9C43-8F2A-41660B884E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0757" y="1734834"/>
            <a:ext cx="5912430" cy="1863772"/>
          </a:xfrm>
        </p:spPr>
        <p:txBody>
          <a:bodyPr rtlCol="0">
            <a:normAutofit/>
          </a:bodyPr>
          <a:lstStyle/>
          <a:p>
            <a:r>
              <a:rPr lang="tr-TR" dirty="0" err="1"/>
              <a:t>In</a:t>
            </a:r>
            <a:r>
              <a:rPr lang="tr-TR" dirty="0"/>
              <a:t>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exercise</a:t>
            </a:r>
            <a:r>
              <a:rPr lang="tr-TR" dirty="0"/>
              <a:t>,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data-</a:t>
            </a:r>
            <a:r>
              <a:rPr lang="tr-TR" dirty="0" err="1"/>
              <a:t>wrangling</a:t>
            </a:r>
            <a:r>
              <a:rPr lang="tr-TR" dirty="0"/>
              <a:t> </a:t>
            </a:r>
            <a:r>
              <a:rPr lang="tr-TR" dirty="0" err="1"/>
              <a:t>techniques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analyze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data.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.</a:t>
            </a:r>
            <a:r>
              <a:rPr lang="tr-TR" dirty="0" err="1"/>
              <a:t>value_counts</a:t>
            </a:r>
            <a:r>
              <a:rPr lang="tr-TR" dirty="0"/>
              <a:t>() </a:t>
            </a:r>
            <a:r>
              <a:rPr lang="tr-TR" dirty="0" err="1"/>
              <a:t>method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determine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number</a:t>
            </a:r>
            <a:r>
              <a:rPr lang="tr-TR" dirty="0"/>
              <a:t> of </a:t>
            </a:r>
            <a:r>
              <a:rPr lang="tr-TR" dirty="0" err="1"/>
              <a:t>launches</a:t>
            </a:r>
            <a:r>
              <a:rPr lang="tr-TR" dirty="0"/>
              <a:t> at </a:t>
            </a:r>
            <a:r>
              <a:rPr lang="tr-TR" dirty="0" err="1"/>
              <a:t>each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site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number</a:t>
            </a:r>
            <a:r>
              <a:rPr lang="tr-TR" dirty="0"/>
              <a:t> of </a:t>
            </a:r>
            <a:r>
              <a:rPr lang="tr-TR" dirty="0" err="1"/>
              <a:t>launches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each</a:t>
            </a:r>
            <a:r>
              <a:rPr lang="tr-TR" dirty="0"/>
              <a:t> orbit, </a:t>
            </a:r>
            <a:r>
              <a:rPr lang="tr-TR" dirty="0" err="1"/>
              <a:t>while</a:t>
            </a:r>
            <a:r>
              <a:rPr lang="tr-TR" dirty="0"/>
              <a:t> </a:t>
            </a:r>
            <a:r>
              <a:rPr lang="tr-TR" dirty="0" err="1"/>
              <a:t>excluding</a:t>
            </a:r>
            <a:r>
              <a:rPr lang="tr-TR" dirty="0"/>
              <a:t> GTO </a:t>
            </a:r>
            <a:r>
              <a:rPr lang="tr-TR" dirty="0" err="1"/>
              <a:t>because</a:t>
            </a:r>
            <a:r>
              <a:rPr lang="tr-TR" dirty="0"/>
              <a:t> it is a transfer orbit.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also</a:t>
            </a:r>
            <a:r>
              <a:rPr lang="tr-TR" dirty="0"/>
              <a:t> </a:t>
            </a:r>
            <a:r>
              <a:rPr lang="tr-TR" dirty="0" err="1"/>
              <a:t>counted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different</a:t>
            </a:r>
            <a:r>
              <a:rPr lang="tr-TR" dirty="0"/>
              <a:t> </a:t>
            </a:r>
            <a:r>
              <a:rPr lang="tr-TR" dirty="0" err="1"/>
              <a:t>mission</a:t>
            </a:r>
            <a:r>
              <a:rPr lang="tr-TR" dirty="0"/>
              <a:t> </a:t>
            </a:r>
            <a:r>
              <a:rPr lang="tr-TR" dirty="0" err="1"/>
              <a:t>outcomes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assigned</a:t>
            </a:r>
            <a:r>
              <a:rPr lang="tr-TR" dirty="0"/>
              <a:t> </a:t>
            </a:r>
            <a:r>
              <a:rPr lang="tr-TR" dirty="0" err="1"/>
              <a:t>them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landing_outcomes</a:t>
            </a:r>
            <a:r>
              <a:rPr lang="tr-TR" dirty="0"/>
              <a:t> </a:t>
            </a:r>
            <a:r>
              <a:rPr lang="tr-TR" dirty="0" err="1"/>
              <a:t>variable</a:t>
            </a:r>
            <a:r>
              <a:rPr lang="tr-TR" dirty="0"/>
              <a:t>. </a:t>
            </a:r>
            <a:r>
              <a:rPr lang="tr-TR" dirty="0" err="1"/>
              <a:t>Then</a:t>
            </a:r>
            <a:r>
              <a:rPr lang="tr-TR" dirty="0"/>
              <a:t>,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created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landing_class</a:t>
            </a:r>
            <a:r>
              <a:rPr lang="tr-TR" dirty="0"/>
              <a:t> </a:t>
            </a:r>
            <a:r>
              <a:rPr lang="tr-TR" dirty="0" err="1"/>
              <a:t>list</a:t>
            </a:r>
            <a:r>
              <a:rPr lang="tr-TR" dirty="0"/>
              <a:t>, </a:t>
            </a:r>
            <a:r>
              <a:rPr lang="tr-TR" dirty="0" err="1"/>
              <a:t>assigning</a:t>
            </a:r>
            <a:r>
              <a:rPr lang="tr-TR" dirty="0"/>
              <a:t> 0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unsuccessful</a:t>
            </a:r>
            <a:r>
              <a:rPr lang="tr-TR" dirty="0"/>
              <a:t>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outcomes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1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successful</a:t>
            </a:r>
            <a:r>
              <a:rPr lang="tr-TR" dirty="0"/>
              <a:t> </a:t>
            </a:r>
            <a:r>
              <a:rPr lang="tr-TR" dirty="0" err="1"/>
              <a:t>ones</a:t>
            </a:r>
            <a:r>
              <a:rPr lang="tr-TR" dirty="0"/>
              <a:t>. </a:t>
            </a:r>
            <a:r>
              <a:rPr lang="tr-TR" dirty="0" err="1"/>
              <a:t>Finally</a:t>
            </a:r>
            <a:r>
              <a:rPr lang="tr-TR" dirty="0"/>
              <a:t>,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Outcome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Orbit </a:t>
            </a:r>
            <a:r>
              <a:rPr lang="tr-TR" dirty="0" err="1"/>
              <a:t>columns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determine</a:t>
            </a:r>
            <a:r>
              <a:rPr lang="tr-TR" dirty="0"/>
              <a:t> how </a:t>
            </a:r>
            <a:r>
              <a:rPr lang="tr-TR" dirty="0" err="1"/>
              <a:t>many</a:t>
            </a:r>
            <a:r>
              <a:rPr lang="tr-TR" dirty="0"/>
              <a:t> </a:t>
            </a:r>
            <a:r>
              <a:rPr lang="tr-TR" dirty="0" err="1"/>
              <a:t>missions</a:t>
            </a:r>
            <a:r>
              <a:rPr lang="tr-TR" dirty="0"/>
              <a:t> </a:t>
            </a:r>
            <a:r>
              <a:rPr lang="tr-TR" dirty="0" err="1"/>
              <a:t>successfully</a:t>
            </a:r>
            <a:r>
              <a:rPr lang="tr-TR" dirty="0"/>
              <a:t> </a:t>
            </a:r>
            <a:r>
              <a:rPr lang="tr-TR" dirty="0" err="1"/>
              <a:t>landed</a:t>
            </a:r>
            <a:r>
              <a:rPr lang="tr-TR" dirty="0"/>
              <a:t> on a </a:t>
            </a:r>
            <a:r>
              <a:rPr lang="tr-TR" dirty="0" err="1"/>
              <a:t>drone</a:t>
            </a:r>
            <a:r>
              <a:rPr lang="tr-TR" dirty="0"/>
              <a:t> </a:t>
            </a:r>
            <a:r>
              <a:rPr lang="tr-TR" dirty="0" err="1"/>
              <a:t>ship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how </a:t>
            </a:r>
            <a:r>
              <a:rPr lang="tr-TR" dirty="0" err="1"/>
              <a:t>many</a:t>
            </a:r>
            <a:r>
              <a:rPr lang="tr-TR" dirty="0"/>
              <a:t> </a:t>
            </a:r>
            <a:r>
              <a:rPr lang="tr-TR" dirty="0" err="1"/>
              <a:t>launches</a:t>
            </a:r>
            <a:r>
              <a:rPr lang="tr-TR" dirty="0"/>
              <a:t> </a:t>
            </a:r>
            <a:r>
              <a:rPr lang="tr-TR" dirty="0" err="1"/>
              <a:t>went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geosynchronous</a:t>
            </a:r>
            <a:r>
              <a:rPr lang="tr-TR" dirty="0"/>
              <a:t> orbit.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5F0A2A8E-608C-0CD7-4C13-ABA3E2C46241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63FEEC54-04B3-3D8E-181C-E63687484C82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B50235C1-98EA-E830-1F60-501F199D15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D5F22855-382B-B223-BBCF-037D86148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170714" cy="466657"/>
          </a:xfrm>
        </p:spPr>
        <p:txBody>
          <a:bodyPr rtlCol="0">
            <a:normAutofit/>
          </a:bodyPr>
          <a:lstStyle/>
          <a:p>
            <a:r>
              <a:rPr lang="tr-TR" dirty="0"/>
              <a:t>TASK1: Data </a:t>
            </a:r>
            <a:r>
              <a:rPr lang="tr-TR" dirty="0" err="1"/>
              <a:t>Wraggling</a:t>
            </a:r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C952E90-1FC3-1FC6-81B0-C09F884D6D3A}"/>
              </a:ext>
            </a:extLst>
          </p:cNvPr>
          <p:cNvSpPr txBox="1">
            <a:spLocks/>
          </p:cNvSpPr>
          <p:nvPr/>
        </p:nvSpPr>
        <p:spPr>
          <a:xfrm>
            <a:off x="8229600" y="2002949"/>
            <a:ext cx="3569110" cy="26477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dirty="0"/>
              <a:t>Link:</a:t>
            </a:r>
          </a:p>
          <a:p>
            <a:endParaRPr lang="tr-TR" dirty="0"/>
          </a:p>
          <a:p>
            <a:r>
              <a:rPr lang="tr-TR" dirty="0"/>
              <a:t>https://github.com/Selmabanzema/Data-Science-Capston-Project-/blob/main/labs-jupyter-spacex-Data%20wrangling.ipynb</a:t>
            </a:r>
          </a:p>
        </p:txBody>
      </p:sp>
    </p:spTree>
    <p:extLst>
      <p:ext uri="{BB962C8B-B14F-4D97-AF65-F5344CB8AC3E}">
        <p14:creationId xmlns:p14="http://schemas.microsoft.com/office/powerpoint/2010/main" val="1212908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97956-705E-3691-DCE4-EF8F20F78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3B958CBB-4F7E-4603-3265-13480F64BA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0756" y="1734833"/>
            <a:ext cx="6168069" cy="4911773"/>
          </a:xfrm>
        </p:spPr>
        <p:txBody>
          <a:bodyPr rtlCol="0">
            <a:normAutofit fontScale="85000" lnSpcReduction="20000"/>
          </a:bodyPr>
          <a:lstStyle/>
          <a:p>
            <a:r>
              <a:rPr lang="tr-TR" b="1" dirty="0" err="1"/>
              <a:t>df.isnull</a:t>
            </a:r>
            <a:r>
              <a:rPr lang="tr-TR" b="1" dirty="0"/>
              <a:t>().</a:t>
            </a:r>
            <a:r>
              <a:rPr lang="tr-TR" b="1" dirty="0" err="1"/>
              <a:t>sum</a:t>
            </a:r>
            <a:r>
              <a:rPr lang="tr-TR" b="1" dirty="0"/>
              <a:t>()/</a:t>
            </a:r>
            <a:r>
              <a:rPr lang="tr-TR" b="1" dirty="0" err="1"/>
              <a:t>len</a:t>
            </a:r>
            <a:r>
              <a:rPr lang="tr-TR" b="1" dirty="0"/>
              <a:t>(</a:t>
            </a:r>
            <a:r>
              <a:rPr lang="tr-TR" b="1" dirty="0" err="1"/>
              <a:t>df</a:t>
            </a:r>
            <a:r>
              <a:rPr lang="tr-TR" b="1" dirty="0"/>
              <a:t>)*100</a:t>
            </a:r>
          </a:p>
          <a:p>
            <a:endParaRPr lang="tr-TR" b="1" dirty="0"/>
          </a:p>
          <a:p>
            <a:pPr latinLnBrk="1"/>
            <a:r>
              <a:rPr lang="tr-TR" dirty="0" err="1"/>
              <a:t>FlightNumber</a:t>
            </a:r>
            <a:r>
              <a:rPr lang="tr-TR" dirty="0"/>
              <a:t>       0.000000</a:t>
            </a:r>
          </a:p>
          <a:p>
            <a:pPr latinLnBrk="1"/>
            <a:r>
              <a:rPr lang="tr-TR" dirty="0" err="1"/>
              <a:t>Date</a:t>
            </a:r>
            <a:r>
              <a:rPr lang="tr-TR" dirty="0"/>
              <a:t>               0.000000</a:t>
            </a:r>
          </a:p>
          <a:p>
            <a:pPr latinLnBrk="1"/>
            <a:r>
              <a:rPr lang="tr-TR" dirty="0" err="1"/>
              <a:t>BoosterVersion</a:t>
            </a:r>
            <a:r>
              <a:rPr lang="tr-TR" dirty="0"/>
              <a:t>     0.000000</a:t>
            </a:r>
          </a:p>
          <a:p>
            <a:pPr latinLnBrk="1"/>
            <a:r>
              <a:rPr lang="tr-TR" dirty="0" err="1"/>
              <a:t>PayloadMass</a:t>
            </a:r>
            <a:r>
              <a:rPr lang="tr-TR" dirty="0"/>
              <a:t>        0.000000</a:t>
            </a:r>
          </a:p>
          <a:p>
            <a:pPr latinLnBrk="1"/>
            <a:r>
              <a:rPr lang="tr-TR" dirty="0"/>
              <a:t>Orbit              0.000000</a:t>
            </a:r>
          </a:p>
          <a:p>
            <a:pPr latinLnBrk="1"/>
            <a:r>
              <a:rPr lang="tr-TR" dirty="0" err="1"/>
              <a:t>LaunchSite</a:t>
            </a:r>
            <a:r>
              <a:rPr lang="tr-TR" dirty="0"/>
              <a:t>         0.000000</a:t>
            </a:r>
          </a:p>
          <a:p>
            <a:pPr latinLnBrk="1"/>
            <a:r>
              <a:rPr lang="tr-TR" b="1" dirty="0" err="1"/>
              <a:t>df</a:t>
            </a:r>
            <a:r>
              <a:rPr lang="tr-TR" b="1" dirty="0"/>
              <a:t>['</a:t>
            </a:r>
            <a:r>
              <a:rPr lang="tr-TR" b="1" dirty="0" err="1"/>
              <a:t>LaunchSite</a:t>
            </a:r>
            <a:r>
              <a:rPr lang="tr-TR" b="1" dirty="0"/>
              <a:t>'].</a:t>
            </a:r>
            <a:r>
              <a:rPr lang="tr-TR" b="1" dirty="0" err="1"/>
              <a:t>value_counts</a:t>
            </a:r>
            <a:r>
              <a:rPr lang="tr-TR" b="1" dirty="0"/>
              <a:t>()</a:t>
            </a:r>
          </a:p>
          <a:p>
            <a:pPr latinLnBrk="1"/>
            <a:endParaRPr lang="tr-TR" dirty="0"/>
          </a:p>
          <a:p>
            <a:pPr latinLnBrk="1"/>
            <a:r>
              <a:rPr lang="tr-TR" dirty="0" err="1"/>
              <a:t>LaunchSite</a:t>
            </a:r>
            <a:endParaRPr lang="tr-TR" dirty="0"/>
          </a:p>
          <a:p>
            <a:pPr latinLnBrk="1"/>
            <a:r>
              <a:rPr lang="tr-TR" dirty="0"/>
              <a:t>CCAFS SLC 40    55</a:t>
            </a:r>
          </a:p>
          <a:p>
            <a:pPr latinLnBrk="1"/>
            <a:r>
              <a:rPr lang="tr-TR" dirty="0"/>
              <a:t>KSC LC 39A      22</a:t>
            </a:r>
          </a:p>
          <a:p>
            <a:pPr latinLnBrk="1"/>
            <a:r>
              <a:rPr lang="tr-TR" dirty="0"/>
              <a:t>VAFB SLC 4E     13</a:t>
            </a:r>
          </a:p>
          <a:p>
            <a:pPr latinLnBrk="1"/>
            <a:r>
              <a:rPr lang="tr-TR" dirty="0"/>
              <a:t>Name: </a:t>
            </a:r>
            <a:r>
              <a:rPr lang="tr-TR" dirty="0" err="1"/>
              <a:t>count</a:t>
            </a:r>
            <a:r>
              <a:rPr lang="tr-TR" dirty="0"/>
              <a:t>, </a:t>
            </a:r>
            <a:r>
              <a:rPr lang="tr-TR" dirty="0" err="1"/>
              <a:t>dtype</a:t>
            </a:r>
            <a:r>
              <a:rPr lang="tr-TR" dirty="0"/>
              <a:t>: int64</a:t>
            </a:r>
          </a:p>
          <a:p>
            <a:pPr latinLnBrk="1"/>
            <a:r>
              <a:rPr lang="en-US" b="1" dirty="0" err="1"/>
              <a:t>bad_outcomes</a:t>
            </a:r>
            <a:r>
              <a:rPr lang="en-US" b="1" dirty="0"/>
              <a:t>=set(</a:t>
            </a:r>
            <a:r>
              <a:rPr lang="en-US" b="1" dirty="0" err="1"/>
              <a:t>landing_outcomes.keys</a:t>
            </a:r>
            <a:r>
              <a:rPr lang="en-US" b="1" dirty="0"/>
              <a:t>()[[1,3,5,6,7]])</a:t>
            </a:r>
            <a:r>
              <a:rPr lang="en-US" b="1" dirty="0" err="1"/>
              <a:t>bad_outcomes</a:t>
            </a:r>
            <a:endParaRPr lang="tr-TR" b="1" dirty="0"/>
          </a:p>
          <a:p>
            <a:pPr latinLnBrk="1"/>
            <a:endParaRPr lang="tr-TR" b="1" dirty="0"/>
          </a:p>
          <a:p>
            <a:pPr latinLnBrk="1"/>
            <a:r>
              <a:rPr lang="tr-TR" dirty="0"/>
              <a:t>{'</a:t>
            </a:r>
            <a:r>
              <a:rPr lang="tr-TR" dirty="0" err="1"/>
              <a:t>False</a:t>
            </a:r>
            <a:r>
              <a:rPr lang="tr-TR" dirty="0"/>
              <a:t> ASDS', '</a:t>
            </a:r>
            <a:r>
              <a:rPr lang="tr-TR" dirty="0" err="1"/>
              <a:t>False</a:t>
            </a:r>
            <a:r>
              <a:rPr lang="tr-TR" dirty="0"/>
              <a:t> Ocean', '</a:t>
            </a:r>
            <a:r>
              <a:rPr lang="tr-TR" dirty="0" err="1"/>
              <a:t>False</a:t>
            </a:r>
            <a:r>
              <a:rPr lang="tr-TR" dirty="0"/>
              <a:t> RTLS', '</a:t>
            </a:r>
            <a:r>
              <a:rPr lang="tr-TR" dirty="0" err="1"/>
              <a:t>None</a:t>
            </a:r>
            <a:r>
              <a:rPr lang="tr-TR" dirty="0"/>
              <a:t> ASDS', '</a:t>
            </a:r>
            <a:r>
              <a:rPr lang="tr-TR" dirty="0" err="1"/>
              <a:t>None</a:t>
            </a:r>
            <a:r>
              <a:rPr lang="tr-TR" dirty="0"/>
              <a:t> </a:t>
            </a:r>
            <a:r>
              <a:rPr lang="tr-TR" dirty="0" err="1"/>
              <a:t>None</a:t>
            </a:r>
            <a:r>
              <a:rPr lang="tr-TR" dirty="0"/>
              <a:t>'}</a:t>
            </a:r>
          </a:p>
          <a:p>
            <a:br>
              <a:rPr lang="tr-TR" dirty="0"/>
            </a:br>
            <a:endParaRPr lang="tr-TR" dirty="0"/>
          </a:p>
          <a:p>
            <a:pPr latinLnBrk="1"/>
            <a:endParaRPr lang="tr-TR" dirty="0"/>
          </a:p>
          <a:p>
            <a:pPr latinLnBrk="1"/>
            <a:endParaRPr lang="tr-TR" dirty="0"/>
          </a:p>
          <a:p>
            <a:endParaRPr lang="tr-T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9E1C7040-6AB1-3B8F-C6C8-D466AD2BD929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0E5B185F-B274-43C4-6A66-07A55F5BD8BC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31BB4D68-9C69-38D0-734D-A43311A011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8ADEE117-55EA-E2F4-08B4-42CEC6FEE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170714" cy="466657"/>
          </a:xfrm>
        </p:spPr>
        <p:txBody>
          <a:bodyPr rtlCol="0">
            <a:normAutofit/>
          </a:bodyPr>
          <a:lstStyle/>
          <a:p>
            <a:r>
              <a:rPr lang="tr-TR" dirty="0"/>
              <a:t>TASK1: Data </a:t>
            </a:r>
            <a:r>
              <a:rPr lang="tr-TR" dirty="0" err="1"/>
              <a:t>Wraggling</a:t>
            </a:r>
            <a:r>
              <a:rPr lang="tr-TR" dirty="0"/>
              <a:t> </a:t>
            </a:r>
            <a:r>
              <a:rPr lang="tr-TR" dirty="0" err="1"/>
              <a:t>Example</a:t>
            </a:r>
            <a:r>
              <a:rPr lang="tr-TR" dirty="0"/>
              <a:t> </a:t>
            </a:r>
            <a:r>
              <a:rPr lang="tr-TR" dirty="0" err="1"/>
              <a:t>Outputs</a:t>
            </a:r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E138442-1A7A-4181-B70F-FF8AA572678B}"/>
              </a:ext>
            </a:extLst>
          </p:cNvPr>
          <p:cNvSpPr txBox="1">
            <a:spLocks/>
          </p:cNvSpPr>
          <p:nvPr/>
        </p:nvSpPr>
        <p:spPr>
          <a:xfrm>
            <a:off x="8229600" y="2002949"/>
            <a:ext cx="3569110" cy="26477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dirty="0"/>
              <a:t>Link:</a:t>
            </a:r>
          </a:p>
          <a:p>
            <a:endParaRPr lang="tr-TR" dirty="0"/>
          </a:p>
          <a:p>
            <a:r>
              <a:rPr lang="tr-TR" dirty="0"/>
              <a:t>https://github.com/Selmabanzema/Data-Science-Capston-Project-/blob/main/labs-jupyter-spacex-Data%20wrangling.ipynb</a:t>
            </a:r>
          </a:p>
        </p:txBody>
      </p:sp>
    </p:spTree>
    <p:extLst>
      <p:ext uri="{BB962C8B-B14F-4D97-AF65-F5344CB8AC3E}">
        <p14:creationId xmlns:p14="http://schemas.microsoft.com/office/powerpoint/2010/main" val="3792558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D44FC-E8DF-8550-B9F6-2C674F242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3439FCD0-2474-5535-E2E3-0C61BC647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0757" y="1734834"/>
            <a:ext cx="5912430" cy="5123166"/>
          </a:xfrm>
        </p:spPr>
        <p:txBody>
          <a:bodyPr rtlCol="0">
            <a:normAutofit/>
          </a:bodyPr>
          <a:lstStyle/>
          <a:p>
            <a:r>
              <a:rPr lang="tr-TR" dirty="0" err="1"/>
              <a:t>Our</a:t>
            </a:r>
            <a:r>
              <a:rPr lang="tr-TR" dirty="0"/>
              <a:t> </a:t>
            </a:r>
            <a:r>
              <a:rPr lang="tr-TR" dirty="0" err="1"/>
              <a:t>goals</a:t>
            </a:r>
            <a:r>
              <a:rPr lang="tr-TR" dirty="0"/>
              <a:t> is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understand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data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filter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understand</a:t>
            </a:r>
            <a:r>
              <a:rPr lang="tr-TR" dirty="0"/>
              <a:t> is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dirty="0" err="1"/>
              <a:t>sqllite</a:t>
            </a:r>
            <a:r>
              <a:rPr lang="tr-TR" dirty="0"/>
              <a:t> </a:t>
            </a:r>
            <a:r>
              <a:rPr lang="tr-TR" dirty="0" err="1"/>
              <a:t>codes</a:t>
            </a:r>
            <a:r>
              <a:rPr lang="tr-TR" dirty="0"/>
              <a:t>,</a:t>
            </a:r>
          </a:p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goal</a:t>
            </a:r>
            <a:r>
              <a:rPr lang="tr-TR" dirty="0"/>
              <a:t> of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was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use</a:t>
            </a:r>
            <a:r>
              <a:rPr lang="tr-TR" dirty="0"/>
              <a:t> </a:t>
            </a:r>
            <a:r>
              <a:rPr lang="tr-TR" b="1" dirty="0"/>
              <a:t>SQL </a:t>
            </a:r>
            <a:r>
              <a:rPr lang="tr-TR" b="1" dirty="0" err="1"/>
              <a:t>queries</a:t>
            </a:r>
            <a:r>
              <a:rPr lang="tr-TR" b="1" dirty="0"/>
              <a:t>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SQLite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explore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SpaceX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dataset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extract</a:t>
            </a:r>
            <a:r>
              <a:rPr lang="tr-TR" dirty="0"/>
              <a:t> </a:t>
            </a:r>
            <a:r>
              <a:rPr lang="tr-TR" dirty="0" err="1"/>
              <a:t>meaningful</a:t>
            </a:r>
            <a:r>
              <a:rPr lang="tr-TR" dirty="0"/>
              <a:t> </a:t>
            </a:r>
            <a:r>
              <a:rPr lang="tr-TR" dirty="0" err="1"/>
              <a:t>information</a:t>
            </a:r>
            <a:r>
              <a:rPr lang="tr-TR" dirty="0"/>
              <a:t> </a:t>
            </a:r>
            <a:r>
              <a:rPr lang="tr-TR" dirty="0" err="1"/>
              <a:t>about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sites</a:t>
            </a:r>
            <a:r>
              <a:rPr lang="tr-TR" dirty="0"/>
              <a:t>, </a:t>
            </a:r>
            <a:r>
              <a:rPr lang="tr-TR" dirty="0" err="1"/>
              <a:t>payloads</a:t>
            </a:r>
            <a:r>
              <a:rPr lang="tr-TR" dirty="0"/>
              <a:t>, </a:t>
            </a:r>
            <a:r>
              <a:rPr lang="tr-TR" dirty="0" err="1"/>
              <a:t>booster</a:t>
            </a:r>
            <a:r>
              <a:rPr lang="tr-TR" dirty="0"/>
              <a:t> </a:t>
            </a:r>
            <a:r>
              <a:rPr lang="tr-TR" dirty="0" err="1"/>
              <a:t>versions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outcomes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first</a:t>
            </a:r>
            <a:r>
              <a:rPr lang="tr-TR" dirty="0"/>
              <a:t> </a:t>
            </a:r>
            <a:r>
              <a:rPr lang="tr-TR" dirty="0" err="1"/>
              <a:t>loaded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SpaceX</a:t>
            </a:r>
            <a:r>
              <a:rPr lang="tr-TR" dirty="0"/>
              <a:t> data </a:t>
            </a:r>
            <a:r>
              <a:rPr lang="tr-TR" dirty="0" err="1"/>
              <a:t>into</a:t>
            </a:r>
            <a:r>
              <a:rPr lang="tr-TR" dirty="0"/>
              <a:t> a </a:t>
            </a:r>
            <a:r>
              <a:rPr lang="tr-TR" dirty="0" err="1"/>
              <a:t>database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then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SQL </a:t>
            </a:r>
            <a:r>
              <a:rPr lang="tr-TR" dirty="0" err="1"/>
              <a:t>queries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investigate</a:t>
            </a:r>
            <a:r>
              <a:rPr lang="tr-TR" dirty="0"/>
              <a:t> </a:t>
            </a:r>
            <a:r>
              <a:rPr lang="tr-TR" dirty="0" err="1"/>
              <a:t>important</a:t>
            </a:r>
            <a:r>
              <a:rPr lang="tr-TR" dirty="0"/>
              <a:t> </a:t>
            </a:r>
            <a:r>
              <a:rPr lang="tr-TR" dirty="0" err="1"/>
              <a:t>operational</a:t>
            </a:r>
            <a:r>
              <a:rPr lang="tr-TR" dirty="0"/>
              <a:t> </a:t>
            </a:r>
            <a:r>
              <a:rPr lang="tr-TR" dirty="0" err="1"/>
              <a:t>questions</a:t>
            </a:r>
            <a:r>
              <a:rPr lang="tr-TR" dirty="0"/>
              <a:t>. </a:t>
            </a:r>
            <a:r>
              <a:rPr lang="tr-TR" dirty="0" err="1"/>
              <a:t>It</a:t>
            </a:r>
            <a:r>
              <a:rPr lang="tr-TR" dirty="0"/>
              <a:t> </a:t>
            </a:r>
            <a:r>
              <a:rPr lang="tr-TR" dirty="0" err="1"/>
              <a:t>identified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b="1" dirty="0" err="1"/>
              <a:t>unique</a:t>
            </a:r>
            <a:r>
              <a:rPr lang="tr-TR" b="1" dirty="0"/>
              <a:t> </a:t>
            </a:r>
            <a:r>
              <a:rPr lang="tr-TR" b="1" dirty="0" err="1"/>
              <a:t>launch</a:t>
            </a:r>
            <a:r>
              <a:rPr lang="tr-TR" b="1" dirty="0"/>
              <a:t> </a:t>
            </a:r>
            <a:r>
              <a:rPr lang="tr-TR" b="1" dirty="0" err="1"/>
              <a:t>sites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examined</a:t>
            </a:r>
            <a:r>
              <a:rPr lang="tr-TR" dirty="0"/>
              <a:t> </a:t>
            </a:r>
            <a:r>
              <a:rPr lang="tr-TR" dirty="0" err="1"/>
              <a:t>sites</a:t>
            </a:r>
            <a:r>
              <a:rPr lang="tr-TR" dirty="0"/>
              <a:t> </a:t>
            </a:r>
            <a:r>
              <a:rPr lang="tr-TR" dirty="0" err="1"/>
              <a:t>beginning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“CCA,” </a:t>
            </a:r>
            <a:r>
              <a:rPr lang="tr-TR" dirty="0" err="1"/>
              <a:t>calculated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b="1" dirty="0"/>
              <a:t>total </a:t>
            </a:r>
            <a:r>
              <a:rPr lang="tr-TR" b="1" dirty="0" err="1"/>
              <a:t>payload</a:t>
            </a:r>
            <a:r>
              <a:rPr lang="tr-TR" b="1" dirty="0"/>
              <a:t> </a:t>
            </a:r>
            <a:r>
              <a:rPr lang="tr-TR" b="1" dirty="0" err="1"/>
              <a:t>mass</a:t>
            </a:r>
            <a:r>
              <a:rPr lang="tr-TR" b="1" dirty="0"/>
              <a:t> </a:t>
            </a:r>
            <a:r>
              <a:rPr lang="tr-TR" b="1" dirty="0" err="1"/>
              <a:t>carried</a:t>
            </a:r>
            <a:r>
              <a:rPr lang="tr-TR" b="1" dirty="0"/>
              <a:t> </a:t>
            </a:r>
            <a:r>
              <a:rPr lang="tr-TR" b="1" dirty="0" err="1"/>
              <a:t>by</a:t>
            </a:r>
            <a:r>
              <a:rPr lang="tr-TR" b="1" dirty="0"/>
              <a:t> NASA (CRS) </a:t>
            </a:r>
            <a:r>
              <a:rPr lang="tr-TR" b="1" dirty="0" err="1"/>
              <a:t>missions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determined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b="1" dirty="0" err="1"/>
              <a:t>average</a:t>
            </a:r>
            <a:r>
              <a:rPr lang="tr-TR" b="1" dirty="0"/>
              <a:t> </a:t>
            </a:r>
            <a:r>
              <a:rPr lang="tr-TR" b="1" dirty="0" err="1"/>
              <a:t>payload</a:t>
            </a:r>
            <a:r>
              <a:rPr lang="tr-TR" b="1" dirty="0"/>
              <a:t> </a:t>
            </a:r>
            <a:r>
              <a:rPr lang="tr-TR" b="1" dirty="0" err="1"/>
              <a:t>mass</a:t>
            </a:r>
            <a:r>
              <a:rPr lang="tr-TR" b="1" dirty="0"/>
              <a:t> </a:t>
            </a:r>
            <a:r>
              <a:rPr lang="tr-TR" b="1" dirty="0" err="1"/>
              <a:t>associated</a:t>
            </a:r>
            <a:r>
              <a:rPr lang="tr-TR" b="1" dirty="0"/>
              <a:t> </a:t>
            </a:r>
            <a:r>
              <a:rPr lang="tr-TR" b="1" dirty="0" err="1"/>
              <a:t>with</a:t>
            </a:r>
            <a:r>
              <a:rPr lang="tr-TR" b="1" dirty="0"/>
              <a:t> </a:t>
            </a:r>
            <a:r>
              <a:rPr lang="tr-TR" b="1" dirty="0" err="1"/>
              <a:t>the</a:t>
            </a:r>
            <a:r>
              <a:rPr lang="tr-TR" b="1" dirty="0"/>
              <a:t> F9 v1.1 </a:t>
            </a:r>
            <a:r>
              <a:rPr lang="tr-TR" b="1" dirty="0" err="1"/>
              <a:t>booster</a:t>
            </a:r>
            <a:r>
              <a:rPr lang="tr-TR" b="1" dirty="0"/>
              <a:t> </a:t>
            </a:r>
            <a:r>
              <a:rPr lang="tr-TR" b="1" dirty="0" err="1"/>
              <a:t>version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also</a:t>
            </a:r>
            <a:r>
              <a:rPr lang="tr-TR" dirty="0"/>
              <a:t> </a:t>
            </a:r>
            <a:r>
              <a:rPr lang="tr-TR" dirty="0" err="1"/>
              <a:t>identified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date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b="1" dirty="0" err="1"/>
              <a:t>first</a:t>
            </a:r>
            <a:r>
              <a:rPr lang="tr-TR" b="1" dirty="0"/>
              <a:t> </a:t>
            </a:r>
            <a:r>
              <a:rPr lang="tr-TR" b="1" dirty="0" err="1"/>
              <a:t>successful</a:t>
            </a:r>
            <a:r>
              <a:rPr lang="tr-TR" b="1" dirty="0"/>
              <a:t> </a:t>
            </a:r>
            <a:r>
              <a:rPr lang="tr-TR" b="1" dirty="0" err="1"/>
              <a:t>ground-pad</a:t>
            </a:r>
            <a:r>
              <a:rPr lang="tr-TR" b="1" dirty="0"/>
              <a:t> </a:t>
            </a:r>
            <a:r>
              <a:rPr lang="tr-TR" b="1" dirty="0" err="1"/>
              <a:t>landing</a:t>
            </a:r>
            <a:r>
              <a:rPr lang="tr-TR" dirty="0"/>
              <a:t>, </a:t>
            </a:r>
            <a:r>
              <a:rPr lang="tr-TR" dirty="0" err="1"/>
              <a:t>examined</a:t>
            </a:r>
            <a:r>
              <a:rPr lang="tr-TR" dirty="0"/>
              <a:t> </a:t>
            </a:r>
            <a:r>
              <a:rPr lang="tr-TR" dirty="0" err="1"/>
              <a:t>boosters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successfully</a:t>
            </a:r>
            <a:r>
              <a:rPr lang="tr-TR" dirty="0"/>
              <a:t> </a:t>
            </a:r>
            <a:r>
              <a:rPr lang="tr-TR" dirty="0" err="1"/>
              <a:t>landed</a:t>
            </a:r>
            <a:r>
              <a:rPr lang="tr-TR" dirty="0"/>
              <a:t> on </a:t>
            </a:r>
            <a:r>
              <a:rPr lang="tr-TR" dirty="0" err="1"/>
              <a:t>drone</a:t>
            </a:r>
            <a:r>
              <a:rPr lang="tr-TR" dirty="0"/>
              <a:t> </a:t>
            </a:r>
            <a:r>
              <a:rPr lang="tr-TR" dirty="0" err="1"/>
              <a:t>ships</a:t>
            </a:r>
            <a:r>
              <a:rPr lang="tr-TR" dirty="0"/>
              <a:t> </a:t>
            </a:r>
            <a:r>
              <a:rPr lang="tr-TR" dirty="0" err="1"/>
              <a:t>while</a:t>
            </a:r>
            <a:r>
              <a:rPr lang="tr-TR" dirty="0"/>
              <a:t> </a:t>
            </a:r>
            <a:r>
              <a:rPr lang="tr-TR" dirty="0" err="1"/>
              <a:t>carrying</a:t>
            </a:r>
            <a:r>
              <a:rPr lang="tr-TR" dirty="0"/>
              <a:t> </a:t>
            </a:r>
            <a:r>
              <a:rPr lang="tr-TR" dirty="0" err="1"/>
              <a:t>payloads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</a:t>
            </a:r>
            <a:r>
              <a:rPr lang="tr-TR" b="1" dirty="0"/>
              <a:t>4,000 </a:t>
            </a:r>
            <a:r>
              <a:rPr lang="tr-TR" b="1" dirty="0" err="1"/>
              <a:t>and</a:t>
            </a:r>
            <a:r>
              <a:rPr lang="tr-TR" b="1" dirty="0"/>
              <a:t> 6,000 kg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calculated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total </a:t>
            </a:r>
            <a:r>
              <a:rPr lang="tr-TR" dirty="0" err="1"/>
              <a:t>number</a:t>
            </a:r>
            <a:r>
              <a:rPr lang="tr-TR" dirty="0"/>
              <a:t> of </a:t>
            </a:r>
            <a:r>
              <a:rPr lang="tr-TR" dirty="0" err="1"/>
              <a:t>successful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unsuccessful</a:t>
            </a:r>
            <a:r>
              <a:rPr lang="tr-TR" dirty="0"/>
              <a:t> </a:t>
            </a:r>
            <a:r>
              <a:rPr lang="tr-TR" dirty="0" err="1"/>
              <a:t>mission</a:t>
            </a:r>
            <a:r>
              <a:rPr lang="tr-TR" dirty="0"/>
              <a:t> </a:t>
            </a:r>
            <a:r>
              <a:rPr lang="tr-TR" dirty="0" err="1"/>
              <a:t>outcomes</a:t>
            </a:r>
            <a:r>
              <a:rPr lang="tr-TR" dirty="0"/>
              <a:t>.</a:t>
            </a:r>
          </a:p>
          <a:p>
            <a:r>
              <a:rPr lang="tr-TR" dirty="0"/>
              <a:t>A </a:t>
            </a:r>
            <a:r>
              <a:rPr lang="tr-TR" dirty="0" err="1"/>
              <a:t>further</a:t>
            </a:r>
            <a:r>
              <a:rPr lang="tr-TR" dirty="0"/>
              <a:t> </a:t>
            </a:r>
            <a:r>
              <a:rPr lang="tr-TR" dirty="0" err="1"/>
              <a:t>highlight</a:t>
            </a:r>
            <a:r>
              <a:rPr lang="tr-TR" dirty="0"/>
              <a:t> </a:t>
            </a:r>
            <a:r>
              <a:rPr lang="tr-TR" dirty="0" err="1"/>
              <a:t>was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use</a:t>
            </a:r>
            <a:r>
              <a:rPr lang="tr-TR" dirty="0"/>
              <a:t> of </a:t>
            </a:r>
            <a:r>
              <a:rPr lang="tr-TR" dirty="0" err="1"/>
              <a:t>more</a:t>
            </a:r>
            <a:r>
              <a:rPr lang="tr-TR" dirty="0"/>
              <a:t> </a:t>
            </a:r>
            <a:r>
              <a:rPr lang="tr-TR" dirty="0" err="1"/>
              <a:t>advanced</a:t>
            </a:r>
            <a:r>
              <a:rPr lang="tr-TR" dirty="0"/>
              <a:t> SQL </a:t>
            </a:r>
            <a:r>
              <a:rPr lang="tr-TR" dirty="0" err="1"/>
              <a:t>techniques</a:t>
            </a:r>
            <a:r>
              <a:rPr lang="tr-TR" dirty="0"/>
              <a:t>, </a:t>
            </a:r>
            <a:r>
              <a:rPr lang="tr-TR" dirty="0" err="1"/>
              <a:t>including</a:t>
            </a:r>
            <a:r>
              <a:rPr lang="tr-TR" dirty="0"/>
              <a:t> </a:t>
            </a:r>
            <a:r>
              <a:rPr lang="tr-TR" b="1" dirty="0" err="1"/>
              <a:t>subqueries</a:t>
            </a:r>
            <a:r>
              <a:rPr lang="tr-TR" b="1" dirty="0"/>
              <a:t>, </a:t>
            </a:r>
            <a:r>
              <a:rPr lang="tr-TR" b="1" dirty="0" err="1"/>
              <a:t>filtering</a:t>
            </a:r>
            <a:r>
              <a:rPr lang="tr-TR" b="1" dirty="0"/>
              <a:t>, </a:t>
            </a:r>
            <a:r>
              <a:rPr lang="tr-TR" b="1" dirty="0" err="1"/>
              <a:t>aggregation</a:t>
            </a:r>
            <a:r>
              <a:rPr lang="tr-TR" b="1" dirty="0"/>
              <a:t>, </a:t>
            </a:r>
            <a:r>
              <a:rPr lang="tr-TR" b="1" dirty="0" err="1"/>
              <a:t>date</a:t>
            </a:r>
            <a:r>
              <a:rPr lang="tr-TR" b="1" dirty="0"/>
              <a:t> </a:t>
            </a:r>
            <a:r>
              <a:rPr lang="tr-TR" b="1" dirty="0" err="1"/>
              <a:t>extraction</a:t>
            </a:r>
            <a:r>
              <a:rPr lang="tr-TR" b="1" dirty="0"/>
              <a:t>,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ranking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identified</a:t>
            </a:r>
            <a:r>
              <a:rPr lang="tr-TR" dirty="0"/>
              <a:t> </a:t>
            </a:r>
            <a:r>
              <a:rPr lang="tr-TR" dirty="0" err="1"/>
              <a:t>booster</a:t>
            </a:r>
            <a:r>
              <a:rPr lang="tr-TR" dirty="0"/>
              <a:t> </a:t>
            </a:r>
            <a:r>
              <a:rPr lang="tr-TR" dirty="0" err="1"/>
              <a:t>versions</a:t>
            </a:r>
            <a:r>
              <a:rPr lang="tr-TR" dirty="0"/>
              <a:t> </a:t>
            </a:r>
            <a:r>
              <a:rPr lang="tr-TR" dirty="0" err="1"/>
              <a:t>associated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maximum</a:t>
            </a:r>
            <a:r>
              <a:rPr lang="tr-TR" dirty="0"/>
              <a:t> </a:t>
            </a:r>
            <a:r>
              <a:rPr lang="tr-TR" dirty="0" err="1"/>
              <a:t>payload</a:t>
            </a:r>
            <a:r>
              <a:rPr lang="tr-TR" dirty="0"/>
              <a:t> </a:t>
            </a:r>
            <a:r>
              <a:rPr lang="tr-TR" dirty="0" err="1"/>
              <a:t>mass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examined</a:t>
            </a:r>
            <a:r>
              <a:rPr lang="tr-TR" dirty="0"/>
              <a:t> </a:t>
            </a:r>
            <a:r>
              <a:rPr lang="tr-TR" b="1" dirty="0"/>
              <a:t>2015 </a:t>
            </a:r>
            <a:r>
              <a:rPr lang="tr-TR" b="1" dirty="0" err="1"/>
              <a:t>drone-ship</a:t>
            </a:r>
            <a:r>
              <a:rPr lang="tr-TR" b="1" dirty="0"/>
              <a:t> </a:t>
            </a:r>
            <a:r>
              <a:rPr lang="tr-TR" b="1" dirty="0" err="1"/>
              <a:t>landing</a:t>
            </a:r>
            <a:r>
              <a:rPr lang="tr-TR" b="1" dirty="0"/>
              <a:t> </a:t>
            </a:r>
            <a:r>
              <a:rPr lang="tr-TR" b="1" dirty="0" err="1"/>
              <a:t>failures</a:t>
            </a:r>
            <a:r>
              <a:rPr lang="tr-TR" dirty="0"/>
              <a:t>, </a:t>
            </a:r>
            <a:r>
              <a:rPr lang="tr-TR" dirty="0" err="1"/>
              <a:t>including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month</a:t>
            </a:r>
            <a:r>
              <a:rPr lang="tr-TR" dirty="0"/>
              <a:t>, </a:t>
            </a:r>
            <a:r>
              <a:rPr lang="tr-TR" dirty="0" err="1"/>
              <a:t>booster</a:t>
            </a:r>
            <a:r>
              <a:rPr lang="tr-TR" dirty="0"/>
              <a:t> </a:t>
            </a:r>
            <a:r>
              <a:rPr lang="tr-TR" dirty="0" err="1"/>
              <a:t>version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site. </a:t>
            </a:r>
            <a:r>
              <a:rPr lang="tr-TR" dirty="0" err="1"/>
              <a:t>It</a:t>
            </a:r>
            <a:r>
              <a:rPr lang="tr-TR" dirty="0"/>
              <a:t> </a:t>
            </a:r>
            <a:r>
              <a:rPr lang="tr-TR" dirty="0" err="1"/>
              <a:t>also</a:t>
            </a:r>
            <a:r>
              <a:rPr lang="tr-TR" dirty="0"/>
              <a:t> </a:t>
            </a:r>
            <a:r>
              <a:rPr lang="tr-TR" dirty="0" err="1"/>
              <a:t>ranked</a:t>
            </a:r>
            <a:r>
              <a:rPr lang="tr-TR" dirty="0"/>
              <a:t>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outcomes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</a:t>
            </a:r>
            <a:r>
              <a:rPr lang="tr-TR" b="1" dirty="0" err="1"/>
              <a:t>June</a:t>
            </a:r>
            <a:r>
              <a:rPr lang="tr-TR" b="1" dirty="0"/>
              <a:t> 4, 2010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March</a:t>
            </a:r>
            <a:r>
              <a:rPr lang="tr-TR" b="1" dirty="0"/>
              <a:t> 20, 2017</a:t>
            </a:r>
            <a:r>
              <a:rPr lang="tr-TR" dirty="0"/>
              <a:t>, </a:t>
            </a:r>
            <a:r>
              <a:rPr lang="tr-TR" dirty="0" err="1"/>
              <a:t>providing</a:t>
            </a:r>
            <a:r>
              <a:rPr lang="tr-TR" dirty="0"/>
              <a:t> a </a:t>
            </a:r>
            <a:r>
              <a:rPr lang="tr-TR" dirty="0" err="1"/>
              <a:t>chronological</a:t>
            </a:r>
            <a:r>
              <a:rPr lang="tr-TR" dirty="0"/>
              <a:t> </a:t>
            </a:r>
            <a:r>
              <a:rPr lang="tr-TR" dirty="0" err="1"/>
              <a:t>perspective</a:t>
            </a:r>
            <a:r>
              <a:rPr lang="tr-TR" dirty="0"/>
              <a:t> on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evolution</a:t>
            </a:r>
            <a:r>
              <a:rPr lang="tr-TR" dirty="0"/>
              <a:t> of Falcon 9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performance</a:t>
            </a:r>
            <a:r>
              <a:rPr lang="tr-TR" dirty="0"/>
              <a:t>.</a:t>
            </a:r>
          </a:p>
          <a:p>
            <a:endParaRPr lang="tr-T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C34E6BDB-43AD-14E3-AFC0-D06B572B2E07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AAE04B0C-FA9D-5D8C-0A26-61014B2F58F0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4D7FDA1E-4A08-2075-4E68-6E79BE4E2D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0398088E-3A32-946C-1D8F-1F6E1D18C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170714" cy="466657"/>
          </a:xfrm>
        </p:spPr>
        <p:txBody>
          <a:bodyPr rtlCol="0">
            <a:normAutofit fontScale="90000"/>
          </a:bodyPr>
          <a:lstStyle/>
          <a:p>
            <a:r>
              <a:rPr lang="tr-TR" dirty="0"/>
              <a:t>TASK2: </a:t>
            </a:r>
            <a:r>
              <a:rPr lang="tr-TR" b="1" dirty="0"/>
              <a:t>Complete </a:t>
            </a:r>
            <a:r>
              <a:rPr lang="tr-TR" b="1" dirty="0" err="1"/>
              <a:t>the</a:t>
            </a:r>
            <a:r>
              <a:rPr lang="tr-TR" b="1" dirty="0"/>
              <a:t> EDA </a:t>
            </a:r>
            <a:r>
              <a:rPr lang="tr-TR" b="1" dirty="0" err="1"/>
              <a:t>with</a:t>
            </a:r>
            <a:r>
              <a:rPr lang="tr-TR" b="1" dirty="0"/>
              <a:t> SQL</a:t>
            </a:r>
            <a:br>
              <a:rPr lang="tr-TR" b="1" dirty="0"/>
            </a:br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65A565B-A5E3-7E5D-6CD7-AE6ABC7B0603}"/>
              </a:ext>
            </a:extLst>
          </p:cNvPr>
          <p:cNvSpPr txBox="1">
            <a:spLocks/>
          </p:cNvSpPr>
          <p:nvPr/>
        </p:nvSpPr>
        <p:spPr>
          <a:xfrm>
            <a:off x="8229600" y="2002949"/>
            <a:ext cx="3569110" cy="26477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dirty="0"/>
              <a:t>Link:</a:t>
            </a:r>
          </a:p>
          <a:p>
            <a:endParaRPr lang="tr-TR" dirty="0"/>
          </a:p>
          <a:p>
            <a:r>
              <a:rPr lang="tr-TR" dirty="0"/>
              <a:t>https://github.com/Selmabanzema/Data-Science-Capston-Project-/blob/main/jupyter-labs-eda-sql-coursera_sqllite.ipynb</a:t>
            </a:r>
          </a:p>
        </p:txBody>
      </p:sp>
    </p:spTree>
    <p:extLst>
      <p:ext uri="{BB962C8B-B14F-4D97-AF65-F5344CB8AC3E}">
        <p14:creationId xmlns:p14="http://schemas.microsoft.com/office/powerpoint/2010/main" val="3725305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D44A9-AA90-A467-AB9C-DE6BF0D25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566E5548-7E4A-7C1C-AA9A-5C6134096358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C113D1FF-C29D-C9C6-64B6-0D11450A4474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ACF2547F-E31C-817F-5E93-CE6C325ABE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BBA57BE5-8ACC-B55A-F5E8-B3EF8BB4F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6636774" cy="466657"/>
          </a:xfrm>
        </p:spPr>
        <p:txBody>
          <a:bodyPr rtlCol="0">
            <a:normAutofit fontScale="90000"/>
          </a:bodyPr>
          <a:lstStyle/>
          <a:p>
            <a:r>
              <a:rPr lang="tr-TR" dirty="0"/>
              <a:t>TASK2: </a:t>
            </a:r>
            <a:r>
              <a:rPr lang="tr-TR" b="1" dirty="0"/>
              <a:t>Complete </a:t>
            </a:r>
            <a:r>
              <a:rPr lang="tr-TR" b="1" dirty="0" err="1"/>
              <a:t>the</a:t>
            </a:r>
            <a:r>
              <a:rPr lang="tr-TR" b="1" dirty="0"/>
              <a:t> EDA </a:t>
            </a:r>
            <a:r>
              <a:rPr lang="tr-TR" b="1" dirty="0" err="1"/>
              <a:t>with</a:t>
            </a:r>
            <a:r>
              <a:rPr lang="tr-TR" b="1" dirty="0"/>
              <a:t> SQL </a:t>
            </a:r>
            <a:r>
              <a:rPr lang="tr-TR" b="1" dirty="0" err="1"/>
              <a:t>Example</a:t>
            </a:r>
            <a:r>
              <a:rPr lang="tr-TR" b="1" dirty="0"/>
              <a:t> </a:t>
            </a:r>
            <a:r>
              <a:rPr lang="tr-TR" b="1" dirty="0" err="1"/>
              <a:t>Outputs</a:t>
            </a:r>
            <a:br>
              <a:rPr lang="tr-TR" b="1" dirty="0"/>
            </a:br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F046665-E65A-4E6F-73E2-94F7673ED097}"/>
              </a:ext>
            </a:extLst>
          </p:cNvPr>
          <p:cNvSpPr txBox="1">
            <a:spLocks/>
          </p:cNvSpPr>
          <p:nvPr/>
        </p:nvSpPr>
        <p:spPr>
          <a:xfrm>
            <a:off x="6961908" y="525640"/>
            <a:ext cx="4887191" cy="166010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dirty="0"/>
              <a:t>Link:</a:t>
            </a:r>
          </a:p>
          <a:p>
            <a:endParaRPr lang="tr-TR" dirty="0"/>
          </a:p>
          <a:p>
            <a:r>
              <a:rPr lang="tr-TR" dirty="0"/>
              <a:t>https://github.com/Selmabanzema/Data-Science-Capston-Project-/blob/main/jupyter-labs-eda-sql-coursera_sqllite.ipynb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E32B1-ED3D-49E4-7D75-1EE406B26A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443" y="2472735"/>
            <a:ext cx="4061093" cy="25781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7B795F-1EE7-1EF0-C022-09F6B27480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1536" y="2472735"/>
            <a:ext cx="4145243" cy="25781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3AD657-2AA6-9126-0F17-3472B5A895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0584" y="2398059"/>
            <a:ext cx="3501496" cy="269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887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0DAD1-0A3D-4C17-2617-D45FB1030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2A84F344-A873-4DA2-A84F-CF8CB0A05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65245"/>
            <a:ext cx="6472869" cy="5123166"/>
          </a:xfrm>
        </p:spPr>
        <p:txBody>
          <a:bodyPr rtlCol="0">
            <a:normAutofit/>
          </a:bodyPr>
          <a:lstStyle/>
          <a:p>
            <a:r>
              <a:rPr lang="tr-TR" b="1" dirty="0" err="1"/>
              <a:t>Display</a:t>
            </a:r>
            <a:r>
              <a:rPr lang="tr-TR" b="1" dirty="0"/>
              <a:t> 5 </a:t>
            </a:r>
            <a:r>
              <a:rPr lang="tr-TR" b="1" dirty="0" err="1"/>
              <a:t>records</a:t>
            </a:r>
            <a:r>
              <a:rPr lang="tr-TR" b="1" dirty="0"/>
              <a:t> </a:t>
            </a:r>
            <a:r>
              <a:rPr lang="tr-TR" b="1" dirty="0" err="1"/>
              <a:t>where</a:t>
            </a:r>
            <a:r>
              <a:rPr lang="tr-TR" b="1" dirty="0"/>
              <a:t> </a:t>
            </a:r>
            <a:r>
              <a:rPr lang="tr-TR" b="1" dirty="0" err="1"/>
              <a:t>launch</a:t>
            </a:r>
            <a:r>
              <a:rPr lang="tr-TR" b="1" dirty="0"/>
              <a:t> </a:t>
            </a:r>
            <a:r>
              <a:rPr lang="tr-TR" b="1" dirty="0" err="1"/>
              <a:t>sites</a:t>
            </a:r>
            <a:r>
              <a:rPr lang="tr-TR" b="1" dirty="0"/>
              <a:t> </a:t>
            </a:r>
            <a:r>
              <a:rPr lang="tr-TR" b="1" dirty="0" err="1"/>
              <a:t>begin</a:t>
            </a:r>
            <a:r>
              <a:rPr lang="tr-TR" b="1" dirty="0"/>
              <a:t> </a:t>
            </a:r>
            <a:r>
              <a:rPr lang="tr-TR" b="1" dirty="0" err="1"/>
              <a:t>with</a:t>
            </a:r>
            <a:r>
              <a:rPr lang="tr-TR" b="1" dirty="0"/>
              <a:t> </a:t>
            </a:r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string</a:t>
            </a:r>
            <a:r>
              <a:rPr lang="tr-TR" b="1" dirty="0"/>
              <a:t> 'CCA'</a:t>
            </a:r>
          </a:p>
          <a:p>
            <a:r>
              <a:rPr lang="en-US" dirty="0"/>
              <a:t>%</a:t>
            </a:r>
            <a:r>
              <a:rPr lang="en-US" dirty="0" err="1"/>
              <a:t>sql</a:t>
            </a:r>
            <a:r>
              <a:rPr lang="en-US" dirty="0"/>
              <a:t> select * from SPACEXTBL where </a:t>
            </a:r>
            <a:r>
              <a:rPr lang="en-US" dirty="0" err="1"/>
              <a:t>Launch_Site</a:t>
            </a:r>
            <a:r>
              <a:rPr lang="en-US" dirty="0"/>
              <a:t> like '</a:t>
            </a:r>
            <a:r>
              <a:rPr lang="en-US" dirty="0" err="1"/>
              <a:t>CCA%'limit</a:t>
            </a:r>
            <a:r>
              <a:rPr lang="en-US" dirty="0"/>
              <a:t> 5;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Display the total </a:t>
            </a:r>
            <a:r>
              <a:rPr lang="tr-TR" b="1" dirty="0"/>
              <a:t>p</a:t>
            </a:r>
            <a:r>
              <a:rPr lang="en-US" b="1" dirty="0" err="1"/>
              <a:t>ayload</a:t>
            </a:r>
            <a:r>
              <a:rPr lang="en-US" b="1" dirty="0"/>
              <a:t> mass carried by boosters launched by NASA</a:t>
            </a:r>
            <a:endParaRPr lang="tr-TR" b="1" dirty="0"/>
          </a:p>
          <a:p>
            <a:r>
              <a:rPr lang="en-US" dirty="0"/>
              <a:t>%</a:t>
            </a:r>
            <a:r>
              <a:rPr lang="en-US" dirty="0" err="1"/>
              <a:t>sql</a:t>
            </a:r>
            <a:r>
              <a:rPr lang="en-US" dirty="0"/>
              <a:t> select PAYLOAD_MASS__KG_ from SPACEXTBL where Customer = 'NASA (CRS)’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 Display average payload mass carried by booster version F9 v1.1</a:t>
            </a:r>
            <a:endParaRPr lang="tr-TR" b="1" dirty="0"/>
          </a:p>
          <a:p>
            <a:r>
              <a:rPr lang="en-US" dirty="0"/>
              <a:t>%</a:t>
            </a:r>
            <a:r>
              <a:rPr lang="en-US" dirty="0" err="1"/>
              <a:t>sql</a:t>
            </a:r>
            <a:r>
              <a:rPr lang="en-US" dirty="0"/>
              <a:t> select distinct </a:t>
            </a:r>
            <a:r>
              <a:rPr lang="en-US" dirty="0" err="1"/>
              <a:t>Launch_Site</a:t>
            </a:r>
            <a:r>
              <a:rPr lang="en-US" dirty="0"/>
              <a:t>  from SPACEXTBL</a:t>
            </a:r>
            <a:endParaRPr lang="tr-TR" dirty="0"/>
          </a:p>
          <a:p>
            <a:endParaRPr lang="tr-TR" dirty="0"/>
          </a:p>
          <a:p>
            <a:r>
              <a:rPr lang="tr-TR" b="1" dirty="0" err="1"/>
              <a:t>List</a:t>
            </a:r>
            <a:r>
              <a:rPr lang="tr-TR" b="1" dirty="0"/>
              <a:t> </a:t>
            </a:r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date</a:t>
            </a:r>
            <a:r>
              <a:rPr lang="tr-TR" b="1" dirty="0"/>
              <a:t> </a:t>
            </a:r>
            <a:r>
              <a:rPr lang="tr-TR" b="1" dirty="0" err="1"/>
              <a:t>when</a:t>
            </a:r>
            <a:r>
              <a:rPr lang="tr-TR" b="1" dirty="0"/>
              <a:t> </a:t>
            </a:r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first</a:t>
            </a:r>
            <a:r>
              <a:rPr lang="tr-TR" b="1" dirty="0"/>
              <a:t> </a:t>
            </a:r>
            <a:r>
              <a:rPr lang="tr-TR" b="1" dirty="0" err="1"/>
              <a:t>succesful</a:t>
            </a:r>
            <a:r>
              <a:rPr lang="tr-TR" b="1" dirty="0"/>
              <a:t> </a:t>
            </a:r>
            <a:r>
              <a:rPr lang="tr-TR" b="1" dirty="0" err="1"/>
              <a:t>landing</a:t>
            </a:r>
            <a:r>
              <a:rPr lang="tr-TR" b="1" dirty="0"/>
              <a:t> </a:t>
            </a:r>
            <a:r>
              <a:rPr lang="tr-TR" b="1" dirty="0" err="1"/>
              <a:t>outcome</a:t>
            </a:r>
            <a:r>
              <a:rPr lang="tr-TR" b="1" dirty="0"/>
              <a:t> in </a:t>
            </a:r>
            <a:r>
              <a:rPr lang="tr-TR" b="1" dirty="0" err="1"/>
              <a:t>ground</a:t>
            </a:r>
            <a:r>
              <a:rPr lang="tr-TR" b="1" dirty="0"/>
              <a:t> </a:t>
            </a:r>
            <a:r>
              <a:rPr lang="tr-TR" b="1" dirty="0" err="1"/>
              <a:t>pad</a:t>
            </a:r>
            <a:r>
              <a:rPr lang="tr-TR" b="1" dirty="0"/>
              <a:t> </a:t>
            </a:r>
            <a:r>
              <a:rPr lang="tr-TR" b="1" dirty="0" err="1"/>
              <a:t>was</a:t>
            </a:r>
            <a:r>
              <a:rPr lang="tr-TR" b="1" dirty="0"/>
              <a:t> </a:t>
            </a:r>
            <a:r>
              <a:rPr lang="tr-TR" b="1" dirty="0" err="1"/>
              <a:t>acheived</a:t>
            </a:r>
            <a:endParaRPr lang="tr-TR" b="1" dirty="0"/>
          </a:p>
          <a:p>
            <a:r>
              <a:rPr lang="en-US" dirty="0"/>
              <a:t>%</a:t>
            </a:r>
            <a:r>
              <a:rPr lang="en-US" dirty="0" err="1"/>
              <a:t>sql</a:t>
            </a:r>
            <a:r>
              <a:rPr lang="en-US" dirty="0"/>
              <a:t> select min(Date) from SPACEXTBL where </a:t>
            </a:r>
            <a:r>
              <a:rPr lang="en-US" dirty="0" err="1"/>
              <a:t>Mission_Outcome</a:t>
            </a:r>
            <a:r>
              <a:rPr lang="en-US" dirty="0"/>
              <a:t> = 'Success'</a:t>
            </a:r>
            <a:endParaRPr lang="tr-T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1A5ED6AC-FAE4-CD52-27F4-2518A0B61508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38935285-9AAB-9C62-72ED-6AD2EA0BA97D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18E8CDD1-91AA-1E9D-A8ED-AE4D189196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88802640-B5A9-3D93-39AA-025352AB6A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6636774" cy="466657"/>
          </a:xfrm>
        </p:spPr>
        <p:txBody>
          <a:bodyPr rtlCol="0">
            <a:normAutofit fontScale="90000"/>
          </a:bodyPr>
          <a:lstStyle/>
          <a:p>
            <a:r>
              <a:rPr lang="tr-TR" dirty="0"/>
              <a:t>TASK2: </a:t>
            </a:r>
            <a:r>
              <a:rPr lang="tr-TR" b="1" dirty="0"/>
              <a:t>Complete </a:t>
            </a:r>
            <a:r>
              <a:rPr lang="tr-TR" b="1" dirty="0" err="1"/>
              <a:t>the</a:t>
            </a:r>
            <a:r>
              <a:rPr lang="tr-TR" b="1" dirty="0"/>
              <a:t> EDA </a:t>
            </a:r>
            <a:r>
              <a:rPr lang="tr-TR" b="1" dirty="0" err="1"/>
              <a:t>with</a:t>
            </a:r>
            <a:r>
              <a:rPr lang="tr-TR" b="1" dirty="0"/>
              <a:t> SQL </a:t>
            </a:r>
            <a:r>
              <a:rPr lang="tr-TR" b="1" dirty="0" err="1"/>
              <a:t>Detailed</a:t>
            </a:r>
            <a:r>
              <a:rPr lang="tr-TR" b="1" dirty="0"/>
              <a:t> </a:t>
            </a:r>
            <a:r>
              <a:rPr lang="tr-TR" b="1" dirty="0" err="1"/>
              <a:t>Outputs</a:t>
            </a:r>
            <a:br>
              <a:rPr lang="tr-TR" b="1" dirty="0"/>
            </a:br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7B23589-45F2-D550-59C9-9956DB881154}"/>
              </a:ext>
            </a:extLst>
          </p:cNvPr>
          <p:cNvSpPr txBox="1">
            <a:spLocks/>
          </p:cNvSpPr>
          <p:nvPr/>
        </p:nvSpPr>
        <p:spPr>
          <a:xfrm>
            <a:off x="6145663" y="199961"/>
            <a:ext cx="6050274" cy="8571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sz="1600" dirty="0"/>
              <a:t>Link:</a:t>
            </a:r>
          </a:p>
          <a:p>
            <a:endParaRPr lang="tr-TR" sz="1600" dirty="0"/>
          </a:p>
          <a:p>
            <a:r>
              <a:rPr lang="tr-TR" sz="1600" dirty="0"/>
              <a:t>https://github.com/Selmabanzema/Data-Science-Capston-Project-/blob/main/jupyter-labs-eda-sql-coursera_sqllite.ipynb</a:t>
            </a:r>
          </a:p>
        </p:txBody>
      </p:sp>
    </p:spTree>
    <p:extLst>
      <p:ext uri="{BB962C8B-B14F-4D97-AF65-F5344CB8AC3E}">
        <p14:creationId xmlns:p14="http://schemas.microsoft.com/office/powerpoint/2010/main" val="2298088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5E4A2-906F-2D0E-4E11-B0CA4C39D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D72EBAE9-5B49-52EF-7C43-82FB9DBB7978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CAA0515A-8C99-35F4-5624-9A9AF5A5AD70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249D31C5-FC60-ED43-390D-E9D1722CF5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F8CB329B-00AE-C690-DB2D-D0D9AE718C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6636774" cy="466657"/>
          </a:xfrm>
        </p:spPr>
        <p:txBody>
          <a:bodyPr rtlCol="0">
            <a:normAutofit fontScale="90000"/>
          </a:bodyPr>
          <a:lstStyle/>
          <a:p>
            <a:r>
              <a:rPr lang="tr-TR" dirty="0"/>
              <a:t>TASK2: </a:t>
            </a:r>
            <a:r>
              <a:rPr lang="tr-TR" b="1" dirty="0"/>
              <a:t>Complete </a:t>
            </a:r>
            <a:r>
              <a:rPr lang="tr-TR" b="1" dirty="0" err="1"/>
              <a:t>the</a:t>
            </a:r>
            <a:r>
              <a:rPr lang="tr-TR" b="1" dirty="0"/>
              <a:t> EDA </a:t>
            </a:r>
            <a:r>
              <a:rPr lang="tr-TR" b="1" dirty="0" err="1"/>
              <a:t>with</a:t>
            </a:r>
            <a:r>
              <a:rPr lang="tr-TR" b="1" dirty="0"/>
              <a:t> SQL </a:t>
            </a:r>
            <a:r>
              <a:rPr lang="tr-TR" b="1" dirty="0" err="1"/>
              <a:t>Detailed</a:t>
            </a:r>
            <a:r>
              <a:rPr lang="tr-TR" b="1" dirty="0"/>
              <a:t> </a:t>
            </a:r>
            <a:r>
              <a:rPr lang="tr-TR" b="1" dirty="0" err="1"/>
              <a:t>Outputs</a:t>
            </a:r>
            <a:br>
              <a:rPr lang="tr-TR" b="1" dirty="0"/>
            </a:br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1EAEC78-099D-FAE0-4867-3C72B287E1D4}"/>
              </a:ext>
            </a:extLst>
          </p:cNvPr>
          <p:cNvSpPr txBox="1">
            <a:spLocks/>
          </p:cNvSpPr>
          <p:nvPr/>
        </p:nvSpPr>
        <p:spPr>
          <a:xfrm>
            <a:off x="6145663" y="199961"/>
            <a:ext cx="6050274" cy="8571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sz="1600" dirty="0"/>
              <a:t>Link:</a:t>
            </a:r>
          </a:p>
          <a:p>
            <a:endParaRPr lang="tr-TR" sz="1600" dirty="0"/>
          </a:p>
          <a:p>
            <a:r>
              <a:rPr lang="tr-TR" sz="1600" dirty="0"/>
              <a:t>https://github.com/Selmabanzema/Data-Science-Capston-Project-/blob/main/jupyter-labs-eda-sql-coursera_sqllite.ipynb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F63850-9C97-2353-0212-CB8C422C93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9" y="1925267"/>
            <a:ext cx="5891645" cy="14382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57363B-93F5-3600-5CE9-9A502F122C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536932"/>
            <a:ext cx="5891645" cy="31211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95A814-6171-F110-B694-BE71A8572D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4709" y="1925267"/>
            <a:ext cx="5319394" cy="270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620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E7A5F-722D-9F79-C312-69FB2759E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7523CDC3-F716-2C75-30E1-E3A5489CE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0757" y="1734834"/>
            <a:ext cx="5912430" cy="5123166"/>
          </a:xfrm>
        </p:spPr>
        <p:txBody>
          <a:bodyPr rtlCol="0">
            <a:normAutofit/>
          </a:bodyPr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goal</a:t>
            </a:r>
            <a:r>
              <a:rPr lang="tr-TR" dirty="0"/>
              <a:t> of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was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explore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prepare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SpaceX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dataset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further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machine</a:t>
            </a:r>
            <a:r>
              <a:rPr lang="tr-TR" dirty="0"/>
              <a:t> </a:t>
            </a:r>
            <a:r>
              <a:rPr lang="tr-TR" dirty="0" err="1"/>
              <a:t>learning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dataset</a:t>
            </a:r>
            <a:r>
              <a:rPr lang="tr-TR" dirty="0"/>
              <a:t> </a:t>
            </a:r>
            <a:r>
              <a:rPr lang="tr-TR" dirty="0" err="1"/>
              <a:t>was</a:t>
            </a:r>
            <a:r>
              <a:rPr lang="tr-TR" dirty="0"/>
              <a:t> </a:t>
            </a:r>
            <a:r>
              <a:rPr lang="tr-TR" dirty="0" err="1"/>
              <a:t>imported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examined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Python, </a:t>
            </a:r>
            <a:r>
              <a:rPr lang="tr-TR" dirty="0" err="1"/>
              <a:t>Pandas</a:t>
            </a:r>
            <a:r>
              <a:rPr lang="tr-TR" dirty="0"/>
              <a:t>, </a:t>
            </a:r>
            <a:r>
              <a:rPr lang="tr-TR" dirty="0" err="1"/>
              <a:t>Matplotlib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Seaborn</a:t>
            </a:r>
            <a:r>
              <a:rPr lang="tr-TR" dirty="0"/>
              <a:t>. </a:t>
            </a:r>
            <a:r>
              <a:rPr lang="tr-TR" dirty="0" err="1"/>
              <a:t>Visualizations</a:t>
            </a:r>
            <a:r>
              <a:rPr lang="tr-TR" dirty="0"/>
              <a:t> </a:t>
            </a:r>
            <a:r>
              <a:rPr lang="tr-TR" dirty="0" err="1"/>
              <a:t>were</a:t>
            </a:r>
            <a:r>
              <a:rPr lang="tr-TR" dirty="0"/>
              <a:t> </a:t>
            </a:r>
            <a:r>
              <a:rPr lang="tr-TR" dirty="0" err="1"/>
              <a:t>created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investigate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relationship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</a:t>
            </a:r>
            <a:r>
              <a:rPr lang="tr-TR" b="1" dirty="0"/>
              <a:t>Flight </a:t>
            </a:r>
            <a:r>
              <a:rPr lang="tr-TR" b="1" dirty="0" err="1"/>
              <a:t>Number</a:t>
            </a:r>
            <a:r>
              <a:rPr lang="tr-TR" b="1" dirty="0"/>
              <a:t>, </a:t>
            </a:r>
            <a:r>
              <a:rPr lang="tr-TR" b="1" dirty="0" err="1"/>
              <a:t>Payload</a:t>
            </a:r>
            <a:r>
              <a:rPr lang="tr-TR" b="1" dirty="0"/>
              <a:t> </a:t>
            </a:r>
            <a:r>
              <a:rPr lang="tr-TR" b="1" dirty="0" err="1"/>
              <a:t>Mass</a:t>
            </a:r>
            <a:r>
              <a:rPr lang="tr-TR" b="1" dirty="0"/>
              <a:t>, </a:t>
            </a:r>
            <a:r>
              <a:rPr lang="tr-TR" b="1" dirty="0" err="1"/>
              <a:t>Launch</a:t>
            </a:r>
            <a:r>
              <a:rPr lang="tr-TR" b="1" dirty="0"/>
              <a:t> Site, </a:t>
            </a:r>
            <a:r>
              <a:rPr lang="tr-TR" b="1" dirty="0" err="1"/>
              <a:t>and</a:t>
            </a:r>
            <a:r>
              <a:rPr lang="tr-TR" b="1" dirty="0"/>
              <a:t> Class</a:t>
            </a:r>
            <a:r>
              <a:rPr lang="tr-TR" dirty="0"/>
              <a:t>, </a:t>
            </a:r>
            <a:r>
              <a:rPr lang="tr-TR" dirty="0" err="1"/>
              <a:t>helping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identify</a:t>
            </a:r>
            <a:r>
              <a:rPr lang="tr-TR" dirty="0"/>
              <a:t> </a:t>
            </a:r>
            <a:r>
              <a:rPr lang="tr-TR" dirty="0" err="1"/>
              <a:t>patterns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</a:t>
            </a:r>
            <a:r>
              <a:rPr lang="tr-TR" dirty="0" err="1"/>
              <a:t>successful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unsuccessful</a:t>
            </a:r>
            <a:r>
              <a:rPr lang="tr-TR" dirty="0"/>
              <a:t> </a:t>
            </a:r>
            <a:r>
              <a:rPr lang="tr-TR" dirty="0" err="1"/>
              <a:t>launches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also</a:t>
            </a:r>
            <a:r>
              <a:rPr lang="tr-TR" dirty="0"/>
              <a:t> </a:t>
            </a:r>
            <a:r>
              <a:rPr lang="tr-TR" dirty="0" err="1"/>
              <a:t>included</a:t>
            </a:r>
            <a:r>
              <a:rPr lang="tr-TR" dirty="0"/>
              <a:t> </a:t>
            </a:r>
            <a:r>
              <a:rPr lang="tr-TR" dirty="0" err="1"/>
              <a:t>preparing</a:t>
            </a:r>
            <a:r>
              <a:rPr lang="tr-TR" dirty="0"/>
              <a:t> </a:t>
            </a:r>
            <a:r>
              <a:rPr lang="tr-TR" dirty="0" err="1"/>
              <a:t>categorical</a:t>
            </a:r>
            <a:r>
              <a:rPr lang="tr-TR" dirty="0"/>
              <a:t> </a:t>
            </a:r>
            <a:r>
              <a:rPr lang="tr-TR" dirty="0" err="1"/>
              <a:t>variables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creating</a:t>
            </a:r>
            <a:r>
              <a:rPr lang="tr-TR" dirty="0"/>
              <a:t> </a:t>
            </a:r>
            <a:r>
              <a:rPr lang="tr-TR" b="1" dirty="0" err="1"/>
              <a:t>dummy</a:t>
            </a:r>
            <a:r>
              <a:rPr lang="tr-TR" b="1" dirty="0"/>
              <a:t> </a:t>
            </a:r>
            <a:r>
              <a:rPr lang="tr-TR" b="1" dirty="0" err="1"/>
              <a:t>variables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converting</a:t>
            </a:r>
            <a:r>
              <a:rPr lang="tr-TR" dirty="0"/>
              <a:t> </a:t>
            </a:r>
            <a:r>
              <a:rPr lang="tr-TR" dirty="0" err="1"/>
              <a:t>numerical</a:t>
            </a:r>
            <a:r>
              <a:rPr lang="tr-TR" dirty="0"/>
              <a:t> </a:t>
            </a:r>
            <a:r>
              <a:rPr lang="tr-TR" dirty="0" err="1"/>
              <a:t>columns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b="1" dirty="0"/>
              <a:t>float64</a:t>
            </a:r>
            <a:r>
              <a:rPr lang="tr-TR" dirty="0"/>
              <a:t> data </a:t>
            </a:r>
            <a:r>
              <a:rPr lang="tr-TR" dirty="0" err="1"/>
              <a:t>type</a:t>
            </a:r>
            <a:r>
              <a:rPr lang="tr-TR" dirty="0"/>
              <a:t>. </a:t>
            </a:r>
            <a:r>
              <a:rPr lang="tr-TR" dirty="0" err="1"/>
              <a:t>These</a:t>
            </a:r>
            <a:r>
              <a:rPr lang="tr-TR" dirty="0"/>
              <a:t> </a:t>
            </a:r>
            <a:r>
              <a:rPr lang="tr-TR" dirty="0" err="1"/>
              <a:t>steps</a:t>
            </a:r>
            <a:r>
              <a:rPr lang="tr-TR" dirty="0"/>
              <a:t> </a:t>
            </a:r>
            <a:r>
              <a:rPr lang="tr-TR" dirty="0" err="1"/>
              <a:t>provide</a:t>
            </a:r>
            <a:r>
              <a:rPr lang="tr-TR" dirty="0"/>
              <a:t> a </a:t>
            </a:r>
            <a:r>
              <a:rPr lang="tr-TR" dirty="0" err="1"/>
              <a:t>clean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structured</a:t>
            </a:r>
            <a:r>
              <a:rPr lang="tr-TR" dirty="0"/>
              <a:t> </a:t>
            </a:r>
            <a:r>
              <a:rPr lang="tr-TR" dirty="0" err="1"/>
              <a:t>dataset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subsequent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predictive</a:t>
            </a:r>
            <a:r>
              <a:rPr lang="tr-TR" dirty="0"/>
              <a:t> </a:t>
            </a:r>
            <a:r>
              <a:rPr lang="tr-TR" dirty="0" err="1"/>
              <a:t>modeling</a:t>
            </a:r>
            <a:r>
              <a:rPr lang="tr-TR" dirty="0"/>
              <a:t>. Here is </a:t>
            </a:r>
            <a:r>
              <a:rPr lang="tr-TR" dirty="0" err="1"/>
              <a:t>example</a:t>
            </a:r>
            <a:r>
              <a:rPr lang="tr-TR" dirty="0"/>
              <a:t> of </a:t>
            </a:r>
            <a:r>
              <a:rPr lang="tr-TR" dirty="0" err="1"/>
              <a:t>what</a:t>
            </a:r>
            <a:r>
              <a:rPr lang="tr-TR" dirty="0"/>
              <a:t>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did</a:t>
            </a:r>
            <a:r>
              <a:rPr lang="tr-TR" dirty="0"/>
              <a:t>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46CACA09-CB52-90BA-E477-E924240B055F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AE6C4819-1E9B-5987-C91C-DAF7A9B95507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D63070F9-1D93-9A58-35CC-383EBC53D3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62F92B2C-A169-3F76-AF30-C038C0124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170714" cy="466657"/>
          </a:xfrm>
        </p:spPr>
        <p:txBody>
          <a:bodyPr rtlCol="0">
            <a:normAutofit fontScale="90000"/>
          </a:bodyPr>
          <a:lstStyle/>
          <a:p>
            <a:r>
              <a:rPr lang="tr-TR" dirty="0"/>
              <a:t>TASK2: </a:t>
            </a:r>
            <a:r>
              <a:rPr lang="tr-TR" b="1" dirty="0"/>
              <a:t>EDA </a:t>
            </a:r>
            <a:r>
              <a:rPr lang="tr-TR" b="1" dirty="0" err="1"/>
              <a:t>with</a:t>
            </a:r>
            <a:r>
              <a:rPr lang="tr-TR" b="1" dirty="0"/>
              <a:t> </a:t>
            </a:r>
            <a:r>
              <a:rPr lang="tr-TR" b="1" dirty="0" err="1"/>
              <a:t>Visualization</a:t>
            </a:r>
            <a:r>
              <a:rPr lang="tr-TR" b="1" dirty="0"/>
              <a:t> </a:t>
            </a:r>
            <a:r>
              <a:rPr lang="tr-TR" b="1" dirty="0" err="1"/>
              <a:t>Lab</a:t>
            </a:r>
            <a:br>
              <a:rPr lang="tr-TR" b="1" dirty="0"/>
            </a:br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23C9491-54A5-AFB9-A0A1-F3752D9DF30B}"/>
              </a:ext>
            </a:extLst>
          </p:cNvPr>
          <p:cNvSpPr txBox="1">
            <a:spLocks/>
          </p:cNvSpPr>
          <p:nvPr/>
        </p:nvSpPr>
        <p:spPr>
          <a:xfrm>
            <a:off x="8229600" y="2002949"/>
            <a:ext cx="3569110" cy="26477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dirty="0"/>
              <a:t>Link:</a:t>
            </a:r>
          </a:p>
          <a:p>
            <a:endParaRPr lang="tr-TR" dirty="0"/>
          </a:p>
          <a:p>
            <a:r>
              <a:rPr lang="tr-TR" dirty="0"/>
              <a:t>https://github.com/Selmabanzema/Data-Science-Capston-Project-/blob/main/edadataviz.ipynb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F9ACCB-CF6D-ED11-F333-611004568C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396" y="3540123"/>
            <a:ext cx="5170714" cy="316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107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B2A7A-ABB9-4BEA-F831-CCAA9E6BF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892116B9-55FF-161E-CF34-939B59BC83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0757" y="1734834"/>
            <a:ext cx="5912430" cy="5123166"/>
          </a:xfrm>
        </p:spPr>
        <p:txBody>
          <a:bodyPr rtlCol="0">
            <a:normAutofit/>
          </a:bodyPr>
          <a:lstStyle/>
          <a:p>
            <a:r>
              <a:rPr lang="tr-TR" dirty="0" err="1"/>
              <a:t>sns.catplot</a:t>
            </a:r>
            <a:r>
              <a:rPr lang="tr-TR" dirty="0"/>
              <a:t>(y="</a:t>
            </a:r>
            <a:r>
              <a:rPr lang="tr-TR" dirty="0" err="1"/>
              <a:t>PayloadMass</a:t>
            </a:r>
            <a:r>
              <a:rPr lang="tr-TR" dirty="0"/>
              <a:t>", x="</a:t>
            </a:r>
            <a:r>
              <a:rPr lang="tr-TR" dirty="0" err="1"/>
              <a:t>FlightNumber</a:t>
            </a:r>
            <a:r>
              <a:rPr lang="tr-TR" dirty="0"/>
              <a:t>", </a:t>
            </a:r>
            <a:r>
              <a:rPr lang="tr-TR" dirty="0" err="1"/>
              <a:t>hue</a:t>
            </a:r>
            <a:r>
              <a:rPr lang="tr-TR" dirty="0"/>
              <a:t>="Class", data=</a:t>
            </a:r>
            <a:r>
              <a:rPr lang="tr-TR" dirty="0" err="1"/>
              <a:t>df</a:t>
            </a:r>
            <a:r>
              <a:rPr lang="tr-TR" dirty="0"/>
              <a:t>, </a:t>
            </a:r>
            <a:r>
              <a:rPr lang="tr-TR" dirty="0" err="1"/>
              <a:t>aspect</a:t>
            </a:r>
            <a:r>
              <a:rPr lang="tr-TR" dirty="0"/>
              <a:t> = 5)</a:t>
            </a:r>
            <a:r>
              <a:rPr lang="tr-TR" dirty="0" err="1"/>
              <a:t>plt.xlabel</a:t>
            </a:r>
            <a:r>
              <a:rPr lang="tr-TR" dirty="0"/>
              <a:t>("Flight </a:t>
            </a:r>
            <a:r>
              <a:rPr lang="tr-TR" dirty="0" err="1"/>
              <a:t>Number</a:t>
            </a:r>
            <a:r>
              <a:rPr lang="tr-TR" dirty="0"/>
              <a:t>",</a:t>
            </a:r>
            <a:r>
              <a:rPr lang="tr-TR" dirty="0" err="1"/>
              <a:t>fontsize</a:t>
            </a:r>
            <a:r>
              <a:rPr lang="tr-TR" dirty="0"/>
              <a:t>=20)</a:t>
            </a:r>
            <a:r>
              <a:rPr lang="tr-TR" dirty="0" err="1"/>
              <a:t>plt.ylabel</a:t>
            </a:r>
            <a:r>
              <a:rPr lang="tr-TR" dirty="0"/>
              <a:t>("Pay </a:t>
            </a:r>
            <a:r>
              <a:rPr lang="tr-TR" dirty="0" err="1"/>
              <a:t>load</a:t>
            </a:r>
            <a:r>
              <a:rPr lang="tr-TR" dirty="0"/>
              <a:t> </a:t>
            </a:r>
            <a:r>
              <a:rPr lang="tr-TR" dirty="0" err="1"/>
              <a:t>Mass</a:t>
            </a:r>
            <a:r>
              <a:rPr lang="tr-TR" dirty="0"/>
              <a:t> (kg)",</a:t>
            </a:r>
            <a:r>
              <a:rPr lang="tr-TR" dirty="0" err="1"/>
              <a:t>fontsize</a:t>
            </a:r>
            <a:r>
              <a:rPr lang="tr-TR" dirty="0"/>
              <a:t>=20)</a:t>
            </a:r>
            <a:r>
              <a:rPr lang="tr-TR" dirty="0" err="1"/>
              <a:t>plt.show</a:t>
            </a:r>
            <a:r>
              <a:rPr lang="tr-TR" dirty="0"/>
              <a:t>()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 err="1"/>
              <a:t>sns.scatterplot</a:t>
            </a:r>
            <a:r>
              <a:rPr lang="tr-TR" dirty="0"/>
              <a:t>(x='</a:t>
            </a:r>
            <a:r>
              <a:rPr lang="tr-TR" dirty="0" err="1"/>
              <a:t>PayloadMass</a:t>
            </a:r>
            <a:r>
              <a:rPr lang="tr-TR" dirty="0"/>
              <a:t>',y='</a:t>
            </a:r>
            <a:r>
              <a:rPr lang="tr-TR" dirty="0" err="1"/>
              <a:t>LaunchSite</a:t>
            </a:r>
            <a:r>
              <a:rPr lang="tr-TR" dirty="0"/>
              <a:t>',data=</a:t>
            </a:r>
            <a:r>
              <a:rPr lang="tr-TR" dirty="0" err="1"/>
              <a:t>df,hue</a:t>
            </a:r>
            <a:r>
              <a:rPr lang="tr-TR" dirty="0"/>
              <a:t>='Class’)</a:t>
            </a:r>
          </a:p>
          <a:p>
            <a:endParaRPr lang="tr-T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AD5FA941-D914-5C37-70D7-7FE46C881B42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00643125-59A0-E6FF-4FD6-BB1EDD5B5BC0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FD8BE61C-134A-D870-79C3-47B108115B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8B899FF4-CB9D-B998-CAD9-24E1FC953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170714" cy="466657"/>
          </a:xfrm>
        </p:spPr>
        <p:txBody>
          <a:bodyPr rtlCol="0">
            <a:normAutofit fontScale="90000"/>
          </a:bodyPr>
          <a:lstStyle/>
          <a:p>
            <a:r>
              <a:rPr lang="tr-TR" dirty="0"/>
              <a:t>TASK2: </a:t>
            </a:r>
            <a:r>
              <a:rPr lang="tr-TR" b="1" dirty="0"/>
              <a:t>EDA </a:t>
            </a:r>
            <a:r>
              <a:rPr lang="tr-TR" b="1" dirty="0" err="1"/>
              <a:t>with</a:t>
            </a:r>
            <a:r>
              <a:rPr lang="tr-TR" b="1" dirty="0"/>
              <a:t> </a:t>
            </a:r>
            <a:r>
              <a:rPr lang="tr-TR" b="1" dirty="0" err="1"/>
              <a:t>Visualization</a:t>
            </a:r>
            <a:r>
              <a:rPr lang="tr-TR" b="1" dirty="0"/>
              <a:t> </a:t>
            </a:r>
            <a:r>
              <a:rPr lang="tr-TR" b="1" dirty="0" err="1"/>
              <a:t>Lab</a:t>
            </a:r>
            <a:r>
              <a:rPr lang="tr-TR" b="1" dirty="0"/>
              <a:t> </a:t>
            </a:r>
            <a:r>
              <a:rPr lang="tr-TR" b="1" dirty="0" err="1"/>
              <a:t>Example</a:t>
            </a:r>
            <a:r>
              <a:rPr lang="tr-TR" b="1" dirty="0"/>
              <a:t> </a:t>
            </a:r>
            <a:r>
              <a:rPr lang="tr-TR" b="1" dirty="0" err="1"/>
              <a:t>Outputs</a:t>
            </a:r>
            <a:br>
              <a:rPr lang="tr-TR" b="1" dirty="0"/>
            </a:br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A3EAB08-12A7-E560-F1F4-E40EC66291A8}"/>
              </a:ext>
            </a:extLst>
          </p:cNvPr>
          <p:cNvSpPr txBox="1">
            <a:spLocks/>
          </p:cNvSpPr>
          <p:nvPr/>
        </p:nvSpPr>
        <p:spPr>
          <a:xfrm>
            <a:off x="8229600" y="2002949"/>
            <a:ext cx="3569110" cy="26477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dirty="0"/>
              <a:t>Link:</a:t>
            </a:r>
          </a:p>
          <a:p>
            <a:endParaRPr lang="tr-TR" dirty="0"/>
          </a:p>
          <a:p>
            <a:r>
              <a:rPr lang="tr-TR" dirty="0"/>
              <a:t>https://github.com/Selmabanzema/Data-Science-Capston-Project-/blob/main/edadataviz.ipynb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9DDFC0-0767-2C07-E04C-81E236FDA7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512" y="2506291"/>
            <a:ext cx="7372616" cy="14462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54F787-B1E9-F0F3-4DF4-56A9208B97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512" y="4542171"/>
            <a:ext cx="3920312" cy="221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779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38549-DA53-BF42-4EFB-A7C6BB066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7B2CD253-E75B-30A8-95CD-253524FC0F80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00E627DE-FE3B-418F-50B2-7677F6076B7E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D7CA1A4A-9163-31D4-D972-4EDCB1EC93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3EA100F6-09D1-646E-9E55-A7329B9D9F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170714" cy="466657"/>
          </a:xfrm>
        </p:spPr>
        <p:txBody>
          <a:bodyPr rtlCol="0">
            <a:normAutofit fontScale="90000"/>
          </a:bodyPr>
          <a:lstStyle/>
          <a:p>
            <a:r>
              <a:rPr lang="tr-TR" dirty="0"/>
              <a:t>TASK2: </a:t>
            </a:r>
            <a:r>
              <a:rPr lang="tr-TR" b="1" dirty="0"/>
              <a:t>EDA </a:t>
            </a:r>
            <a:r>
              <a:rPr lang="tr-TR" b="1" dirty="0" err="1"/>
              <a:t>with</a:t>
            </a:r>
            <a:r>
              <a:rPr lang="tr-TR" b="1" dirty="0"/>
              <a:t> </a:t>
            </a:r>
            <a:r>
              <a:rPr lang="tr-TR" b="1" dirty="0" err="1"/>
              <a:t>Visualization</a:t>
            </a:r>
            <a:r>
              <a:rPr lang="tr-TR" b="1" dirty="0"/>
              <a:t> </a:t>
            </a:r>
            <a:r>
              <a:rPr lang="tr-TR" b="1" dirty="0" err="1"/>
              <a:t>Lab</a:t>
            </a:r>
            <a:r>
              <a:rPr lang="tr-TR" b="1" dirty="0"/>
              <a:t> </a:t>
            </a:r>
            <a:r>
              <a:rPr lang="tr-TR" b="1" dirty="0" err="1"/>
              <a:t>Example</a:t>
            </a:r>
            <a:r>
              <a:rPr lang="tr-TR" b="1" dirty="0"/>
              <a:t> </a:t>
            </a:r>
            <a:r>
              <a:rPr lang="tr-TR" b="1" dirty="0" err="1"/>
              <a:t>Outputs</a:t>
            </a:r>
            <a:br>
              <a:rPr lang="tr-TR" b="1" dirty="0"/>
            </a:br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E86866C-C236-92A8-C6D6-0EBB8447E448}"/>
              </a:ext>
            </a:extLst>
          </p:cNvPr>
          <p:cNvSpPr txBox="1">
            <a:spLocks/>
          </p:cNvSpPr>
          <p:nvPr/>
        </p:nvSpPr>
        <p:spPr>
          <a:xfrm>
            <a:off x="8229600" y="2002949"/>
            <a:ext cx="3569110" cy="26477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dirty="0"/>
              <a:t>Link:</a:t>
            </a:r>
          </a:p>
          <a:p>
            <a:endParaRPr lang="tr-TR" dirty="0"/>
          </a:p>
          <a:p>
            <a:r>
              <a:rPr lang="tr-TR" dirty="0"/>
              <a:t>https://github.com/Selmabanzema/Data-Science-Capston-Project-/blob/main/edadataviz.ipynb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BD4C0F-E078-9F59-C737-0ADD8FDA8A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932" y="1925267"/>
            <a:ext cx="7132938" cy="446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47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30A7A-607D-3043-4299-D3BE7076E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5545FFB1-E438-04E5-6C00-CB6723C5E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0757" y="1734834"/>
            <a:ext cx="5912430" cy="5123166"/>
          </a:xfrm>
        </p:spPr>
        <p:txBody>
          <a:bodyPr rtlCol="0">
            <a:normAutofit/>
          </a:bodyPr>
          <a:lstStyle/>
          <a:p>
            <a:r>
              <a:rPr lang="tr-TR" b="1" dirty="0" err="1"/>
              <a:t>Create</a:t>
            </a:r>
            <a:r>
              <a:rPr lang="tr-TR" b="1" dirty="0"/>
              <a:t> </a:t>
            </a:r>
            <a:r>
              <a:rPr lang="tr-TR" b="1" dirty="0" err="1"/>
              <a:t>dummy</a:t>
            </a:r>
            <a:r>
              <a:rPr lang="tr-TR" b="1" dirty="0"/>
              <a:t> </a:t>
            </a:r>
            <a:r>
              <a:rPr lang="tr-TR" b="1" dirty="0" err="1"/>
              <a:t>variables</a:t>
            </a:r>
            <a:r>
              <a:rPr lang="tr-TR" b="1" dirty="0"/>
              <a:t> </a:t>
            </a:r>
            <a:r>
              <a:rPr lang="tr-TR" b="1" dirty="0" err="1"/>
              <a:t>to</a:t>
            </a:r>
            <a:r>
              <a:rPr lang="tr-TR" b="1" dirty="0"/>
              <a:t> </a:t>
            </a:r>
            <a:r>
              <a:rPr lang="tr-TR" b="1" dirty="0" err="1"/>
              <a:t>categorical</a:t>
            </a:r>
            <a:r>
              <a:rPr lang="tr-TR" b="1" dirty="0"/>
              <a:t> </a:t>
            </a:r>
            <a:r>
              <a:rPr lang="tr-TR" b="1" dirty="0" err="1"/>
              <a:t>columns</a:t>
            </a:r>
            <a:endParaRPr lang="tr-TR" b="1" dirty="0"/>
          </a:p>
          <a:p>
            <a:r>
              <a:rPr lang="tr-TR" dirty="0"/>
              <a:t>dh=</a:t>
            </a:r>
            <a:r>
              <a:rPr lang="tr-TR" dirty="0" err="1"/>
              <a:t>pd.get_dummies</a:t>
            </a:r>
            <a:r>
              <a:rPr lang="tr-TR" dirty="0"/>
              <a:t>(</a:t>
            </a:r>
            <a:r>
              <a:rPr lang="tr-TR" dirty="0" err="1"/>
              <a:t>df</a:t>
            </a:r>
            <a:r>
              <a:rPr lang="tr-TR" dirty="0"/>
              <a:t>['Orbit'],</a:t>
            </a:r>
            <a:r>
              <a:rPr lang="tr-TR" dirty="0" err="1"/>
              <a:t>prefix</a:t>
            </a:r>
            <a:r>
              <a:rPr lang="tr-TR" dirty="0"/>
              <a:t>='O_')</a:t>
            </a:r>
            <a:r>
              <a:rPr lang="tr-TR" dirty="0" err="1"/>
              <a:t>df</a:t>
            </a:r>
            <a:r>
              <a:rPr lang="tr-TR" dirty="0"/>
              <a:t>=</a:t>
            </a:r>
            <a:r>
              <a:rPr lang="tr-TR" dirty="0" err="1"/>
              <a:t>pd.concat</a:t>
            </a:r>
            <a:r>
              <a:rPr lang="tr-TR" dirty="0"/>
              <a:t>((</a:t>
            </a:r>
            <a:r>
              <a:rPr lang="tr-TR" dirty="0" err="1"/>
              <a:t>dh,df</a:t>
            </a:r>
            <a:r>
              <a:rPr lang="tr-TR" dirty="0"/>
              <a:t>)</a:t>
            </a:r>
          </a:p>
          <a:p>
            <a:r>
              <a:rPr lang="tr-TR" dirty="0"/>
              <a:t>........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A23B97A8-36B0-08EB-C097-F3FF9246D806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B9220866-126A-4085-9A77-51CCD59800BE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6640ED1C-25C6-8677-6C5F-18D04A09EE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8425B9D5-DCA2-F490-6D2E-83BF4EE7A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170714" cy="466657"/>
          </a:xfrm>
        </p:spPr>
        <p:txBody>
          <a:bodyPr rtlCol="0">
            <a:normAutofit fontScale="90000"/>
          </a:bodyPr>
          <a:lstStyle/>
          <a:p>
            <a:r>
              <a:rPr lang="tr-TR" dirty="0"/>
              <a:t>TASK2: </a:t>
            </a:r>
            <a:r>
              <a:rPr lang="tr-TR" b="1" dirty="0"/>
              <a:t>EDA </a:t>
            </a:r>
            <a:r>
              <a:rPr lang="tr-TR" b="1" dirty="0" err="1"/>
              <a:t>with</a:t>
            </a:r>
            <a:r>
              <a:rPr lang="tr-TR" b="1" dirty="0"/>
              <a:t> </a:t>
            </a:r>
            <a:r>
              <a:rPr lang="tr-TR" b="1" dirty="0" err="1"/>
              <a:t>Visualization</a:t>
            </a:r>
            <a:r>
              <a:rPr lang="tr-TR" b="1" dirty="0"/>
              <a:t> </a:t>
            </a:r>
            <a:r>
              <a:rPr lang="tr-TR" b="1" dirty="0" err="1"/>
              <a:t>Lab</a:t>
            </a:r>
            <a:r>
              <a:rPr lang="tr-TR" b="1" dirty="0"/>
              <a:t> </a:t>
            </a:r>
            <a:r>
              <a:rPr lang="tr-TR" b="1" dirty="0" err="1"/>
              <a:t>Example</a:t>
            </a:r>
            <a:r>
              <a:rPr lang="tr-TR" b="1" dirty="0"/>
              <a:t> </a:t>
            </a:r>
            <a:r>
              <a:rPr lang="tr-TR" b="1" dirty="0" err="1"/>
              <a:t>Outputs</a:t>
            </a:r>
            <a:br>
              <a:rPr lang="tr-TR" b="1" dirty="0"/>
            </a:br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892B28A-6762-EE33-8DFB-CA4BFE42DD9F}"/>
              </a:ext>
            </a:extLst>
          </p:cNvPr>
          <p:cNvSpPr txBox="1">
            <a:spLocks/>
          </p:cNvSpPr>
          <p:nvPr/>
        </p:nvSpPr>
        <p:spPr>
          <a:xfrm>
            <a:off x="8229600" y="2002949"/>
            <a:ext cx="3569110" cy="26477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dirty="0"/>
              <a:t>Link:</a:t>
            </a:r>
          </a:p>
          <a:p>
            <a:endParaRPr lang="tr-TR" dirty="0"/>
          </a:p>
          <a:p>
            <a:r>
              <a:rPr lang="tr-TR" dirty="0"/>
              <a:t>https://github.com/Selmabanzema/Data-Science-Capston-Project-/blob/main/edadataviz.ipynb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05E26D-2C1B-E0BA-01F6-24D4D25451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458" y="2753335"/>
            <a:ext cx="7779797" cy="224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833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485B7-26BE-9E62-B15C-D695E99F7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6E0948C8-5E52-844A-9F3F-25BF4BAD0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0757" y="1734834"/>
            <a:ext cx="5912430" cy="2060418"/>
          </a:xfrm>
        </p:spPr>
        <p:txBody>
          <a:bodyPr rtlCol="0">
            <a:normAutofit lnSpcReduction="10000"/>
          </a:bodyPr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goal</a:t>
            </a:r>
            <a:r>
              <a:rPr lang="tr-TR" dirty="0"/>
              <a:t> of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was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investigate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geographical</a:t>
            </a:r>
            <a:r>
              <a:rPr lang="tr-TR" dirty="0"/>
              <a:t> </a:t>
            </a:r>
            <a:r>
              <a:rPr lang="tr-TR" dirty="0" err="1"/>
              <a:t>locations</a:t>
            </a:r>
            <a:r>
              <a:rPr lang="tr-TR" dirty="0"/>
              <a:t> of </a:t>
            </a:r>
            <a:r>
              <a:rPr lang="tr-TR" dirty="0" err="1"/>
              <a:t>SpaceX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sites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identify</a:t>
            </a:r>
            <a:r>
              <a:rPr lang="tr-TR" dirty="0"/>
              <a:t> </a:t>
            </a:r>
            <a:r>
              <a:rPr lang="tr-TR" dirty="0" err="1"/>
              <a:t>possible</a:t>
            </a:r>
            <a:r>
              <a:rPr lang="tr-TR" dirty="0"/>
              <a:t> </a:t>
            </a:r>
            <a:r>
              <a:rPr lang="tr-TR" dirty="0" err="1"/>
              <a:t>patterns</a:t>
            </a:r>
            <a:r>
              <a:rPr lang="tr-TR" dirty="0"/>
              <a:t> </a:t>
            </a:r>
            <a:r>
              <a:rPr lang="tr-TR" dirty="0" err="1"/>
              <a:t>related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success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b="1" dirty="0" err="1"/>
              <a:t>Folium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create</a:t>
            </a:r>
            <a:r>
              <a:rPr lang="tr-TR" dirty="0"/>
              <a:t> </a:t>
            </a:r>
            <a:r>
              <a:rPr lang="tr-TR" dirty="0" err="1"/>
              <a:t>interactive</a:t>
            </a:r>
            <a:r>
              <a:rPr lang="tr-TR" dirty="0"/>
              <a:t> </a:t>
            </a:r>
            <a:r>
              <a:rPr lang="tr-TR" dirty="0" err="1"/>
              <a:t>maps</a:t>
            </a:r>
            <a:r>
              <a:rPr lang="tr-TR" dirty="0"/>
              <a:t> </a:t>
            </a:r>
            <a:r>
              <a:rPr lang="tr-TR" dirty="0" err="1"/>
              <a:t>showing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different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sites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their</a:t>
            </a:r>
            <a:r>
              <a:rPr lang="tr-TR" dirty="0"/>
              <a:t> </a:t>
            </a:r>
            <a:r>
              <a:rPr lang="tr-TR" dirty="0" err="1"/>
              <a:t>locations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launches</a:t>
            </a:r>
            <a:r>
              <a:rPr lang="tr-TR" dirty="0"/>
              <a:t> </a:t>
            </a:r>
            <a:r>
              <a:rPr lang="tr-TR" dirty="0" err="1"/>
              <a:t>were</a:t>
            </a:r>
            <a:r>
              <a:rPr lang="tr-TR" dirty="0"/>
              <a:t> </a:t>
            </a:r>
            <a:r>
              <a:rPr lang="tr-TR" dirty="0" err="1"/>
              <a:t>then</a:t>
            </a:r>
            <a:r>
              <a:rPr lang="tr-TR" dirty="0"/>
              <a:t> </a:t>
            </a:r>
            <a:r>
              <a:rPr lang="tr-TR" dirty="0" err="1"/>
              <a:t>visualized</a:t>
            </a:r>
            <a:r>
              <a:rPr lang="tr-TR" dirty="0"/>
              <a:t> </a:t>
            </a:r>
            <a:r>
              <a:rPr lang="tr-TR" dirty="0" err="1"/>
              <a:t>according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their</a:t>
            </a:r>
            <a:r>
              <a:rPr lang="tr-TR" dirty="0"/>
              <a:t> </a:t>
            </a:r>
            <a:r>
              <a:rPr lang="tr-TR" b="1" dirty="0" err="1"/>
              <a:t>success</a:t>
            </a:r>
            <a:r>
              <a:rPr lang="tr-TR" b="1" dirty="0"/>
              <a:t> </a:t>
            </a:r>
            <a:r>
              <a:rPr lang="tr-TR" b="1" dirty="0" err="1"/>
              <a:t>or</a:t>
            </a:r>
            <a:r>
              <a:rPr lang="tr-TR" b="1" dirty="0"/>
              <a:t> </a:t>
            </a:r>
            <a:r>
              <a:rPr lang="tr-TR" b="1" dirty="0" err="1"/>
              <a:t>failure</a:t>
            </a:r>
            <a:r>
              <a:rPr lang="tr-TR" dirty="0"/>
              <a:t>, </a:t>
            </a:r>
            <a:r>
              <a:rPr lang="tr-TR" dirty="0" err="1"/>
              <a:t>allowing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distribution</a:t>
            </a:r>
            <a:r>
              <a:rPr lang="tr-TR" dirty="0"/>
              <a:t> of </a:t>
            </a:r>
            <a:r>
              <a:rPr lang="tr-TR" dirty="0" err="1"/>
              <a:t>successful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unsuccessful</a:t>
            </a:r>
            <a:r>
              <a:rPr lang="tr-TR" dirty="0"/>
              <a:t> </a:t>
            </a:r>
            <a:r>
              <a:rPr lang="tr-TR" dirty="0" err="1"/>
              <a:t>launches</a:t>
            </a:r>
            <a:r>
              <a:rPr lang="tr-TR" dirty="0"/>
              <a:t> at </a:t>
            </a:r>
            <a:r>
              <a:rPr lang="tr-TR" dirty="0" err="1"/>
              <a:t>each</a:t>
            </a:r>
            <a:r>
              <a:rPr lang="tr-TR" dirty="0"/>
              <a:t> site </a:t>
            </a:r>
            <a:r>
              <a:rPr lang="tr-TR" dirty="0" err="1"/>
              <a:t>to</a:t>
            </a:r>
            <a:r>
              <a:rPr lang="tr-TR" dirty="0"/>
              <a:t> be </a:t>
            </a:r>
            <a:r>
              <a:rPr lang="tr-TR" dirty="0" err="1"/>
              <a:t>examined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also</a:t>
            </a:r>
            <a:r>
              <a:rPr lang="tr-TR" dirty="0"/>
              <a:t> </a:t>
            </a:r>
            <a:r>
              <a:rPr lang="tr-TR" dirty="0" err="1"/>
              <a:t>explored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b="1" dirty="0" err="1"/>
              <a:t>distances</a:t>
            </a:r>
            <a:r>
              <a:rPr lang="tr-TR" b="1" dirty="0"/>
              <a:t> </a:t>
            </a:r>
            <a:r>
              <a:rPr lang="tr-TR" b="1" dirty="0" err="1"/>
              <a:t>between</a:t>
            </a:r>
            <a:r>
              <a:rPr lang="tr-TR" b="1" dirty="0"/>
              <a:t> </a:t>
            </a:r>
            <a:r>
              <a:rPr lang="tr-TR" b="1" dirty="0" err="1"/>
              <a:t>launch</a:t>
            </a:r>
            <a:r>
              <a:rPr lang="tr-TR" b="1" dirty="0"/>
              <a:t> </a:t>
            </a:r>
            <a:r>
              <a:rPr lang="tr-TR" b="1" dirty="0" err="1"/>
              <a:t>sites</a:t>
            </a:r>
            <a:r>
              <a:rPr lang="tr-TR" b="1" dirty="0"/>
              <a:t>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nearby</a:t>
            </a:r>
            <a:r>
              <a:rPr lang="tr-TR" b="1" dirty="0"/>
              <a:t> </a:t>
            </a:r>
            <a:r>
              <a:rPr lang="tr-TR" b="1" dirty="0" err="1"/>
              <a:t>geographical</a:t>
            </a:r>
            <a:r>
              <a:rPr lang="tr-TR" b="1" dirty="0"/>
              <a:t> </a:t>
            </a:r>
            <a:r>
              <a:rPr lang="tr-TR" b="1" dirty="0" err="1"/>
              <a:t>features</a:t>
            </a:r>
            <a:r>
              <a:rPr lang="tr-TR" dirty="0"/>
              <a:t>, </a:t>
            </a:r>
            <a:r>
              <a:rPr lang="tr-TR" dirty="0" err="1"/>
              <a:t>such</a:t>
            </a:r>
            <a:r>
              <a:rPr lang="tr-TR" dirty="0"/>
              <a:t> as </a:t>
            </a:r>
            <a:r>
              <a:rPr lang="tr-TR" dirty="0" err="1"/>
              <a:t>coastlines</a:t>
            </a:r>
            <a:r>
              <a:rPr lang="tr-TR" dirty="0"/>
              <a:t>, </a:t>
            </a:r>
            <a:r>
              <a:rPr lang="tr-TR" dirty="0" err="1"/>
              <a:t>cities</a:t>
            </a:r>
            <a:r>
              <a:rPr lang="tr-TR" dirty="0"/>
              <a:t>, </a:t>
            </a:r>
            <a:r>
              <a:rPr lang="tr-TR" dirty="0" err="1"/>
              <a:t>roads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other</a:t>
            </a:r>
            <a:r>
              <a:rPr lang="tr-TR" dirty="0"/>
              <a:t> </a:t>
            </a:r>
            <a:r>
              <a:rPr lang="tr-TR" dirty="0" err="1"/>
              <a:t>points</a:t>
            </a:r>
            <a:r>
              <a:rPr lang="tr-TR" dirty="0"/>
              <a:t> of </a:t>
            </a:r>
            <a:r>
              <a:rPr lang="tr-TR" dirty="0" err="1"/>
              <a:t>interest</a:t>
            </a:r>
            <a:r>
              <a:rPr lang="tr-TR" dirty="0"/>
              <a:t>. </a:t>
            </a:r>
            <a:r>
              <a:rPr lang="tr-TR" dirty="0" err="1"/>
              <a:t>Overall</a:t>
            </a:r>
            <a:r>
              <a:rPr lang="tr-TR" dirty="0"/>
              <a:t>,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work</a:t>
            </a:r>
            <a:r>
              <a:rPr lang="tr-TR" dirty="0"/>
              <a:t> </a:t>
            </a:r>
            <a:r>
              <a:rPr lang="tr-TR" dirty="0" err="1"/>
              <a:t>provides</a:t>
            </a:r>
            <a:r>
              <a:rPr lang="tr-TR" dirty="0"/>
              <a:t> a </a:t>
            </a:r>
            <a:r>
              <a:rPr lang="tr-TR" dirty="0" err="1"/>
              <a:t>geographical</a:t>
            </a:r>
            <a:r>
              <a:rPr lang="tr-TR" dirty="0"/>
              <a:t> </a:t>
            </a:r>
            <a:r>
              <a:rPr lang="tr-TR" dirty="0" err="1"/>
              <a:t>perspective</a:t>
            </a:r>
            <a:r>
              <a:rPr lang="tr-TR" dirty="0"/>
              <a:t> on </a:t>
            </a:r>
            <a:r>
              <a:rPr lang="tr-TR" dirty="0" err="1"/>
              <a:t>SpaceX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performance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helps</a:t>
            </a:r>
            <a:r>
              <a:rPr lang="tr-TR" dirty="0"/>
              <a:t> </a:t>
            </a:r>
            <a:r>
              <a:rPr lang="tr-TR" dirty="0" err="1"/>
              <a:t>identify</a:t>
            </a:r>
            <a:r>
              <a:rPr lang="tr-TR" dirty="0"/>
              <a:t> </a:t>
            </a:r>
            <a:r>
              <a:rPr lang="tr-TR" dirty="0" err="1"/>
              <a:t>factors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patterns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may</a:t>
            </a:r>
            <a:r>
              <a:rPr lang="tr-TR" dirty="0"/>
              <a:t> be </a:t>
            </a:r>
            <a:r>
              <a:rPr lang="tr-TR" dirty="0" err="1"/>
              <a:t>associated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location</a:t>
            </a:r>
            <a:r>
              <a:rPr lang="tr-TR" dirty="0"/>
              <a:t> of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sites</a:t>
            </a:r>
            <a:r>
              <a:rPr lang="tr-TR" dirty="0"/>
              <a:t>.</a:t>
            </a:r>
          </a:p>
          <a:p>
            <a:r>
              <a:rPr lang="tr-TR" dirty="0"/>
              <a:t>Here is </a:t>
            </a:r>
            <a:r>
              <a:rPr lang="tr-TR" dirty="0" err="1"/>
              <a:t>example</a:t>
            </a:r>
            <a:r>
              <a:rPr lang="tr-TR" dirty="0"/>
              <a:t> of </a:t>
            </a:r>
            <a:r>
              <a:rPr lang="tr-TR" dirty="0" err="1"/>
              <a:t>one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outputs</a:t>
            </a:r>
            <a:endParaRPr lang="tr-TR" dirty="0"/>
          </a:p>
          <a:p>
            <a:endParaRPr lang="tr-T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90D468C6-8A22-1FBE-8969-531EB1012646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AAAB6777-1EB1-F428-77A8-5426680D6238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4363B108-5D9B-8DFE-2838-1CB929AD1D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037DCFAC-2FA4-6DBF-7E52-3D1E762AA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170714" cy="466657"/>
          </a:xfrm>
        </p:spPr>
        <p:txBody>
          <a:bodyPr rtlCol="0">
            <a:normAutofit fontScale="90000"/>
          </a:bodyPr>
          <a:lstStyle/>
          <a:p>
            <a:r>
              <a:rPr lang="tr-TR" dirty="0"/>
              <a:t>TASK3: </a:t>
            </a:r>
            <a:r>
              <a:rPr lang="tr-TR" b="1" dirty="0"/>
              <a:t>EDA </a:t>
            </a:r>
            <a:r>
              <a:rPr lang="tr-TR" b="1" dirty="0" err="1"/>
              <a:t>with</a:t>
            </a:r>
            <a:r>
              <a:rPr lang="tr-TR" b="1" dirty="0"/>
              <a:t> </a:t>
            </a:r>
            <a:r>
              <a:rPr lang="tr-TR" b="1" dirty="0" err="1"/>
              <a:t>Visualization</a:t>
            </a:r>
            <a:r>
              <a:rPr lang="tr-TR" b="1" dirty="0"/>
              <a:t> </a:t>
            </a:r>
            <a:r>
              <a:rPr lang="tr-TR" b="1" dirty="0" err="1"/>
              <a:t>Lab</a:t>
            </a:r>
            <a:r>
              <a:rPr lang="tr-TR" b="1" dirty="0"/>
              <a:t> </a:t>
            </a:r>
            <a:r>
              <a:rPr lang="tr-TR" b="1" dirty="0" err="1"/>
              <a:t>Folium</a:t>
            </a:r>
            <a:br>
              <a:rPr lang="tr-TR" b="1" dirty="0"/>
            </a:br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0AD79CA-13AF-E0F6-6A5B-2BBAFBB68CFB}"/>
              </a:ext>
            </a:extLst>
          </p:cNvPr>
          <p:cNvSpPr txBox="1">
            <a:spLocks/>
          </p:cNvSpPr>
          <p:nvPr/>
        </p:nvSpPr>
        <p:spPr>
          <a:xfrm>
            <a:off x="8229600" y="2002949"/>
            <a:ext cx="3569110" cy="26477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dirty="0"/>
              <a:t>Link:</a:t>
            </a:r>
          </a:p>
          <a:p>
            <a:endParaRPr lang="tr-TR" dirty="0"/>
          </a:p>
          <a:p>
            <a:r>
              <a:rPr lang="tr-TR" dirty="0"/>
              <a:t>https://github.com/Selmabanzema/Data-Science-Capston-Project-/blob/main/lab_jupyter_launch_site_location.ipynb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17EFFC-1CDD-26FE-FA49-34FBDBBB58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7338" y="4212226"/>
            <a:ext cx="4230159" cy="211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934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C0D6C-C653-0E79-D102-F98FEF9EC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EDF359CC-AA0C-DD50-9470-4D8935A96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0757" y="1734834"/>
            <a:ext cx="5912430" cy="5123166"/>
          </a:xfrm>
        </p:spPr>
        <p:txBody>
          <a:bodyPr rtlCol="0">
            <a:normAutofit/>
          </a:bodyPr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goal</a:t>
            </a:r>
            <a:r>
              <a:rPr lang="tr-TR" dirty="0"/>
              <a:t> of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project</a:t>
            </a:r>
            <a:r>
              <a:rPr lang="tr-TR" dirty="0"/>
              <a:t> </a:t>
            </a:r>
            <a:r>
              <a:rPr lang="tr-TR" dirty="0" err="1"/>
              <a:t>was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create</a:t>
            </a:r>
            <a:r>
              <a:rPr lang="tr-TR" dirty="0"/>
              <a:t> an </a:t>
            </a:r>
            <a:r>
              <a:rPr lang="tr-TR" dirty="0" err="1"/>
              <a:t>interactive</a:t>
            </a:r>
            <a:r>
              <a:rPr lang="tr-TR" dirty="0"/>
              <a:t> </a:t>
            </a:r>
            <a:r>
              <a:rPr lang="tr-TR" dirty="0" err="1"/>
              <a:t>dashboard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analyzing</a:t>
            </a:r>
            <a:r>
              <a:rPr lang="tr-TR" dirty="0"/>
              <a:t> </a:t>
            </a:r>
            <a:r>
              <a:rPr lang="tr-TR" dirty="0" err="1"/>
              <a:t>SpaceX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records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exploring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factors</a:t>
            </a:r>
            <a:r>
              <a:rPr lang="tr-TR" dirty="0"/>
              <a:t> </a:t>
            </a:r>
            <a:r>
              <a:rPr lang="tr-TR" dirty="0" err="1"/>
              <a:t>associated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success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dashboard</a:t>
            </a:r>
            <a:r>
              <a:rPr lang="tr-TR" dirty="0"/>
              <a:t> </a:t>
            </a:r>
            <a:r>
              <a:rPr lang="tr-TR" dirty="0" err="1"/>
              <a:t>allows</a:t>
            </a:r>
            <a:r>
              <a:rPr lang="tr-TR" dirty="0"/>
              <a:t> </a:t>
            </a:r>
            <a:r>
              <a:rPr lang="tr-TR" dirty="0" err="1"/>
              <a:t>users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select</a:t>
            </a:r>
            <a:r>
              <a:rPr lang="tr-TR" dirty="0"/>
              <a:t> a </a:t>
            </a:r>
            <a:r>
              <a:rPr lang="tr-TR" dirty="0" err="1"/>
              <a:t>specific</a:t>
            </a:r>
            <a:r>
              <a:rPr lang="tr-TR" dirty="0"/>
              <a:t> </a:t>
            </a:r>
            <a:r>
              <a:rPr lang="tr-TR" b="1" dirty="0" err="1"/>
              <a:t>launch</a:t>
            </a:r>
            <a:r>
              <a:rPr lang="tr-TR" b="1" dirty="0"/>
              <a:t> site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view</a:t>
            </a:r>
            <a:r>
              <a:rPr lang="tr-TR" dirty="0"/>
              <a:t> data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all</a:t>
            </a:r>
            <a:r>
              <a:rPr lang="tr-TR" dirty="0"/>
              <a:t> </a:t>
            </a:r>
            <a:r>
              <a:rPr lang="tr-TR" dirty="0" err="1"/>
              <a:t>sites</a:t>
            </a:r>
            <a:r>
              <a:rPr lang="tr-TR" dirty="0"/>
              <a:t>, </a:t>
            </a:r>
            <a:r>
              <a:rPr lang="tr-TR" dirty="0" err="1"/>
              <a:t>with</a:t>
            </a:r>
            <a:r>
              <a:rPr lang="tr-TR" dirty="0"/>
              <a:t> a </a:t>
            </a:r>
            <a:r>
              <a:rPr lang="tr-TR" dirty="0" err="1"/>
              <a:t>pie</a:t>
            </a:r>
            <a:r>
              <a:rPr lang="tr-TR" dirty="0"/>
              <a:t> </a:t>
            </a:r>
            <a:r>
              <a:rPr lang="tr-TR" dirty="0" err="1"/>
              <a:t>chart</a:t>
            </a:r>
            <a:r>
              <a:rPr lang="tr-TR" dirty="0"/>
              <a:t> </a:t>
            </a:r>
            <a:r>
              <a:rPr lang="tr-TR" dirty="0" err="1"/>
              <a:t>showing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number</a:t>
            </a:r>
            <a:r>
              <a:rPr lang="tr-TR" dirty="0"/>
              <a:t> of </a:t>
            </a:r>
            <a:r>
              <a:rPr lang="tr-TR" dirty="0" err="1"/>
              <a:t>successful</a:t>
            </a:r>
            <a:r>
              <a:rPr lang="tr-TR" dirty="0"/>
              <a:t> </a:t>
            </a:r>
            <a:r>
              <a:rPr lang="tr-TR" dirty="0" err="1"/>
              <a:t>launches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success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failure</a:t>
            </a:r>
            <a:r>
              <a:rPr lang="tr-TR" dirty="0"/>
              <a:t> rate </a:t>
            </a:r>
            <a:r>
              <a:rPr lang="tr-TR" dirty="0" err="1"/>
              <a:t>for</a:t>
            </a:r>
            <a:r>
              <a:rPr lang="tr-TR" dirty="0"/>
              <a:t> a </a:t>
            </a:r>
            <a:r>
              <a:rPr lang="tr-TR" dirty="0" err="1"/>
              <a:t>selected</a:t>
            </a:r>
            <a:r>
              <a:rPr lang="tr-TR" dirty="0"/>
              <a:t> site. A </a:t>
            </a:r>
            <a:r>
              <a:rPr lang="tr-TR" b="1" dirty="0" err="1"/>
              <a:t>payload</a:t>
            </a:r>
            <a:r>
              <a:rPr lang="tr-TR" b="1" dirty="0"/>
              <a:t> </a:t>
            </a:r>
            <a:r>
              <a:rPr lang="tr-TR" b="1" dirty="0" err="1"/>
              <a:t>mass</a:t>
            </a:r>
            <a:r>
              <a:rPr lang="tr-TR" b="1" dirty="0"/>
              <a:t> </a:t>
            </a:r>
            <a:r>
              <a:rPr lang="tr-TR" b="1" dirty="0" err="1"/>
              <a:t>range</a:t>
            </a:r>
            <a:r>
              <a:rPr lang="tr-TR" b="1" dirty="0"/>
              <a:t> </a:t>
            </a:r>
            <a:r>
              <a:rPr lang="tr-TR" b="1" dirty="0" err="1"/>
              <a:t>slider</a:t>
            </a:r>
            <a:r>
              <a:rPr lang="tr-TR" dirty="0"/>
              <a:t> </a:t>
            </a:r>
            <a:r>
              <a:rPr lang="tr-TR" dirty="0" err="1"/>
              <a:t>allows</a:t>
            </a:r>
            <a:r>
              <a:rPr lang="tr-TR" dirty="0"/>
              <a:t> </a:t>
            </a:r>
            <a:r>
              <a:rPr lang="tr-TR" dirty="0" err="1"/>
              <a:t>users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filter</a:t>
            </a:r>
            <a:r>
              <a:rPr lang="tr-TR" dirty="0"/>
              <a:t> </a:t>
            </a:r>
            <a:r>
              <a:rPr lang="tr-TR" dirty="0" err="1"/>
              <a:t>launches</a:t>
            </a:r>
            <a:r>
              <a:rPr lang="tr-TR" dirty="0"/>
              <a:t> </a:t>
            </a:r>
            <a:r>
              <a:rPr lang="tr-TR" dirty="0" err="1"/>
              <a:t>based</a:t>
            </a:r>
            <a:r>
              <a:rPr lang="tr-TR" dirty="0"/>
              <a:t> on </a:t>
            </a:r>
            <a:r>
              <a:rPr lang="tr-TR" dirty="0" err="1"/>
              <a:t>payload</a:t>
            </a:r>
            <a:r>
              <a:rPr lang="tr-TR" dirty="0"/>
              <a:t> </a:t>
            </a:r>
            <a:r>
              <a:rPr lang="tr-TR" dirty="0" err="1"/>
              <a:t>weight</a:t>
            </a:r>
            <a:r>
              <a:rPr lang="tr-TR" dirty="0"/>
              <a:t>, </a:t>
            </a:r>
            <a:r>
              <a:rPr lang="tr-TR" dirty="0" err="1"/>
              <a:t>while</a:t>
            </a:r>
            <a:r>
              <a:rPr lang="tr-TR" dirty="0"/>
              <a:t> an </a:t>
            </a:r>
            <a:r>
              <a:rPr lang="tr-TR" dirty="0" err="1"/>
              <a:t>interactive</a:t>
            </a:r>
            <a:r>
              <a:rPr lang="tr-TR" dirty="0"/>
              <a:t> </a:t>
            </a:r>
            <a:r>
              <a:rPr lang="tr-TR" dirty="0" err="1"/>
              <a:t>scatter</a:t>
            </a:r>
            <a:r>
              <a:rPr lang="tr-TR" dirty="0"/>
              <a:t> </a:t>
            </a:r>
            <a:r>
              <a:rPr lang="tr-TR" dirty="0" err="1"/>
              <a:t>plot</a:t>
            </a:r>
            <a:r>
              <a:rPr lang="tr-TR" dirty="0"/>
              <a:t> </a:t>
            </a:r>
            <a:r>
              <a:rPr lang="tr-TR" dirty="0" err="1"/>
              <a:t>displays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relationship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</a:t>
            </a:r>
            <a:r>
              <a:rPr lang="tr-TR" b="1" dirty="0" err="1"/>
              <a:t>payload</a:t>
            </a:r>
            <a:r>
              <a:rPr lang="tr-TR" b="1" dirty="0"/>
              <a:t> </a:t>
            </a:r>
            <a:r>
              <a:rPr lang="tr-TR" b="1" dirty="0" err="1"/>
              <a:t>mass</a:t>
            </a:r>
            <a:r>
              <a:rPr lang="tr-TR" b="1" dirty="0"/>
              <a:t>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launch</a:t>
            </a:r>
            <a:r>
              <a:rPr lang="tr-TR" b="1" dirty="0"/>
              <a:t> </a:t>
            </a:r>
            <a:r>
              <a:rPr lang="tr-TR" b="1" dirty="0" err="1"/>
              <a:t>outcome</a:t>
            </a:r>
            <a:r>
              <a:rPr lang="tr-TR" dirty="0"/>
              <a:t>,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different</a:t>
            </a:r>
            <a:r>
              <a:rPr lang="tr-TR" dirty="0"/>
              <a:t> </a:t>
            </a:r>
            <a:r>
              <a:rPr lang="tr-TR" dirty="0" err="1"/>
              <a:t>booster</a:t>
            </a:r>
            <a:r>
              <a:rPr lang="tr-TR" dirty="0"/>
              <a:t> </a:t>
            </a:r>
            <a:r>
              <a:rPr lang="tr-TR" dirty="0" err="1"/>
              <a:t>categories</a:t>
            </a:r>
            <a:r>
              <a:rPr lang="tr-TR" dirty="0"/>
              <a:t> </a:t>
            </a:r>
            <a:r>
              <a:rPr lang="tr-TR" dirty="0" err="1"/>
              <a:t>shown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comparison</a:t>
            </a:r>
            <a:r>
              <a:rPr lang="tr-TR" dirty="0"/>
              <a:t>. </a:t>
            </a:r>
            <a:r>
              <a:rPr lang="tr-TR" dirty="0" err="1"/>
              <a:t>Overall</a:t>
            </a:r>
            <a:r>
              <a:rPr lang="tr-TR" dirty="0"/>
              <a:t>,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dashboard</a:t>
            </a:r>
            <a:r>
              <a:rPr lang="tr-TR" dirty="0"/>
              <a:t> </a:t>
            </a:r>
            <a:r>
              <a:rPr lang="tr-TR" dirty="0" err="1"/>
              <a:t>provides</a:t>
            </a:r>
            <a:r>
              <a:rPr lang="tr-TR" dirty="0"/>
              <a:t> an </a:t>
            </a:r>
            <a:r>
              <a:rPr lang="tr-TR" dirty="0" err="1"/>
              <a:t>interactive</a:t>
            </a:r>
            <a:r>
              <a:rPr lang="tr-TR" dirty="0"/>
              <a:t> </a:t>
            </a:r>
            <a:r>
              <a:rPr lang="tr-TR" dirty="0" err="1"/>
              <a:t>way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explore</a:t>
            </a:r>
            <a:r>
              <a:rPr lang="tr-TR" dirty="0"/>
              <a:t> </a:t>
            </a:r>
            <a:r>
              <a:rPr lang="tr-TR" dirty="0" err="1"/>
              <a:t>SpaceX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performance</a:t>
            </a:r>
            <a:r>
              <a:rPr lang="tr-TR" dirty="0"/>
              <a:t> </a:t>
            </a:r>
            <a:r>
              <a:rPr lang="tr-TR" dirty="0" err="1"/>
              <a:t>across</a:t>
            </a:r>
            <a:r>
              <a:rPr lang="tr-TR" dirty="0"/>
              <a:t> </a:t>
            </a:r>
            <a:r>
              <a:rPr lang="tr-TR" dirty="0" err="1"/>
              <a:t>different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sites</a:t>
            </a:r>
            <a:r>
              <a:rPr lang="tr-TR" dirty="0"/>
              <a:t>, </a:t>
            </a:r>
            <a:r>
              <a:rPr lang="tr-TR" dirty="0" err="1"/>
              <a:t>payload</a:t>
            </a:r>
            <a:r>
              <a:rPr lang="tr-TR" dirty="0"/>
              <a:t> </a:t>
            </a:r>
            <a:r>
              <a:rPr lang="tr-TR" dirty="0" err="1"/>
              <a:t>ranges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booster</a:t>
            </a:r>
            <a:r>
              <a:rPr lang="tr-TR" dirty="0"/>
              <a:t> </a:t>
            </a:r>
            <a:r>
              <a:rPr lang="tr-TR" dirty="0" err="1"/>
              <a:t>versions</a:t>
            </a:r>
            <a:r>
              <a:rPr lang="tr-TR" dirty="0"/>
              <a:t>.</a:t>
            </a:r>
          </a:p>
          <a:p>
            <a:endParaRPr lang="tr-TR" dirty="0"/>
          </a:p>
          <a:p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b="1" dirty="0" err="1"/>
              <a:t>pie</a:t>
            </a:r>
            <a:r>
              <a:rPr lang="tr-TR" b="1" dirty="0"/>
              <a:t> </a:t>
            </a:r>
            <a:r>
              <a:rPr lang="tr-TR" b="1" dirty="0" err="1"/>
              <a:t>chart</a:t>
            </a:r>
            <a:r>
              <a:rPr lang="tr-TR" dirty="0"/>
              <a:t>, </a:t>
            </a:r>
            <a:r>
              <a:rPr lang="tr-TR" b="1" dirty="0"/>
              <a:t>KSC LC-39A</a:t>
            </a:r>
            <a:r>
              <a:rPr lang="tr-TR" dirty="0"/>
              <a:t> </a:t>
            </a:r>
          </a:p>
          <a:p>
            <a:r>
              <a:rPr lang="tr-TR" b="1" dirty="0"/>
              <a:t>KSC LC-39A </a:t>
            </a:r>
            <a:r>
              <a:rPr lang="tr-TR" b="1" dirty="0" err="1"/>
              <a:t>recorded</a:t>
            </a:r>
            <a:r>
              <a:rPr lang="tr-TR" b="1" dirty="0"/>
              <a:t> 10 </a:t>
            </a:r>
            <a:r>
              <a:rPr lang="tr-TR" b="1" dirty="0" err="1"/>
              <a:t>successful</a:t>
            </a:r>
            <a:r>
              <a:rPr lang="tr-TR" b="1" dirty="0"/>
              <a:t> </a:t>
            </a:r>
            <a:r>
              <a:rPr lang="tr-TR" b="1" dirty="0" err="1"/>
              <a:t>landings</a:t>
            </a:r>
            <a:r>
              <a:rPr lang="tr-TR" b="1" dirty="0"/>
              <a:t> </a:t>
            </a:r>
            <a:r>
              <a:rPr lang="tr-TR" b="1" dirty="0" err="1"/>
              <a:t>out</a:t>
            </a:r>
            <a:r>
              <a:rPr lang="tr-TR" b="1" dirty="0"/>
              <a:t> of 13 </a:t>
            </a:r>
            <a:r>
              <a:rPr lang="tr-TR" b="1" dirty="0" err="1"/>
              <a:t>launches</a:t>
            </a:r>
            <a:r>
              <a:rPr lang="tr-TR" b="1" dirty="0"/>
              <a:t>, </a:t>
            </a:r>
            <a:r>
              <a:rPr lang="tr-TR" b="1" dirty="0" err="1"/>
              <a:t>corresponding</a:t>
            </a:r>
            <a:r>
              <a:rPr lang="tr-TR" b="1" dirty="0"/>
              <a:t> </a:t>
            </a:r>
            <a:r>
              <a:rPr lang="tr-TR" b="1" dirty="0" err="1"/>
              <a:t>to</a:t>
            </a:r>
            <a:r>
              <a:rPr lang="tr-TR" b="1" dirty="0"/>
              <a:t> a </a:t>
            </a:r>
            <a:r>
              <a:rPr lang="tr-TR" b="1" dirty="0" err="1"/>
              <a:t>success</a:t>
            </a:r>
            <a:r>
              <a:rPr lang="tr-TR" b="1" dirty="0"/>
              <a:t> rate of </a:t>
            </a:r>
            <a:r>
              <a:rPr lang="tr-TR" b="1" dirty="0" err="1"/>
              <a:t>approximately</a:t>
            </a:r>
            <a:r>
              <a:rPr lang="tr-TR" b="1" dirty="0"/>
              <a:t> 76.9%. </a:t>
            </a:r>
            <a:r>
              <a:rPr lang="tr-TR" b="1" dirty="0" err="1"/>
              <a:t>This</a:t>
            </a:r>
            <a:r>
              <a:rPr lang="tr-TR" b="1" dirty="0"/>
              <a:t> </a:t>
            </a:r>
            <a:r>
              <a:rPr lang="tr-TR" b="1" dirty="0" err="1"/>
              <a:t>demonstrates</a:t>
            </a:r>
            <a:r>
              <a:rPr lang="tr-TR" b="1" dirty="0"/>
              <a:t> </a:t>
            </a:r>
            <a:r>
              <a:rPr lang="tr-TR" b="1" dirty="0" err="1"/>
              <a:t>comparatively</a:t>
            </a:r>
            <a:r>
              <a:rPr lang="tr-TR" b="1" dirty="0"/>
              <a:t> </a:t>
            </a:r>
            <a:r>
              <a:rPr lang="tr-TR" b="1" dirty="0" err="1"/>
              <a:t>strong</a:t>
            </a:r>
            <a:r>
              <a:rPr lang="tr-TR" b="1" dirty="0"/>
              <a:t> </a:t>
            </a:r>
            <a:r>
              <a:rPr lang="tr-TR" b="1" dirty="0" err="1"/>
              <a:t>landing</a:t>
            </a:r>
            <a:r>
              <a:rPr lang="tr-TR" b="1" dirty="0"/>
              <a:t> </a:t>
            </a:r>
            <a:r>
              <a:rPr lang="tr-TR" b="1" dirty="0" err="1"/>
              <a:t>performance</a:t>
            </a:r>
            <a:r>
              <a:rPr lang="tr-TR" b="1" dirty="0"/>
              <a:t> </a:t>
            </a:r>
            <a:r>
              <a:rPr lang="tr-TR" b="1" dirty="0" err="1"/>
              <a:t>for</a:t>
            </a:r>
            <a:r>
              <a:rPr lang="tr-TR" b="1" dirty="0"/>
              <a:t> </a:t>
            </a:r>
            <a:r>
              <a:rPr lang="tr-TR" b="1" dirty="0" err="1"/>
              <a:t>this</a:t>
            </a:r>
            <a:r>
              <a:rPr lang="tr-TR" b="1" dirty="0"/>
              <a:t> </a:t>
            </a:r>
            <a:r>
              <a:rPr lang="tr-TR" b="1" dirty="0" err="1"/>
              <a:t>launch</a:t>
            </a:r>
            <a:r>
              <a:rPr lang="tr-TR" b="1" dirty="0"/>
              <a:t> site in </a:t>
            </a:r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dashboard</a:t>
            </a:r>
            <a:r>
              <a:rPr lang="tr-TR" b="1" dirty="0"/>
              <a:t> </a:t>
            </a:r>
            <a:r>
              <a:rPr lang="tr-TR" b="1" dirty="0" err="1"/>
              <a:t>dataset</a:t>
            </a:r>
            <a:r>
              <a:rPr lang="tr-TR" b="1" dirty="0"/>
              <a:t>.</a:t>
            </a:r>
            <a:endParaRPr lang="tr-TR" dirty="0"/>
          </a:p>
          <a:p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b="1" dirty="0" err="1"/>
              <a:t>payload</a:t>
            </a:r>
            <a:r>
              <a:rPr lang="tr-TR" b="1" dirty="0"/>
              <a:t> </a:t>
            </a:r>
            <a:r>
              <a:rPr lang="tr-TR" b="1" dirty="0" err="1"/>
              <a:t>scatter</a:t>
            </a:r>
            <a:r>
              <a:rPr lang="tr-TR" b="1" dirty="0"/>
              <a:t> </a:t>
            </a:r>
            <a:r>
              <a:rPr lang="tr-TR" b="1" dirty="0" err="1"/>
              <a:t>plot</a:t>
            </a:r>
            <a:r>
              <a:rPr lang="tr-TR" dirty="0"/>
              <a:t>, </a:t>
            </a:r>
          </a:p>
          <a:p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payload</a:t>
            </a:r>
            <a:r>
              <a:rPr lang="tr-TR" b="1" dirty="0"/>
              <a:t> </a:t>
            </a:r>
            <a:r>
              <a:rPr lang="tr-TR" b="1" dirty="0" err="1"/>
              <a:t>analysis</a:t>
            </a:r>
            <a:r>
              <a:rPr lang="tr-TR" b="1" dirty="0"/>
              <a:t> </a:t>
            </a:r>
            <a:r>
              <a:rPr lang="tr-TR" b="1" dirty="0" err="1"/>
              <a:t>shows</a:t>
            </a:r>
            <a:r>
              <a:rPr lang="tr-TR" b="1" dirty="0"/>
              <a:t> </a:t>
            </a:r>
            <a:r>
              <a:rPr lang="tr-TR" b="1" dirty="0" err="1"/>
              <a:t>that</a:t>
            </a:r>
            <a:r>
              <a:rPr lang="tr-TR" b="1" dirty="0"/>
              <a:t> </a:t>
            </a:r>
            <a:r>
              <a:rPr lang="tr-TR" b="1" dirty="0" err="1"/>
              <a:t>successful</a:t>
            </a:r>
            <a:r>
              <a:rPr lang="tr-TR" b="1" dirty="0"/>
              <a:t> </a:t>
            </a:r>
            <a:r>
              <a:rPr lang="tr-TR" b="1" dirty="0" err="1"/>
              <a:t>landings</a:t>
            </a:r>
            <a:r>
              <a:rPr lang="tr-TR" b="1" dirty="0"/>
              <a:t> </a:t>
            </a:r>
            <a:r>
              <a:rPr lang="tr-TR" b="1" dirty="0" err="1"/>
              <a:t>occur</a:t>
            </a:r>
            <a:r>
              <a:rPr lang="tr-TR" b="1" dirty="0"/>
              <a:t> </a:t>
            </a:r>
            <a:r>
              <a:rPr lang="tr-TR" b="1" dirty="0" err="1"/>
              <a:t>across</a:t>
            </a:r>
            <a:r>
              <a:rPr lang="tr-TR" b="1" dirty="0"/>
              <a:t> </a:t>
            </a:r>
            <a:r>
              <a:rPr lang="tr-TR" b="1" dirty="0" err="1"/>
              <a:t>different</a:t>
            </a:r>
            <a:r>
              <a:rPr lang="tr-TR" b="1" dirty="0"/>
              <a:t> </a:t>
            </a:r>
            <a:r>
              <a:rPr lang="tr-TR" b="1" dirty="0" err="1"/>
              <a:t>payload</a:t>
            </a:r>
            <a:r>
              <a:rPr lang="tr-TR" b="1" dirty="0"/>
              <a:t> </a:t>
            </a:r>
            <a:r>
              <a:rPr lang="tr-TR" b="1" dirty="0" err="1"/>
              <a:t>masses</a:t>
            </a:r>
            <a:r>
              <a:rPr lang="tr-TR" b="1" dirty="0"/>
              <a:t>. </a:t>
            </a:r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visualization</a:t>
            </a:r>
            <a:r>
              <a:rPr lang="tr-TR" b="1" dirty="0"/>
              <a:t> </a:t>
            </a:r>
            <a:r>
              <a:rPr lang="tr-TR" b="1" dirty="0" err="1"/>
              <a:t>also</a:t>
            </a:r>
            <a:r>
              <a:rPr lang="tr-TR" b="1" dirty="0"/>
              <a:t> </a:t>
            </a:r>
            <a:r>
              <a:rPr lang="tr-TR" b="1" dirty="0" err="1"/>
              <a:t>suggests</a:t>
            </a:r>
            <a:r>
              <a:rPr lang="tr-TR" b="1" dirty="0"/>
              <a:t> </a:t>
            </a:r>
            <a:r>
              <a:rPr lang="tr-TR" b="1" dirty="0" err="1"/>
              <a:t>that</a:t>
            </a:r>
            <a:r>
              <a:rPr lang="tr-TR" b="1" dirty="0"/>
              <a:t> </a:t>
            </a:r>
            <a:r>
              <a:rPr lang="tr-TR" b="1" dirty="0" err="1"/>
              <a:t>payload</a:t>
            </a:r>
            <a:r>
              <a:rPr lang="tr-TR" b="1" dirty="0"/>
              <a:t> </a:t>
            </a:r>
            <a:r>
              <a:rPr lang="tr-TR" b="1" dirty="0" err="1"/>
              <a:t>mass</a:t>
            </a:r>
            <a:r>
              <a:rPr lang="tr-TR" b="1" dirty="0"/>
              <a:t> </a:t>
            </a:r>
            <a:r>
              <a:rPr lang="tr-TR" b="1" dirty="0" err="1"/>
              <a:t>alone</a:t>
            </a:r>
            <a:r>
              <a:rPr lang="tr-TR" b="1" dirty="0"/>
              <a:t> </a:t>
            </a:r>
            <a:r>
              <a:rPr lang="tr-TR" b="1" dirty="0" err="1"/>
              <a:t>does</a:t>
            </a:r>
            <a:r>
              <a:rPr lang="tr-TR" b="1" dirty="0"/>
              <a:t> not </a:t>
            </a:r>
            <a:r>
              <a:rPr lang="tr-TR" b="1" dirty="0" err="1"/>
              <a:t>explain</a:t>
            </a:r>
            <a:r>
              <a:rPr lang="tr-TR" b="1" dirty="0"/>
              <a:t> </a:t>
            </a:r>
            <a:r>
              <a:rPr lang="tr-TR" b="1" dirty="0" err="1"/>
              <a:t>landing</a:t>
            </a:r>
            <a:r>
              <a:rPr lang="tr-TR" b="1" dirty="0"/>
              <a:t> </a:t>
            </a:r>
            <a:r>
              <a:rPr lang="tr-TR" b="1" dirty="0" err="1"/>
              <a:t>success</a:t>
            </a:r>
            <a:r>
              <a:rPr lang="tr-TR" b="1" dirty="0"/>
              <a:t>, </a:t>
            </a:r>
            <a:r>
              <a:rPr lang="tr-TR" b="1" dirty="0" err="1"/>
              <a:t>because</a:t>
            </a:r>
            <a:r>
              <a:rPr lang="tr-TR" b="1" dirty="0"/>
              <a:t> </a:t>
            </a:r>
            <a:r>
              <a:rPr lang="tr-TR" b="1" dirty="0" err="1"/>
              <a:t>outcomes</a:t>
            </a:r>
            <a:r>
              <a:rPr lang="tr-TR" b="1" dirty="0"/>
              <a:t> </a:t>
            </a:r>
            <a:r>
              <a:rPr lang="tr-TR" b="1" dirty="0" err="1"/>
              <a:t>vary</a:t>
            </a:r>
            <a:r>
              <a:rPr lang="tr-TR" b="1" dirty="0"/>
              <a:t> </a:t>
            </a:r>
            <a:r>
              <a:rPr lang="tr-TR" b="1" dirty="0" err="1"/>
              <a:t>across</a:t>
            </a:r>
            <a:r>
              <a:rPr lang="tr-TR" b="1" dirty="0"/>
              <a:t> </a:t>
            </a:r>
            <a:r>
              <a:rPr lang="tr-TR" b="1" dirty="0" err="1"/>
              <a:t>payload</a:t>
            </a:r>
            <a:r>
              <a:rPr lang="tr-TR" b="1" dirty="0"/>
              <a:t> </a:t>
            </a:r>
            <a:r>
              <a:rPr lang="tr-TR" b="1" dirty="0" err="1"/>
              <a:t>ranges</a:t>
            </a:r>
            <a:r>
              <a:rPr lang="tr-TR" b="1" dirty="0"/>
              <a:t>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booster</a:t>
            </a:r>
            <a:r>
              <a:rPr lang="tr-TR" b="1" dirty="0"/>
              <a:t> </a:t>
            </a:r>
            <a:r>
              <a:rPr lang="tr-TR" b="1" dirty="0" err="1"/>
              <a:t>categories</a:t>
            </a:r>
            <a:r>
              <a:rPr lang="tr-TR" b="1" dirty="0"/>
              <a:t>.</a:t>
            </a:r>
            <a:endParaRPr lang="tr-TR" dirty="0"/>
          </a:p>
          <a:p>
            <a:endParaRPr lang="tr-T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3D24E76D-D7DE-7632-3103-002CC5328E43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1940F6E3-3972-C7B6-033C-1F672A1AEEE7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55CD61BE-DAB6-8D66-7EEA-04CE9B6C5B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BDF58EBD-988F-C2DF-6AAD-C7D1BE476D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170714" cy="466657"/>
          </a:xfrm>
        </p:spPr>
        <p:txBody>
          <a:bodyPr rtlCol="0">
            <a:normAutofit fontScale="90000"/>
          </a:bodyPr>
          <a:lstStyle/>
          <a:p>
            <a:r>
              <a:rPr lang="tr-TR" dirty="0"/>
              <a:t>TASK3: </a:t>
            </a:r>
            <a:r>
              <a:rPr lang="tr-TR" b="1" dirty="0"/>
              <a:t>EDA </a:t>
            </a:r>
            <a:r>
              <a:rPr lang="tr-TR" b="1" dirty="0" err="1"/>
              <a:t>with</a:t>
            </a:r>
            <a:r>
              <a:rPr lang="tr-TR" b="1" dirty="0"/>
              <a:t> </a:t>
            </a:r>
            <a:r>
              <a:rPr lang="tr-TR" b="1" dirty="0" err="1"/>
              <a:t>Visualization</a:t>
            </a:r>
            <a:r>
              <a:rPr lang="tr-TR" b="1" dirty="0"/>
              <a:t> </a:t>
            </a:r>
            <a:r>
              <a:rPr lang="tr-TR" b="1" dirty="0" err="1"/>
              <a:t>Lab</a:t>
            </a:r>
            <a:r>
              <a:rPr lang="tr-TR" b="1" dirty="0"/>
              <a:t> </a:t>
            </a:r>
            <a:r>
              <a:rPr lang="tr-TR" b="1" dirty="0" err="1"/>
              <a:t>Dash</a:t>
            </a:r>
            <a:br>
              <a:rPr lang="tr-TR" b="1" dirty="0"/>
            </a:br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3F7EC93-6FCE-F668-34CC-16BDC3B20D62}"/>
              </a:ext>
            </a:extLst>
          </p:cNvPr>
          <p:cNvSpPr txBox="1">
            <a:spLocks/>
          </p:cNvSpPr>
          <p:nvPr/>
        </p:nvSpPr>
        <p:spPr>
          <a:xfrm>
            <a:off x="8229600" y="2002949"/>
            <a:ext cx="3569110" cy="26477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dirty="0"/>
              <a:t>Link:</a:t>
            </a:r>
          </a:p>
          <a:p>
            <a:endParaRPr lang="tr-TR" dirty="0"/>
          </a:p>
          <a:p>
            <a:r>
              <a:rPr lang="tr-TR" dirty="0"/>
              <a:t>https://github.com/Selmabanzema/Data-Science-Capston-Project-/blob/main/creating%20a%20dash.py</a:t>
            </a:r>
          </a:p>
        </p:txBody>
      </p:sp>
    </p:spTree>
    <p:extLst>
      <p:ext uri="{BB962C8B-B14F-4D97-AF65-F5344CB8AC3E}">
        <p14:creationId xmlns:p14="http://schemas.microsoft.com/office/powerpoint/2010/main" val="1557950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8F60D-A766-A3B4-34A2-7614AD066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F9B61B34-1677-8024-3C24-3E178097EC1D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703D4E22-27A0-9D9E-AAAD-F6CD5FAEF036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142BEA0A-C5E7-ECDF-432D-DC9F212760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D3195CF6-455B-E049-A07E-FC96A31A2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170714" cy="466657"/>
          </a:xfrm>
        </p:spPr>
        <p:txBody>
          <a:bodyPr rtlCol="0">
            <a:normAutofit fontScale="90000"/>
          </a:bodyPr>
          <a:lstStyle/>
          <a:p>
            <a:r>
              <a:rPr lang="tr-TR" dirty="0"/>
              <a:t>TASK3: </a:t>
            </a:r>
            <a:r>
              <a:rPr lang="tr-TR" b="1" dirty="0"/>
              <a:t>EDA </a:t>
            </a:r>
            <a:r>
              <a:rPr lang="tr-TR" b="1" dirty="0" err="1"/>
              <a:t>with</a:t>
            </a:r>
            <a:r>
              <a:rPr lang="tr-TR" b="1" dirty="0"/>
              <a:t> </a:t>
            </a:r>
            <a:r>
              <a:rPr lang="tr-TR" b="1" dirty="0" err="1"/>
              <a:t>Visualization</a:t>
            </a:r>
            <a:r>
              <a:rPr lang="tr-TR" b="1" dirty="0"/>
              <a:t> </a:t>
            </a:r>
            <a:r>
              <a:rPr lang="tr-TR" b="1" dirty="0" err="1"/>
              <a:t>Lab</a:t>
            </a:r>
            <a:r>
              <a:rPr lang="tr-TR" b="1" dirty="0"/>
              <a:t> </a:t>
            </a:r>
            <a:r>
              <a:rPr lang="tr-TR" b="1" dirty="0" err="1"/>
              <a:t>Dash</a:t>
            </a:r>
            <a:br>
              <a:rPr lang="tr-TR" b="1" dirty="0"/>
            </a:br>
            <a:endParaRPr lang="tr-T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277DAF-B308-0A4F-AA76-FF991FE323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809" y="1719430"/>
            <a:ext cx="2962974" cy="25529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CC62E4-B0D4-BB4A-3AB9-A1AE7575E2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8998" y="1668627"/>
            <a:ext cx="5723116" cy="35207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3F257D-768F-3F5A-7971-334F8E0BA5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7062" y="4402758"/>
            <a:ext cx="2264419" cy="227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336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64409-5BFA-19C6-1081-49689412D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8E4975D9-E528-CFF9-5E8F-0CE1F397C2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0757" y="1734834"/>
            <a:ext cx="5912430" cy="5123166"/>
          </a:xfrm>
        </p:spPr>
        <p:txBody>
          <a:bodyPr rtlCol="0">
            <a:normAutofit/>
          </a:bodyPr>
          <a:lstStyle/>
          <a:p>
            <a:r>
              <a:rPr lang="tr-TR" b="1" dirty="0"/>
              <a:t>Machine Learning Model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Results</a:t>
            </a:r>
            <a:endParaRPr lang="tr-TR" b="1" dirty="0"/>
          </a:p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goal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machine</a:t>
            </a:r>
            <a:r>
              <a:rPr lang="tr-TR" dirty="0"/>
              <a:t> </a:t>
            </a:r>
            <a:r>
              <a:rPr lang="tr-TR" dirty="0" err="1"/>
              <a:t>learning</a:t>
            </a:r>
            <a:r>
              <a:rPr lang="tr-TR" dirty="0"/>
              <a:t> </a:t>
            </a:r>
            <a:r>
              <a:rPr lang="tr-TR" dirty="0" err="1"/>
              <a:t>stage</a:t>
            </a:r>
            <a:r>
              <a:rPr lang="tr-TR" dirty="0"/>
              <a:t> </a:t>
            </a:r>
            <a:r>
              <a:rPr lang="tr-TR" dirty="0" err="1"/>
              <a:t>was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develop</a:t>
            </a:r>
            <a:r>
              <a:rPr lang="tr-TR" dirty="0"/>
              <a:t> a </a:t>
            </a:r>
            <a:r>
              <a:rPr lang="tr-TR" dirty="0" err="1"/>
              <a:t>classification</a:t>
            </a:r>
            <a:r>
              <a:rPr lang="tr-TR" dirty="0"/>
              <a:t> model </a:t>
            </a:r>
            <a:r>
              <a:rPr lang="tr-TR" dirty="0" err="1"/>
              <a:t>capable</a:t>
            </a:r>
            <a:r>
              <a:rPr lang="tr-TR" dirty="0"/>
              <a:t> of </a:t>
            </a:r>
            <a:r>
              <a:rPr lang="tr-TR" dirty="0" err="1"/>
              <a:t>predicting</a:t>
            </a:r>
            <a:r>
              <a:rPr lang="tr-TR" dirty="0"/>
              <a:t> </a:t>
            </a:r>
            <a:r>
              <a:rPr lang="tr-TR" dirty="0" err="1"/>
              <a:t>whether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b="1" dirty="0"/>
              <a:t>Falcon 9 </a:t>
            </a:r>
            <a:r>
              <a:rPr lang="tr-TR" b="1" dirty="0" err="1"/>
              <a:t>first</a:t>
            </a:r>
            <a:r>
              <a:rPr lang="tr-TR" b="1" dirty="0"/>
              <a:t> </a:t>
            </a:r>
            <a:r>
              <a:rPr lang="tr-TR" b="1" dirty="0" err="1"/>
              <a:t>stage</a:t>
            </a:r>
            <a:r>
              <a:rPr lang="tr-TR" b="1" dirty="0"/>
              <a:t> </a:t>
            </a:r>
            <a:r>
              <a:rPr lang="tr-TR" b="1" dirty="0" err="1"/>
              <a:t>would</a:t>
            </a:r>
            <a:r>
              <a:rPr lang="tr-TR" b="1" dirty="0"/>
              <a:t> </a:t>
            </a:r>
            <a:r>
              <a:rPr lang="tr-TR" b="1" dirty="0" err="1"/>
              <a:t>successfully</a:t>
            </a:r>
            <a:r>
              <a:rPr lang="tr-TR" b="1" dirty="0"/>
              <a:t> </a:t>
            </a:r>
            <a:r>
              <a:rPr lang="tr-TR" b="1" dirty="0" err="1"/>
              <a:t>land</a:t>
            </a:r>
            <a:r>
              <a:rPr lang="tr-TR" dirty="0"/>
              <a:t>. </a:t>
            </a:r>
            <a:r>
              <a:rPr lang="tr-TR" dirty="0" err="1"/>
              <a:t>After</a:t>
            </a:r>
            <a:r>
              <a:rPr lang="tr-TR" dirty="0"/>
              <a:t> </a:t>
            </a:r>
            <a:r>
              <a:rPr lang="tr-TR" dirty="0" err="1"/>
              <a:t>preparing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dataset</a:t>
            </a:r>
            <a:r>
              <a:rPr lang="tr-TR" dirty="0"/>
              <a:t>, </a:t>
            </a:r>
            <a:r>
              <a:rPr lang="tr-TR" dirty="0" err="1"/>
              <a:t>categorical</a:t>
            </a:r>
            <a:r>
              <a:rPr lang="tr-TR" dirty="0"/>
              <a:t> </a:t>
            </a:r>
            <a:r>
              <a:rPr lang="tr-TR" dirty="0" err="1"/>
              <a:t>variables</a:t>
            </a:r>
            <a:r>
              <a:rPr lang="tr-TR" dirty="0"/>
              <a:t> </a:t>
            </a:r>
            <a:r>
              <a:rPr lang="tr-TR" dirty="0" err="1"/>
              <a:t>were</a:t>
            </a:r>
            <a:r>
              <a:rPr lang="tr-TR" dirty="0"/>
              <a:t> </a:t>
            </a:r>
            <a:r>
              <a:rPr lang="tr-TR" dirty="0" err="1"/>
              <a:t>transformed</a:t>
            </a:r>
            <a:r>
              <a:rPr lang="tr-TR" dirty="0"/>
              <a:t> </a:t>
            </a:r>
            <a:r>
              <a:rPr lang="tr-TR" dirty="0" err="1"/>
              <a:t>into</a:t>
            </a:r>
            <a:r>
              <a:rPr lang="tr-TR" dirty="0"/>
              <a:t> </a:t>
            </a:r>
            <a:r>
              <a:rPr lang="tr-TR" dirty="0" err="1"/>
              <a:t>numerical</a:t>
            </a:r>
            <a:r>
              <a:rPr lang="tr-TR" dirty="0"/>
              <a:t> </a:t>
            </a:r>
            <a:r>
              <a:rPr lang="tr-TR" dirty="0" err="1"/>
              <a:t>features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data </a:t>
            </a:r>
            <a:r>
              <a:rPr lang="tr-TR" dirty="0" err="1"/>
              <a:t>was</a:t>
            </a:r>
            <a:r>
              <a:rPr lang="tr-TR" dirty="0"/>
              <a:t> </a:t>
            </a:r>
            <a:r>
              <a:rPr lang="tr-TR" dirty="0" err="1"/>
              <a:t>divided</a:t>
            </a:r>
            <a:r>
              <a:rPr lang="tr-TR" dirty="0"/>
              <a:t> </a:t>
            </a:r>
            <a:r>
              <a:rPr lang="tr-TR" dirty="0" err="1"/>
              <a:t>into</a:t>
            </a:r>
            <a:r>
              <a:rPr lang="tr-TR" dirty="0"/>
              <a:t> </a:t>
            </a:r>
            <a:r>
              <a:rPr lang="tr-TR" dirty="0" err="1"/>
              <a:t>training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testing</a:t>
            </a:r>
            <a:r>
              <a:rPr lang="tr-TR" dirty="0"/>
              <a:t> </a:t>
            </a:r>
            <a:r>
              <a:rPr lang="tr-TR" dirty="0" err="1"/>
              <a:t>sets</a:t>
            </a:r>
            <a:r>
              <a:rPr lang="tr-TR" dirty="0"/>
              <a:t>. </a:t>
            </a:r>
            <a:r>
              <a:rPr lang="tr-TR" dirty="0" err="1"/>
              <a:t>Several</a:t>
            </a:r>
            <a:r>
              <a:rPr lang="tr-TR" dirty="0"/>
              <a:t> </a:t>
            </a:r>
            <a:r>
              <a:rPr lang="tr-TR" dirty="0" err="1"/>
              <a:t>classification</a:t>
            </a:r>
            <a:r>
              <a:rPr lang="tr-TR" dirty="0"/>
              <a:t> </a:t>
            </a:r>
            <a:r>
              <a:rPr lang="tr-TR" dirty="0" err="1"/>
              <a:t>algorithms</a:t>
            </a:r>
            <a:r>
              <a:rPr lang="tr-TR" dirty="0"/>
              <a:t> </a:t>
            </a:r>
            <a:r>
              <a:rPr lang="tr-TR" dirty="0" err="1"/>
              <a:t>were</a:t>
            </a:r>
            <a:r>
              <a:rPr lang="tr-TR" dirty="0"/>
              <a:t> </a:t>
            </a:r>
            <a:r>
              <a:rPr lang="tr-TR" dirty="0" err="1"/>
              <a:t>then</a:t>
            </a:r>
            <a:r>
              <a:rPr lang="tr-TR" dirty="0"/>
              <a:t> </a:t>
            </a:r>
            <a:r>
              <a:rPr lang="tr-TR" dirty="0" err="1"/>
              <a:t>applied</a:t>
            </a:r>
            <a:r>
              <a:rPr lang="tr-TR" dirty="0"/>
              <a:t>, </a:t>
            </a:r>
            <a:r>
              <a:rPr lang="tr-TR" dirty="0" err="1"/>
              <a:t>including</a:t>
            </a:r>
            <a:r>
              <a:rPr lang="tr-TR" dirty="0"/>
              <a:t> </a:t>
            </a:r>
            <a:r>
              <a:rPr lang="tr-TR" b="1" dirty="0" err="1"/>
              <a:t>Logistic</a:t>
            </a:r>
            <a:r>
              <a:rPr lang="tr-TR" b="1" dirty="0"/>
              <a:t> </a:t>
            </a:r>
            <a:r>
              <a:rPr lang="tr-TR" b="1" dirty="0" err="1"/>
              <a:t>Regression</a:t>
            </a:r>
            <a:r>
              <a:rPr lang="tr-TR" b="1" dirty="0"/>
              <a:t>, </a:t>
            </a:r>
            <a:r>
              <a:rPr lang="tr-TR" b="1" dirty="0" err="1"/>
              <a:t>Support</a:t>
            </a:r>
            <a:r>
              <a:rPr lang="tr-TR" b="1" dirty="0"/>
              <a:t> </a:t>
            </a:r>
            <a:r>
              <a:rPr lang="tr-TR" b="1" dirty="0" err="1"/>
              <a:t>Vector</a:t>
            </a:r>
            <a:r>
              <a:rPr lang="tr-TR" b="1" dirty="0"/>
              <a:t> Machine (SVM), </a:t>
            </a:r>
            <a:r>
              <a:rPr lang="tr-TR" b="1" dirty="0" err="1"/>
              <a:t>Decision</a:t>
            </a:r>
            <a:r>
              <a:rPr lang="tr-TR" b="1" dirty="0"/>
              <a:t> </a:t>
            </a:r>
            <a:r>
              <a:rPr lang="tr-TR" b="1" dirty="0" err="1"/>
              <a:t>Tree</a:t>
            </a:r>
            <a:r>
              <a:rPr lang="tr-TR" b="1" dirty="0"/>
              <a:t>, </a:t>
            </a:r>
            <a:r>
              <a:rPr lang="tr-TR" b="1" dirty="0" err="1"/>
              <a:t>and</a:t>
            </a:r>
            <a:r>
              <a:rPr lang="tr-TR" b="1" dirty="0"/>
              <a:t> K-</a:t>
            </a:r>
            <a:r>
              <a:rPr lang="tr-TR" b="1" dirty="0" err="1"/>
              <a:t>Nearest</a:t>
            </a:r>
            <a:r>
              <a:rPr lang="tr-TR" b="1" dirty="0"/>
              <a:t> </a:t>
            </a:r>
            <a:r>
              <a:rPr lang="tr-TR" b="1" dirty="0" err="1"/>
              <a:t>Neighbors</a:t>
            </a:r>
            <a:r>
              <a:rPr lang="tr-TR" b="1" dirty="0"/>
              <a:t> (KNN)</a:t>
            </a:r>
            <a:r>
              <a:rPr lang="tr-TR" dirty="0"/>
              <a:t>. </a:t>
            </a:r>
            <a:r>
              <a:rPr lang="tr-TR" dirty="0" err="1"/>
              <a:t>Hyperparameter</a:t>
            </a:r>
            <a:r>
              <a:rPr lang="tr-TR" dirty="0"/>
              <a:t> </a:t>
            </a:r>
            <a:r>
              <a:rPr lang="tr-TR" dirty="0" err="1"/>
              <a:t>tuning</a:t>
            </a:r>
            <a:r>
              <a:rPr lang="tr-TR" dirty="0"/>
              <a:t> </a:t>
            </a:r>
            <a:r>
              <a:rPr lang="tr-TR" dirty="0" err="1"/>
              <a:t>was</a:t>
            </a:r>
            <a:r>
              <a:rPr lang="tr-TR" dirty="0"/>
              <a:t> </a:t>
            </a:r>
            <a:r>
              <a:rPr lang="tr-TR" dirty="0" err="1"/>
              <a:t>performed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b="1" dirty="0" err="1"/>
              <a:t>GridSearchCV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identify</a:t>
            </a:r>
            <a:r>
              <a:rPr lang="tr-TR" dirty="0"/>
              <a:t> </a:t>
            </a:r>
            <a:r>
              <a:rPr lang="tr-TR" dirty="0" err="1"/>
              <a:t>suitable</a:t>
            </a:r>
            <a:r>
              <a:rPr lang="tr-TR" dirty="0"/>
              <a:t> </a:t>
            </a:r>
            <a:r>
              <a:rPr lang="tr-TR" dirty="0" err="1"/>
              <a:t>parameter</a:t>
            </a:r>
            <a:r>
              <a:rPr lang="tr-TR" dirty="0"/>
              <a:t> </a:t>
            </a:r>
            <a:r>
              <a:rPr lang="tr-TR" dirty="0" err="1"/>
              <a:t>combinations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improve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predictive</a:t>
            </a:r>
            <a:r>
              <a:rPr lang="tr-TR" dirty="0"/>
              <a:t> </a:t>
            </a:r>
            <a:r>
              <a:rPr lang="tr-TR" dirty="0" err="1"/>
              <a:t>performance</a:t>
            </a:r>
            <a:r>
              <a:rPr lang="tr-TR" dirty="0"/>
              <a:t> of </a:t>
            </a:r>
            <a:r>
              <a:rPr lang="tr-TR" dirty="0" err="1"/>
              <a:t>each</a:t>
            </a:r>
            <a:r>
              <a:rPr lang="tr-TR" dirty="0"/>
              <a:t> model.</a:t>
            </a:r>
          </a:p>
          <a:p>
            <a:r>
              <a:rPr lang="tr-TR" b="1" dirty="0"/>
              <a:t>Model Evaluation</a:t>
            </a:r>
          </a:p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models</a:t>
            </a:r>
            <a:r>
              <a:rPr lang="tr-TR" dirty="0"/>
              <a:t> </a:t>
            </a:r>
            <a:r>
              <a:rPr lang="tr-TR" dirty="0" err="1"/>
              <a:t>were</a:t>
            </a:r>
            <a:r>
              <a:rPr lang="tr-TR" dirty="0"/>
              <a:t> </a:t>
            </a:r>
            <a:r>
              <a:rPr lang="tr-TR" dirty="0" err="1"/>
              <a:t>evaluated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dirty="0" err="1"/>
              <a:t>several</a:t>
            </a:r>
            <a:r>
              <a:rPr lang="tr-TR" dirty="0"/>
              <a:t> </a:t>
            </a:r>
            <a:r>
              <a:rPr lang="tr-TR" dirty="0" err="1"/>
              <a:t>complementary</a:t>
            </a:r>
            <a:r>
              <a:rPr lang="tr-TR" dirty="0"/>
              <a:t> </a:t>
            </a:r>
            <a:r>
              <a:rPr lang="tr-TR" dirty="0" err="1"/>
              <a:t>metrics</a:t>
            </a:r>
            <a:r>
              <a:rPr lang="tr-TR" dirty="0"/>
              <a:t> </a:t>
            </a:r>
            <a:r>
              <a:rPr lang="tr-TR" dirty="0" err="1"/>
              <a:t>rather</a:t>
            </a:r>
            <a:r>
              <a:rPr lang="tr-TR" dirty="0"/>
              <a:t> </a:t>
            </a:r>
            <a:r>
              <a:rPr lang="tr-TR" dirty="0" err="1"/>
              <a:t>than</a:t>
            </a:r>
            <a:r>
              <a:rPr lang="tr-TR" dirty="0"/>
              <a:t> </a:t>
            </a:r>
            <a:r>
              <a:rPr lang="tr-TR" dirty="0" err="1"/>
              <a:t>relying</a:t>
            </a:r>
            <a:r>
              <a:rPr lang="tr-TR" dirty="0"/>
              <a:t> </a:t>
            </a:r>
            <a:r>
              <a:rPr lang="tr-TR" dirty="0" err="1"/>
              <a:t>only</a:t>
            </a:r>
            <a:r>
              <a:rPr lang="tr-TR" dirty="0"/>
              <a:t> on </a:t>
            </a:r>
            <a:r>
              <a:rPr lang="tr-TR" dirty="0" err="1"/>
              <a:t>accuracy</a:t>
            </a:r>
            <a:r>
              <a:rPr lang="tr-TR" dirty="0"/>
              <a:t>. </a:t>
            </a:r>
            <a:r>
              <a:rPr lang="tr-TR" b="1" dirty="0" err="1"/>
              <a:t>Accuracy</a:t>
            </a:r>
            <a:r>
              <a:rPr lang="tr-TR" dirty="0"/>
              <a:t> </a:t>
            </a:r>
            <a:r>
              <a:rPr lang="tr-TR" dirty="0" err="1"/>
              <a:t>measured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overall</a:t>
            </a:r>
            <a:r>
              <a:rPr lang="tr-TR" dirty="0"/>
              <a:t> </a:t>
            </a:r>
            <a:r>
              <a:rPr lang="tr-TR" dirty="0" err="1"/>
              <a:t>proportion</a:t>
            </a:r>
            <a:r>
              <a:rPr lang="tr-TR" dirty="0"/>
              <a:t> of </a:t>
            </a:r>
            <a:r>
              <a:rPr lang="tr-TR" dirty="0" err="1"/>
              <a:t>correct</a:t>
            </a:r>
            <a:r>
              <a:rPr lang="tr-TR" dirty="0"/>
              <a:t> </a:t>
            </a:r>
            <a:r>
              <a:rPr lang="tr-TR" dirty="0" err="1"/>
              <a:t>predictions</a:t>
            </a:r>
            <a:r>
              <a:rPr lang="tr-TR" dirty="0"/>
              <a:t>, </a:t>
            </a:r>
            <a:r>
              <a:rPr lang="tr-TR" dirty="0" err="1"/>
              <a:t>while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b="1" dirty="0"/>
              <a:t>F1 </a:t>
            </a:r>
            <a:r>
              <a:rPr lang="tr-TR" b="1" dirty="0" err="1"/>
              <a:t>score</a:t>
            </a:r>
            <a:r>
              <a:rPr lang="tr-TR" dirty="0"/>
              <a:t> </a:t>
            </a:r>
            <a:r>
              <a:rPr lang="tr-TR" dirty="0" err="1"/>
              <a:t>provided</a:t>
            </a:r>
            <a:r>
              <a:rPr lang="tr-TR" dirty="0"/>
              <a:t> a </a:t>
            </a:r>
            <a:r>
              <a:rPr lang="tr-TR" dirty="0" err="1"/>
              <a:t>balance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</a:t>
            </a:r>
            <a:r>
              <a:rPr lang="tr-TR" dirty="0" err="1"/>
              <a:t>precision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recall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b="1" dirty="0" err="1"/>
              <a:t>Jaccard</a:t>
            </a:r>
            <a:r>
              <a:rPr lang="tr-TR" b="1" dirty="0"/>
              <a:t> </a:t>
            </a:r>
            <a:r>
              <a:rPr lang="tr-TR" b="1" dirty="0" err="1"/>
              <a:t>score</a:t>
            </a:r>
            <a:r>
              <a:rPr lang="tr-TR" dirty="0"/>
              <a:t> </a:t>
            </a:r>
            <a:r>
              <a:rPr lang="tr-TR" dirty="0" err="1"/>
              <a:t>measured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similarity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predicted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actual</a:t>
            </a:r>
            <a:r>
              <a:rPr lang="tr-TR" dirty="0"/>
              <a:t> </a:t>
            </a:r>
            <a:r>
              <a:rPr lang="tr-TR" dirty="0" err="1"/>
              <a:t>successful-landing</a:t>
            </a:r>
            <a:r>
              <a:rPr lang="tr-TR" dirty="0"/>
              <a:t> </a:t>
            </a:r>
            <a:r>
              <a:rPr lang="tr-TR" dirty="0" err="1"/>
              <a:t>classes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b="1" dirty="0" err="1"/>
              <a:t>confusion</a:t>
            </a:r>
            <a:r>
              <a:rPr lang="tr-TR" b="1" dirty="0"/>
              <a:t> </a:t>
            </a:r>
            <a:r>
              <a:rPr lang="tr-TR" b="1" dirty="0" err="1"/>
              <a:t>matrix</a:t>
            </a:r>
            <a:r>
              <a:rPr lang="tr-TR" dirty="0"/>
              <a:t> </a:t>
            </a:r>
            <a:r>
              <a:rPr lang="tr-TR" dirty="0" err="1"/>
              <a:t>provided</a:t>
            </a:r>
            <a:r>
              <a:rPr lang="tr-TR" dirty="0"/>
              <a:t> a </a:t>
            </a:r>
            <a:r>
              <a:rPr lang="tr-TR" dirty="0" err="1"/>
              <a:t>more</a:t>
            </a:r>
            <a:r>
              <a:rPr lang="tr-TR" dirty="0"/>
              <a:t> </a:t>
            </a:r>
            <a:r>
              <a:rPr lang="tr-TR" dirty="0" err="1"/>
              <a:t>detailed</a:t>
            </a:r>
            <a:r>
              <a:rPr lang="tr-TR" dirty="0"/>
              <a:t> </a:t>
            </a:r>
            <a:r>
              <a:rPr lang="tr-TR" dirty="0" err="1"/>
              <a:t>view</a:t>
            </a:r>
            <a:r>
              <a:rPr lang="tr-TR" dirty="0"/>
              <a:t> of </a:t>
            </a:r>
            <a:r>
              <a:rPr lang="tr-TR" dirty="0" err="1"/>
              <a:t>correct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incorrect</a:t>
            </a:r>
            <a:r>
              <a:rPr lang="tr-TR" dirty="0"/>
              <a:t> </a:t>
            </a:r>
            <a:r>
              <a:rPr lang="tr-TR" dirty="0" err="1"/>
              <a:t>predictions</a:t>
            </a:r>
            <a:r>
              <a:rPr lang="tr-TR" dirty="0"/>
              <a:t>. </a:t>
            </a:r>
            <a:r>
              <a:rPr lang="tr-TR" dirty="0" err="1"/>
              <a:t>Comparing</a:t>
            </a:r>
            <a:r>
              <a:rPr lang="tr-TR" dirty="0"/>
              <a:t> </a:t>
            </a:r>
            <a:r>
              <a:rPr lang="tr-TR" dirty="0" err="1"/>
              <a:t>these</a:t>
            </a:r>
            <a:r>
              <a:rPr lang="tr-TR" dirty="0"/>
              <a:t> </a:t>
            </a:r>
            <a:r>
              <a:rPr lang="tr-TR" dirty="0" err="1"/>
              <a:t>metrics</a:t>
            </a:r>
            <a:r>
              <a:rPr lang="tr-TR" dirty="0"/>
              <a:t> </a:t>
            </a:r>
            <a:r>
              <a:rPr lang="tr-TR" dirty="0" err="1"/>
              <a:t>made</a:t>
            </a:r>
            <a:r>
              <a:rPr lang="tr-TR" dirty="0"/>
              <a:t> it </a:t>
            </a:r>
            <a:r>
              <a:rPr lang="tr-TR" dirty="0" err="1"/>
              <a:t>possible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examine</a:t>
            </a:r>
            <a:r>
              <a:rPr lang="tr-TR" dirty="0"/>
              <a:t> not </a:t>
            </a:r>
            <a:r>
              <a:rPr lang="tr-TR" dirty="0" err="1"/>
              <a:t>only</a:t>
            </a:r>
            <a:r>
              <a:rPr lang="tr-TR" dirty="0"/>
              <a:t> how </a:t>
            </a:r>
            <a:r>
              <a:rPr lang="tr-TR" dirty="0" err="1"/>
              <a:t>often</a:t>
            </a:r>
            <a:r>
              <a:rPr lang="tr-TR" dirty="0"/>
              <a:t> </a:t>
            </a:r>
            <a:r>
              <a:rPr lang="tr-TR" dirty="0" err="1"/>
              <a:t>each</a:t>
            </a:r>
            <a:r>
              <a:rPr lang="tr-TR" dirty="0"/>
              <a:t> model </a:t>
            </a:r>
            <a:r>
              <a:rPr lang="tr-TR" dirty="0" err="1"/>
              <a:t>was</a:t>
            </a:r>
            <a:r>
              <a:rPr lang="tr-TR" dirty="0"/>
              <a:t> </a:t>
            </a:r>
            <a:r>
              <a:rPr lang="tr-TR" dirty="0" err="1"/>
              <a:t>correct</a:t>
            </a:r>
            <a:r>
              <a:rPr lang="tr-TR" dirty="0"/>
              <a:t>, but </a:t>
            </a:r>
            <a:r>
              <a:rPr lang="tr-TR" dirty="0" err="1"/>
              <a:t>also</a:t>
            </a:r>
            <a:r>
              <a:rPr lang="tr-TR" dirty="0"/>
              <a:t> how </a:t>
            </a:r>
            <a:r>
              <a:rPr lang="tr-TR" dirty="0" err="1"/>
              <a:t>effectively</a:t>
            </a:r>
            <a:r>
              <a:rPr lang="tr-TR" dirty="0"/>
              <a:t> it </a:t>
            </a:r>
            <a:r>
              <a:rPr lang="tr-TR" dirty="0" err="1"/>
              <a:t>identified</a:t>
            </a:r>
            <a:r>
              <a:rPr lang="tr-TR" dirty="0"/>
              <a:t> </a:t>
            </a:r>
            <a:r>
              <a:rPr lang="tr-TR" dirty="0" err="1"/>
              <a:t>successful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unsuccessful</a:t>
            </a:r>
            <a:r>
              <a:rPr lang="tr-TR" dirty="0"/>
              <a:t> </a:t>
            </a:r>
            <a:r>
              <a:rPr lang="tr-TR" dirty="0" err="1"/>
              <a:t>landings</a:t>
            </a:r>
            <a:r>
              <a:rPr lang="tr-TR" dirty="0"/>
              <a:t>.</a:t>
            </a:r>
          </a:p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evaluation</a:t>
            </a:r>
            <a:r>
              <a:rPr lang="tr-TR" dirty="0"/>
              <a:t> </a:t>
            </a:r>
            <a:r>
              <a:rPr lang="tr-TR" dirty="0" err="1"/>
              <a:t>shows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machine</a:t>
            </a:r>
            <a:r>
              <a:rPr lang="tr-TR" dirty="0"/>
              <a:t> </a:t>
            </a:r>
            <a:r>
              <a:rPr lang="tr-TR" dirty="0" err="1"/>
              <a:t>learning</a:t>
            </a:r>
            <a:r>
              <a:rPr lang="tr-TR" dirty="0"/>
              <a:t> can </a:t>
            </a:r>
            <a:r>
              <a:rPr lang="tr-TR" dirty="0" err="1"/>
              <a:t>capture</a:t>
            </a:r>
            <a:r>
              <a:rPr lang="tr-TR" dirty="0"/>
              <a:t> </a:t>
            </a:r>
            <a:r>
              <a:rPr lang="tr-TR" dirty="0" err="1"/>
              <a:t>meaningful</a:t>
            </a:r>
            <a:r>
              <a:rPr lang="tr-TR" dirty="0"/>
              <a:t> </a:t>
            </a:r>
            <a:r>
              <a:rPr lang="tr-TR" dirty="0" err="1"/>
              <a:t>relationships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characteristics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Falcon 9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outcomes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differences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models</a:t>
            </a:r>
            <a:r>
              <a:rPr lang="tr-TR" dirty="0"/>
              <a:t> </a:t>
            </a:r>
            <a:r>
              <a:rPr lang="tr-TR" dirty="0" err="1"/>
              <a:t>demonstrate</a:t>
            </a:r>
            <a:r>
              <a:rPr lang="tr-TR" dirty="0"/>
              <a:t> </a:t>
            </a:r>
            <a:r>
              <a:rPr lang="tr-TR" dirty="0" err="1"/>
              <a:t>why</a:t>
            </a:r>
            <a:r>
              <a:rPr lang="tr-TR" dirty="0"/>
              <a:t> model </a:t>
            </a:r>
            <a:r>
              <a:rPr lang="tr-TR" dirty="0" err="1"/>
              <a:t>comparison</a:t>
            </a:r>
            <a:r>
              <a:rPr lang="tr-TR" dirty="0"/>
              <a:t> is </a:t>
            </a:r>
            <a:r>
              <a:rPr lang="tr-TR" dirty="0" err="1"/>
              <a:t>important</a:t>
            </a:r>
            <a:r>
              <a:rPr lang="tr-TR" dirty="0"/>
              <a:t>: a model </a:t>
            </a:r>
            <a:r>
              <a:rPr lang="tr-TR" dirty="0" err="1"/>
              <a:t>with</a:t>
            </a:r>
            <a:r>
              <a:rPr lang="tr-TR" dirty="0"/>
              <a:t> a </a:t>
            </a:r>
            <a:r>
              <a:rPr lang="tr-TR" dirty="0" err="1"/>
              <a:t>strong</a:t>
            </a:r>
            <a:r>
              <a:rPr lang="tr-TR" dirty="0"/>
              <a:t> </a:t>
            </a:r>
            <a:r>
              <a:rPr lang="tr-TR" dirty="0" err="1"/>
              <a:t>overall</a:t>
            </a:r>
            <a:r>
              <a:rPr lang="tr-TR" dirty="0"/>
              <a:t> </a:t>
            </a:r>
            <a:r>
              <a:rPr lang="tr-TR" dirty="0" err="1"/>
              <a:t>accuracy</a:t>
            </a:r>
            <a:r>
              <a:rPr lang="tr-TR" dirty="0"/>
              <a:t> </a:t>
            </a:r>
            <a:r>
              <a:rPr lang="tr-TR" dirty="0" err="1"/>
              <a:t>may</a:t>
            </a:r>
            <a:r>
              <a:rPr lang="tr-TR" dirty="0"/>
              <a:t> </a:t>
            </a:r>
            <a:r>
              <a:rPr lang="tr-TR" dirty="0" err="1"/>
              <a:t>still</a:t>
            </a:r>
            <a:r>
              <a:rPr lang="tr-TR" dirty="0"/>
              <a:t> </a:t>
            </a:r>
            <a:r>
              <a:rPr lang="tr-TR" dirty="0" err="1"/>
              <a:t>produce</a:t>
            </a:r>
            <a:r>
              <a:rPr lang="tr-TR" dirty="0"/>
              <a:t> </a:t>
            </a:r>
            <a:r>
              <a:rPr lang="tr-TR" dirty="0" err="1"/>
              <a:t>different</a:t>
            </a:r>
            <a:r>
              <a:rPr lang="tr-TR" dirty="0"/>
              <a:t> </a:t>
            </a:r>
            <a:r>
              <a:rPr lang="tr-TR" dirty="0" err="1"/>
              <a:t>types</a:t>
            </a:r>
            <a:r>
              <a:rPr lang="tr-TR" dirty="0"/>
              <a:t> of </a:t>
            </a:r>
            <a:r>
              <a:rPr lang="tr-TR" dirty="0" err="1"/>
              <a:t>errors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another</a:t>
            </a:r>
            <a:r>
              <a:rPr lang="tr-TR" dirty="0"/>
              <a:t> model.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tuned</a:t>
            </a:r>
            <a:r>
              <a:rPr lang="tr-TR" dirty="0"/>
              <a:t> </a:t>
            </a:r>
            <a:r>
              <a:rPr lang="tr-TR" dirty="0" err="1"/>
              <a:t>models</a:t>
            </a:r>
            <a:r>
              <a:rPr lang="tr-TR" dirty="0"/>
              <a:t> </a:t>
            </a:r>
            <a:r>
              <a:rPr lang="tr-TR" dirty="0" err="1"/>
              <a:t>therefore</a:t>
            </a:r>
            <a:r>
              <a:rPr lang="tr-TR" dirty="0"/>
              <a:t> </a:t>
            </a:r>
            <a:r>
              <a:rPr lang="tr-TR" dirty="0" err="1"/>
              <a:t>provide</a:t>
            </a:r>
            <a:r>
              <a:rPr lang="tr-TR" dirty="0"/>
              <a:t> a </a:t>
            </a:r>
            <a:r>
              <a:rPr lang="tr-TR" dirty="0" err="1"/>
              <a:t>more</a:t>
            </a:r>
            <a:r>
              <a:rPr lang="tr-TR" dirty="0"/>
              <a:t> </a:t>
            </a:r>
            <a:r>
              <a:rPr lang="tr-TR" dirty="0" err="1"/>
              <a:t>reliable</a:t>
            </a:r>
            <a:r>
              <a:rPr lang="tr-TR" dirty="0"/>
              <a:t> </a:t>
            </a:r>
            <a:r>
              <a:rPr lang="tr-TR" dirty="0" err="1"/>
              <a:t>basis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selecting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final </a:t>
            </a:r>
            <a:r>
              <a:rPr lang="tr-TR" dirty="0" err="1"/>
              <a:t>prediction</a:t>
            </a:r>
            <a:r>
              <a:rPr lang="tr-TR" dirty="0"/>
              <a:t> </a:t>
            </a:r>
            <a:r>
              <a:rPr lang="tr-TR" dirty="0" err="1"/>
              <a:t>approach</a:t>
            </a:r>
            <a:r>
              <a:rPr lang="tr-TR" dirty="0"/>
              <a:t> </a:t>
            </a:r>
            <a:r>
              <a:rPr lang="tr-TR" dirty="0" err="1"/>
              <a:t>than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dirty="0" err="1"/>
              <a:t>default</a:t>
            </a:r>
            <a:r>
              <a:rPr lang="tr-TR" dirty="0"/>
              <a:t> model </a:t>
            </a:r>
            <a:r>
              <a:rPr lang="tr-TR" dirty="0" err="1"/>
              <a:t>settings</a:t>
            </a:r>
            <a:r>
              <a:rPr lang="tr-TR" dirty="0"/>
              <a:t> </a:t>
            </a:r>
            <a:r>
              <a:rPr lang="tr-TR" dirty="0" err="1"/>
              <a:t>alone</a:t>
            </a:r>
            <a:r>
              <a:rPr lang="tr-TR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168D510A-666A-F0D6-1A4D-D7ABEF3E8718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064BC2CD-B1FD-F490-7552-238B96215A3E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CDD5840D-DD01-3BFC-8362-860ED436E0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32877246-B73C-61A1-E8ED-3FBCBF6DC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170714" cy="466657"/>
          </a:xfrm>
        </p:spPr>
        <p:txBody>
          <a:bodyPr rtlCol="0">
            <a:normAutofit fontScale="90000"/>
          </a:bodyPr>
          <a:lstStyle/>
          <a:p>
            <a:r>
              <a:rPr lang="tr-TR" dirty="0"/>
              <a:t>TASK4: </a:t>
            </a:r>
            <a:r>
              <a:rPr lang="tr-TR" dirty="0" err="1"/>
              <a:t>Predective</a:t>
            </a:r>
            <a:r>
              <a:rPr lang="tr-TR" dirty="0"/>
              <a:t> </a:t>
            </a:r>
            <a:r>
              <a:rPr lang="tr-TR" dirty="0" err="1"/>
              <a:t>Anaylsis</a:t>
            </a:r>
            <a:br>
              <a:rPr lang="tr-TR" dirty="0"/>
            </a:br>
            <a:br>
              <a:rPr lang="tr-TR" b="1" dirty="0"/>
            </a:br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A41EB59-378E-AA63-6590-B1EB9E89B1C9}"/>
              </a:ext>
            </a:extLst>
          </p:cNvPr>
          <p:cNvSpPr txBox="1">
            <a:spLocks/>
          </p:cNvSpPr>
          <p:nvPr/>
        </p:nvSpPr>
        <p:spPr>
          <a:xfrm>
            <a:off x="8229600" y="2002949"/>
            <a:ext cx="3569110" cy="264770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dirty="0"/>
              <a:t>Link:</a:t>
            </a:r>
          </a:p>
          <a:p>
            <a:endParaRPr lang="tr-TR" dirty="0"/>
          </a:p>
          <a:p>
            <a:r>
              <a:rPr lang="tr-TR" dirty="0"/>
              <a:t>https://github.com/Selmabanzema/Data-Science-Capston-Project-/blob/main/SpaceX_Machine%20Learning%20Prediction_Part_5%20(1).ipynb</a:t>
            </a:r>
          </a:p>
        </p:txBody>
      </p:sp>
    </p:spTree>
    <p:extLst>
      <p:ext uri="{BB962C8B-B14F-4D97-AF65-F5344CB8AC3E}">
        <p14:creationId xmlns:p14="http://schemas.microsoft.com/office/powerpoint/2010/main" val="3299615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41674-22DC-0BBE-E629-AD046CD10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807EE760-D3B2-1E2F-D7D6-0591329FA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0757" y="1734834"/>
            <a:ext cx="6885824" cy="5123166"/>
          </a:xfrm>
        </p:spPr>
        <p:txBody>
          <a:bodyPr rtlCol="0">
            <a:normAutofit/>
          </a:bodyPr>
          <a:lstStyle/>
          <a:p>
            <a:r>
              <a:rPr lang="tr-TR" b="1" dirty="0"/>
              <a:t>Best Model Application</a:t>
            </a:r>
          </a:p>
          <a:p>
            <a:r>
              <a:rPr lang="tr-TR" dirty="0" err="1"/>
              <a:t>After</a:t>
            </a:r>
            <a:r>
              <a:rPr lang="tr-TR" dirty="0"/>
              <a:t> </a:t>
            </a:r>
            <a:r>
              <a:rPr lang="tr-TR" dirty="0" err="1"/>
              <a:t>comparing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trained</a:t>
            </a:r>
            <a:r>
              <a:rPr lang="tr-TR" dirty="0"/>
              <a:t> </a:t>
            </a:r>
            <a:r>
              <a:rPr lang="tr-TR" dirty="0" err="1"/>
              <a:t>models</a:t>
            </a:r>
            <a:r>
              <a:rPr lang="tr-TR" dirty="0"/>
              <a:t>, </a:t>
            </a:r>
            <a:r>
              <a:rPr lang="tr-TR" dirty="0" err="1"/>
              <a:t>the</a:t>
            </a:r>
            <a:r>
              <a:rPr lang="tr-TR" dirty="0"/>
              <a:t> model </a:t>
            </a:r>
            <a:r>
              <a:rPr lang="tr-TR" dirty="0" err="1"/>
              <a:t>selected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notebook can be </a:t>
            </a:r>
            <a:r>
              <a:rPr lang="tr-TR" dirty="0" err="1"/>
              <a:t>applied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b="1" dirty="0" err="1"/>
              <a:t>new</a:t>
            </a:r>
            <a:r>
              <a:rPr lang="tr-TR" b="1" dirty="0"/>
              <a:t>, </a:t>
            </a:r>
            <a:r>
              <a:rPr lang="tr-TR" b="1" dirty="0" err="1"/>
              <a:t>previously</a:t>
            </a:r>
            <a:r>
              <a:rPr lang="tr-TR" b="1" dirty="0"/>
              <a:t> </a:t>
            </a:r>
            <a:r>
              <a:rPr lang="tr-TR" b="1" dirty="0" err="1"/>
              <a:t>unseen</a:t>
            </a:r>
            <a:r>
              <a:rPr lang="tr-TR" b="1" dirty="0"/>
              <a:t> </a:t>
            </a:r>
            <a:r>
              <a:rPr lang="tr-TR" b="1" dirty="0" err="1"/>
              <a:t>launch</a:t>
            </a:r>
            <a:r>
              <a:rPr lang="tr-TR" b="1" dirty="0"/>
              <a:t> </a:t>
            </a:r>
            <a:r>
              <a:rPr lang="tr-TR" b="1" dirty="0" err="1"/>
              <a:t>conditions</a:t>
            </a:r>
            <a:r>
              <a:rPr lang="tr-TR" dirty="0"/>
              <a:t>. </a:t>
            </a:r>
            <a:r>
              <a:rPr lang="tr-TR" dirty="0" err="1"/>
              <a:t>Given</a:t>
            </a:r>
            <a:r>
              <a:rPr lang="tr-TR" dirty="0"/>
              <a:t> </a:t>
            </a:r>
            <a:r>
              <a:rPr lang="tr-TR" dirty="0" err="1"/>
              <a:t>information</a:t>
            </a:r>
            <a:r>
              <a:rPr lang="tr-TR" dirty="0"/>
              <a:t> </a:t>
            </a:r>
            <a:r>
              <a:rPr lang="tr-TR" dirty="0" err="1"/>
              <a:t>such</a:t>
            </a:r>
            <a:r>
              <a:rPr lang="tr-TR" dirty="0"/>
              <a:t> as </a:t>
            </a:r>
            <a:r>
              <a:rPr lang="tr-TR" dirty="0" err="1"/>
              <a:t>launch</a:t>
            </a:r>
            <a:r>
              <a:rPr lang="tr-TR" dirty="0"/>
              <a:t> site, </a:t>
            </a:r>
            <a:r>
              <a:rPr lang="tr-TR" dirty="0" err="1"/>
              <a:t>payload</a:t>
            </a:r>
            <a:r>
              <a:rPr lang="tr-TR" dirty="0"/>
              <a:t> </a:t>
            </a:r>
            <a:r>
              <a:rPr lang="tr-TR" dirty="0" err="1"/>
              <a:t>characteristics</a:t>
            </a:r>
            <a:r>
              <a:rPr lang="tr-TR" dirty="0"/>
              <a:t>, orbit, </a:t>
            </a:r>
            <a:r>
              <a:rPr lang="tr-TR" dirty="0" err="1"/>
              <a:t>booster</a:t>
            </a:r>
            <a:r>
              <a:rPr lang="tr-TR" dirty="0"/>
              <a:t> </a:t>
            </a:r>
            <a:r>
              <a:rPr lang="tr-TR" dirty="0" err="1"/>
              <a:t>configuration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other</a:t>
            </a:r>
            <a:r>
              <a:rPr lang="tr-TR" dirty="0"/>
              <a:t> </a:t>
            </a:r>
            <a:r>
              <a:rPr lang="tr-TR" dirty="0" err="1"/>
              <a:t>engineered</a:t>
            </a:r>
            <a:r>
              <a:rPr lang="tr-TR" dirty="0"/>
              <a:t> </a:t>
            </a:r>
            <a:r>
              <a:rPr lang="tr-TR" dirty="0" err="1"/>
              <a:t>features</a:t>
            </a:r>
            <a:r>
              <a:rPr lang="tr-TR" dirty="0"/>
              <a:t>, </a:t>
            </a:r>
            <a:r>
              <a:rPr lang="tr-TR" dirty="0" err="1"/>
              <a:t>the</a:t>
            </a:r>
            <a:r>
              <a:rPr lang="tr-TR" dirty="0"/>
              <a:t> model </a:t>
            </a:r>
            <a:r>
              <a:rPr lang="tr-TR" dirty="0" err="1"/>
              <a:t>produces</a:t>
            </a:r>
            <a:r>
              <a:rPr lang="tr-TR" dirty="0"/>
              <a:t> a </a:t>
            </a:r>
            <a:r>
              <a:rPr lang="tr-TR" dirty="0" err="1"/>
              <a:t>predicted</a:t>
            </a:r>
            <a:r>
              <a:rPr lang="tr-TR" dirty="0"/>
              <a:t>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outcome</a:t>
            </a:r>
            <a:r>
              <a:rPr lang="tr-TR" dirty="0"/>
              <a:t>.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transforms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simply</a:t>
            </a:r>
            <a:r>
              <a:rPr lang="tr-TR" dirty="0"/>
              <a:t> </a:t>
            </a:r>
            <a:r>
              <a:rPr lang="tr-TR" dirty="0" err="1"/>
              <a:t>describing</a:t>
            </a:r>
            <a:r>
              <a:rPr lang="tr-TR" dirty="0"/>
              <a:t> </a:t>
            </a:r>
            <a:r>
              <a:rPr lang="tr-TR" dirty="0" err="1"/>
              <a:t>historical</a:t>
            </a:r>
            <a:r>
              <a:rPr lang="tr-TR" dirty="0"/>
              <a:t> </a:t>
            </a:r>
            <a:r>
              <a:rPr lang="tr-TR" dirty="0" err="1"/>
              <a:t>SpaceX</a:t>
            </a:r>
            <a:r>
              <a:rPr lang="tr-TR" dirty="0"/>
              <a:t> </a:t>
            </a:r>
            <a:r>
              <a:rPr lang="tr-TR" dirty="0" err="1"/>
              <a:t>launches</a:t>
            </a:r>
            <a:r>
              <a:rPr lang="tr-TR" dirty="0"/>
              <a:t> </a:t>
            </a:r>
            <a:r>
              <a:rPr lang="tr-TR" dirty="0" err="1"/>
              <a:t>into</a:t>
            </a:r>
            <a:r>
              <a:rPr lang="tr-TR" dirty="0"/>
              <a:t> a </a:t>
            </a:r>
            <a:r>
              <a:rPr lang="tr-TR" dirty="0" err="1"/>
              <a:t>practical</a:t>
            </a:r>
            <a:r>
              <a:rPr lang="tr-TR" dirty="0"/>
              <a:t> </a:t>
            </a:r>
            <a:r>
              <a:rPr lang="tr-TR" dirty="0" err="1"/>
              <a:t>predictive</a:t>
            </a:r>
            <a:r>
              <a:rPr lang="tr-TR" dirty="0"/>
              <a:t> </a:t>
            </a:r>
            <a:r>
              <a:rPr lang="tr-TR" dirty="0" err="1"/>
              <a:t>tool</a:t>
            </a:r>
            <a:r>
              <a:rPr lang="tr-TR" dirty="0"/>
              <a:t>.</a:t>
            </a:r>
          </a:p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most</a:t>
            </a:r>
            <a:r>
              <a:rPr lang="tr-TR" dirty="0"/>
              <a:t> </a:t>
            </a:r>
            <a:r>
              <a:rPr lang="tr-TR" dirty="0" err="1"/>
              <a:t>valuable</a:t>
            </a:r>
            <a:r>
              <a:rPr lang="tr-TR" dirty="0"/>
              <a:t> </a:t>
            </a:r>
            <a:r>
              <a:rPr lang="tr-TR" dirty="0" err="1"/>
              <a:t>aspect</a:t>
            </a:r>
            <a:r>
              <a:rPr lang="tr-TR" dirty="0"/>
              <a:t> of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application</a:t>
            </a:r>
            <a:r>
              <a:rPr lang="tr-TR" dirty="0"/>
              <a:t> is </a:t>
            </a:r>
            <a:r>
              <a:rPr lang="tr-TR" dirty="0" err="1"/>
              <a:t>its</a:t>
            </a:r>
            <a:r>
              <a:rPr lang="tr-TR" dirty="0"/>
              <a:t> </a:t>
            </a:r>
            <a:r>
              <a:rPr lang="tr-TR" dirty="0" err="1"/>
              <a:t>potential</a:t>
            </a:r>
            <a:r>
              <a:rPr lang="tr-TR" dirty="0"/>
              <a:t> </a:t>
            </a:r>
            <a:r>
              <a:rPr lang="tr-TR" dirty="0" err="1"/>
              <a:t>decision-support</a:t>
            </a:r>
            <a:r>
              <a:rPr lang="tr-TR" dirty="0"/>
              <a:t> role. </a:t>
            </a:r>
            <a:r>
              <a:rPr lang="tr-TR" dirty="0" err="1"/>
              <a:t>Before</a:t>
            </a:r>
            <a:r>
              <a:rPr lang="tr-TR" dirty="0"/>
              <a:t> a </a:t>
            </a:r>
            <a:r>
              <a:rPr lang="tr-TR" dirty="0" err="1"/>
              <a:t>future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, </a:t>
            </a:r>
            <a:r>
              <a:rPr lang="tr-TR" dirty="0" err="1"/>
              <a:t>the</a:t>
            </a:r>
            <a:r>
              <a:rPr lang="tr-TR" dirty="0"/>
              <a:t> model </a:t>
            </a:r>
            <a:r>
              <a:rPr lang="tr-TR" dirty="0" err="1"/>
              <a:t>could</a:t>
            </a:r>
            <a:r>
              <a:rPr lang="tr-TR" dirty="0"/>
              <a:t> </a:t>
            </a:r>
            <a:r>
              <a:rPr lang="tr-TR" dirty="0" err="1"/>
              <a:t>provide</a:t>
            </a:r>
            <a:r>
              <a:rPr lang="tr-TR" dirty="0"/>
              <a:t> an </a:t>
            </a:r>
            <a:r>
              <a:rPr lang="tr-TR" dirty="0" err="1"/>
              <a:t>additional</a:t>
            </a:r>
            <a:r>
              <a:rPr lang="tr-TR" dirty="0"/>
              <a:t> data-</a:t>
            </a:r>
            <a:r>
              <a:rPr lang="tr-TR" dirty="0" err="1"/>
              <a:t>driven</a:t>
            </a:r>
            <a:r>
              <a:rPr lang="tr-TR" dirty="0"/>
              <a:t> </a:t>
            </a:r>
            <a:r>
              <a:rPr lang="tr-TR" dirty="0" err="1"/>
              <a:t>estimate</a:t>
            </a:r>
            <a:r>
              <a:rPr lang="tr-TR" dirty="0"/>
              <a:t> of </a:t>
            </a:r>
            <a:r>
              <a:rPr lang="tr-TR" dirty="0" err="1"/>
              <a:t>first-stage</a:t>
            </a:r>
            <a:r>
              <a:rPr lang="tr-TR" dirty="0"/>
              <a:t>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success</a:t>
            </a:r>
            <a:r>
              <a:rPr lang="tr-TR" dirty="0"/>
              <a:t> </a:t>
            </a:r>
            <a:r>
              <a:rPr lang="tr-TR" dirty="0" err="1"/>
              <a:t>based</a:t>
            </a:r>
            <a:r>
              <a:rPr lang="tr-TR" dirty="0"/>
              <a:t> on </a:t>
            </a:r>
            <a:r>
              <a:rPr lang="tr-TR" dirty="0" err="1"/>
              <a:t>characteristics</a:t>
            </a:r>
            <a:r>
              <a:rPr lang="tr-TR" dirty="0"/>
              <a:t> </a:t>
            </a:r>
            <a:r>
              <a:rPr lang="tr-TR" dirty="0" err="1"/>
              <a:t>similar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previous</a:t>
            </a:r>
            <a:r>
              <a:rPr lang="tr-TR" dirty="0"/>
              <a:t> </a:t>
            </a:r>
            <a:r>
              <a:rPr lang="tr-TR" dirty="0" err="1"/>
              <a:t>missions</a:t>
            </a:r>
            <a:r>
              <a:rPr lang="tr-TR" dirty="0"/>
              <a:t>.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could</a:t>
            </a:r>
            <a:r>
              <a:rPr lang="tr-TR" dirty="0"/>
              <a:t> </a:t>
            </a:r>
            <a:r>
              <a:rPr lang="tr-TR" dirty="0" err="1"/>
              <a:t>help</a:t>
            </a:r>
            <a:r>
              <a:rPr lang="tr-TR" dirty="0"/>
              <a:t> </a:t>
            </a:r>
            <a:r>
              <a:rPr lang="tr-TR" dirty="0" err="1"/>
              <a:t>analysts</a:t>
            </a:r>
            <a:r>
              <a:rPr lang="tr-TR" dirty="0"/>
              <a:t> </a:t>
            </a:r>
            <a:r>
              <a:rPr lang="tr-TR" dirty="0" err="1"/>
              <a:t>investigate</a:t>
            </a:r>
            <a:r>
              <a:rPr lang="tr-TR" dirty="0"/>
              <a:t> </a:t>
            </a:r>
            <a:r>
              <a:rPr lang="tr-TR" dirty="0" err="1"/>
              <a:t>which</a:t>
            </a:r>
            <a:r>
              <a:rPr lang="tr-TR" dirty="0"/>
              <a:t> </a:t>
            </a:r>
            <a:r>
              <a:rPr lang="tr-TR" dirty="0" err="1"/>
              <a:t>combinations</a:t>
            </a:r>
            <a:r>
              <a:rPr lang="tr-TR" dirty="0"/>
              <a:t> of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conditions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associated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higher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lower</a:t>
            </a:r>
            <a:r>
              <a:rPr lang="tr-TR" dirty="0"/>
              <a:t> </a:t>
            </a:r>
            <a:r>
              <a:rPr lang="tr-TR" dirty="0" err="1"/>
              <a:t>predicted</a:t>
            </a:r>
            <a:r>
              <a:rPr lang="tr-TR" dirty="0"/>
              <a:t> </a:t>
            </a:r>
            <a:r>
              <a:rPr lang="tr-TR" dirty="0" err="1"/>
              <a:t>success</a:t>
            </a:r>
            <a:r>
              <a:rPr lang="tr-TR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601C98E2-61C8-03E9-EB48-CBBCBE28A48F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F5B3D77F-A67C-A09B-B6AD-EF6932F8CB98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D68849A9-593B-7E1B-EF1C-5F11EEABFF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E6B3F6E0-60E1-5ECE-4E9A-92FB3601D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170714" cy="466657"/>
          </a:xfrm>
        </p:spPr>
        <p:txBody>
          <a:bodyPr rtlCol="0">
            <a:normAutofit fontScale="90000"/>
          </a:bodyPr>
          <a:lstStyle/>
          <a:p>
            <a:r>
              <a:rPr lang="tr-TR" dirty="0"/>
              <a:t>TASK4: </a:t>
            </a:r>
            <a:r>
              <a:rPr lang="tr-TR" dirty="0" err="1"/>
              <a:t>Predective</a:t>
            </a:r>
            <a:r>
              <a:rPr lang="tr-TR" dirty="0"/>
              <a:t> </a:t>
            </a:r>
            <a:r>
              <a:rPr lang="tr-TR" dirty="0" err="1"/>
              <a:t>Anaylsis</a:t>
            </a:r>
            <a:br>
              <a:rPr lang="tr-TR" dirty="0"/>
            </a:br>
            <a:br>
              <a:rPr lang="tr-TR" b="1" dirty="0"/>
            </a:br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44D5CE0-D579-2AFB-65B9-D312C8DB30C2}"/>
              </a:ext>
            </a:extLst>
          </p:cNvPr>
          <p:cNvSpPr txBox="1">
            <a:spLocks/>
          </p:cNvSpPr>
          <p:nvPr/>
        </p:nvSpPr>
        <p:spPr>
          <a:xfrm>
            <a:off x="8229600" y="2002949"/>
            <a:ext cx="3569110" cy="264770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dirty="0"/>
              <a:t>Link:</a:t>
            </a:r>
          </a:p>
          <a:p>
            <a:endParaRPr lang="tr-TR" dirty="0"/>
          </a:p>
          <a:p>
            <a:r>
              <a:rPr lang="tr-TR" dirty="0"/>
              <a:t>https://github.com/Selmabanzema/Data-Science-Capston-Project-/blob/main/SpaceX_Machine%20Learning%20Prediction_Part_5%20(1).ipynb</a:t>
            </a:r>
          </a:p>
        </p:txBody>
      </p:sp>
    </p:spTree>
    <p:extLst>
      <p:ext uri="{BB962C8B-B14F-4D97-AF65-F5344CB8AC3E}">
        <p14:creationId xmlns:p14="http://schemas.microsoft.com/office/powerpoint/2010/main" val="3855964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85098-C484-B523-E9D2-97290E424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BE58AF28-82B0-2D6D-2536-DC020ABAC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6795" y="2007307"/>
            <a:ext cx="6885824" cy="5123166"/>
          </a:xfrm>
        </p:spPr>
        <p:txBody>
          <a:bodyPr rtlCol="0">
            <a:normAutofit/>
          </a:bodyPr>
          <a:lstStyle/>
          <a:p>
            <a:r>
              <a:rPr lang="tr-TR" b="1" dirty="0"/>
              <a:t>Best Model Application</a:t>
            </a:r>
          </a:p>
          <a:p>
            <a:r>
              <a:rPr lang="tr-TR" dirty="0" err="1"/>
              <a:t>After</a:t>
            </a:r>
            <a:r>
              <a:rPr lang="tr-TR" dirty="0"/>
              <a:t> </a:t>
            </a:r>
            <a:r>
              <a:rPr lang="tr-TR" dirty="0" err="1"/>
              <a:t>comparing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trained</a:t>
            </a:r>
            <a:r>
              <a:rPr lang="tr-TR" dirty="0"/>
              <a:t> </a:t>
            </a:r>
            <a:r>
              <a:rPr lang="tr-TR" dirty="0" err="1"/>
              <a:t>models</a:t>
            </a:r>
            <a:r>
              <a:rPr lang="tr-TR" dirty="0"/>
              <a:t>, </a:t>
            </a:r>
            <a:r>
              <a:rPr lang="tr-TR" dirty="0" err="1"/>
              <a:t>the</a:t>
            </a:r>
            <a:r>
              <a:rPr lang="tr-TR" dirty="0"/>
              <a:t> model </a:t>
            </a:r>
            <a:r>
              <a:rPr lang="tr-TR" dirty="0" err="1"/>
              <a:t>selected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notebook can be </a:t>
            </a:r>
            <a:r>
              <a:rPr lang="tr-TR" dirty="0" err="1"/>
              <a:t>applied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b="1" dirty="0" err="1"/>
              <a:t>new</a:t>
            </a:r>
            <a:r>
              <a:rPr lang="tr-TR" b="1" dirty="0"/>
              <a:t>, </a:t>
            </a:r>
            <a:r>
              <a:rPr lang="tr-TR" b="1" dirty="0" err="1"/>
              <a:t>previously</a:t>
            </a:r>
            <a:r>
              <a:rPr lang="tr-TR" b="1" dirty="0"/>
              <a:t> </a:t>
            </a:r>
            <a:r>
              <a:rPr lang="tr-TR" b="1" dirty="0" err="1"/>
              <a:t>unseen</a:t>
            </a:r>
            <a:r>
              <a:rPr lang="tr-TR" b="1" dirty="0"/>
              <a:t> </a:t>
            </a:r>
            <a:r>
              <a:rPr lang="tr-TR" b="1" dirty="0" err="1"/>
              <a:t>launch</a:t>
            </a:r>
            <a:r>
              <a:rPr lang="tr-TR" b="1" dirty="0"/>
              <a:t> </a:t>
            </a:r>
            <a:r>
              <a:rPr lang="tr-TR" b="1" dirty="0" err="1"/>
              <a:t>conditions</a:t>
            </a:r>
            <a:r>
              <a:rPr lang="tr-TR" dirty="0"/>
              <a:t>. </a:t>
            </a:r>
            <a:r>
              <a:rPr lang="tr-TR" dirty="0" err="1"/>
              <a:t>Given</a:t>
            </a:r>
            <a:r>
              <a:rPr lang="tr-TR" dirty="0"/>
              <a:t> </a:t>
            </a:r>
            <a:r>
              <a:rPr lang="tr-TR" dirty="0" err="1"/>
              <a:t>information</a:t>
            </a:r>
            <a:r>
              <a:rPr lang="tr-TR" dirty="0"/>
              <a:t> </a:t>
            </a:r>
            <a:r>
              <a:rPr lang="tr-TR" dirty="0" err="1"/>
              <a:t>such</a:t>
            </a:r>
            <a:r>
              <a:rPr lang="tr-TR" dirty="0"/>
              <a:t> as </a:t>
            </a:r>
            <a:r>
              <a:rPr lang="tr-TR" dirty="0" err="1"/>
              <a:t>launch</a:t>
            </a:r>
            <a:r>
              <a:rPr lang="tr-TR" dirty="0"/>
              <a:t> site, </a:t>
            </a:r>
            <a:r>
              <a:rPr lang="tr-TR" dirty="0" err="1"/>
              <a:t>payload</a:t>
            </a:r>
            <a:r>
              <a:rPr lang="tr-TR" dirty="0"/>
              <a:t> </a:t>
            </a:r>
            <a:r>
              <a:rPr lang="tr-TR" dirty="0" err="1"/>
              <a:t>characteristics</a:t>
            </a:r>
            <a:r>
              <a:rPr lang="tr-TR" dirty="0"/>
              <a:t>, orbit, </a:t>
            </a:r>
            <a:r>
              <a:rPr lang="tr-TR" dirty="0" err="1"/>
              <a:t>booster</a:t>
            </a:r>
            <a:r>
              <a:rPr lang="tr-TR" dirty="0"/>
              <a:t> </a:t>
            </a:r>
            <a:r>
              <a:rPr lang="tr-TR" dirty="0" err="1"/>
              <a:t>configuration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other</a:t>
            </a:r>
            <a:r>
              <a:rPr lang="tr-TR" dirty="0"/>
              <a:t> </a:t>
            </a:r>
            <a:r>
              <a:rPr lang="tr-TR" dirty="0" err="1"/>
              <a:t>engineered</a:t>
            </a:r>
            <a:r>
              <a:rPr lang="tr-TR" dirty="0"/>
              <a:t> </a:t>
            </a:r>
            <a:r>
              <a:rPr lang="tr-TR" dirty="0" err="1"/>
              <a:t>features</a:t>
            </a:r>
            <a:r>
              <a:rPr lang="tr-TR" dirty="0"/>
              <a:t>, </a:t>
            </a:r>
            <a:r>
              <a:rPr lang="tr-TR" dirty="0" err="1"/>
              <a:t>the</a:t>
            </a:r>
            <a:r>
              <a:rPr lang="tr-TR" dirty="0"/>
              <a:t> model </a:t>
            </a:r>
            <a:r>
              <a:rPr lang="tr-TR" dirty="0" err="1"/>
              <a:t>produces</a:t>
            </a:r>
            <a:r>
              <a:rPr lang="tr-TR" dirty="0"/>
              <a:t> a </a:t>
            </a:r>
            <a:r>
              <a:rPr lang="tr-TR" dirty="0" err="1"/>
              <a:t>predicted</a:t>
            </a:r>
            <a:r>
              <a:rPr lang="tr-TR" dirty="0"/>
              <a:t>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outcome</a:t>
            </a:r>
            <a:r>
              <a:rPr lang="tr-TR" dirty="0"/>
              <a:t>.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transforms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simply</a:t>
            </a:r>
            <a:r>
              <a:rPr lang="tr-TR" dirty="0"/>
              <a:t> </a:t>
            </a:r>
            <a:r>
              <a:rPr lang="tr-TR" dirty="0" err="1"/>
              <a:t>describing</a:t>
            </a:r>
            <a:r>
              <a:rPr lang="tr-TR" dirty="0"/>
              <a:t> </a:t>
            </a:r>
            <a:r>
              <a:rPr lang="tr-TR" dirty="0" err="1"/>
              <a:t>historical</a:t>
            </a:r>
            <a:r>
              <a:rPr lang="tr-TR" dirty="0"/>
              <a:t> </a:t>
            </a:r>
            <a:r>
              <a:rPr lang="tr-TR" dirty="0" err="1"/>
              <a:t>SpaceX</a:t>
            </a:r>
            <a:r>
              <a:rPr lang="tr-TR" dirty="0"/>
              <a:t> </a:t>
            </a:r>
            <a:r>
              <a:rPr lang="tr-TR" dirty="0" err="1"/>
              <a:t>launches</a:t>
            </a:r>
            <a:r>
              <a:rPr lang="tr-TR" dirty="0"/>
              <a:t> </a:t>
            </a:r>
            <a:r>
              <a:rPr lang="tr-TR" dirty="0" err="1"/>
              <a:t>into</a:t>
            </a:r>
            <a:r>
              <a:rPr lang="tr-TR" dirty="0"/>
              <a:t> a </a:t>
            </a:r>
            <a:r>
              <a:rPr lang="tr-TR" dirty="0" err="1"/>
              <a:t>practical</a:t>
            </a:r>
            <a:r>
              <a:rPr lang="tr-TR" dirty="0"/>
              <a:t> </a:t>
            </a:r>
            <a:r>
              <a:rPr lang="tr-TR" dirty="0" err="1"/>
              <a:t>predictive</a:t>
            </a:r>
            <a:r>
              <a:rPr lang="tr-TR" dirty="0"/>
              <a:t> </a:t>
            </a:r>
            <a:r>
              <a:rPr lang="tr-TR" dirty="0" err="1"/>
              <a:t>tool</a:t>
            </a:r>
            <a:r>
              <a:rPr lang="tr-TR" dirty="0"/>
              <a:t>.</a:t>
            </a:r>
          </a:p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most</a:t>
            </a:r>
            <a:r>
              <a:rPr lang="tr-TR" dirty="0"/>
              <a:t> </a:t>
            </a:r>
            <a:r>
              <a:rPr lang="tr-TR" dirty="0" err="1"/>
              <a:t>valuable</a:t>
            </a:r>
            <a:r>
              <a:rPr lang="tr-TR" dirty="0"/>
              <a:t> </a:t>
            </a:r>
            <a:r>
              <a:rPr lang="tr-TR" dirty="0" err="1"/>
              <a:t>aspect</a:t>
            </a:r>
            <a:r>
              <a:rPr lang="tr-TR" dirty="0"/>
              <a:t> of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application</a:t>
            </a:r>
            <a:r>
              <a:rPr lang="tr-TR" dirty="0"/>
              <a:t> is </a:t>
            </a:r>
            <a:r>
              <a:rPr lang="tr-TR" dirty="0" err="1"/>
              <a:t>its</a:t>
            </a:r>
            <a:r>
              <a:rPr lang="tr-TR" dirty="0"/>
              <a:t> </a:t>
            </a:r>
            <a:r>
              <a:rPr lang="tr-TR" dirty="0" err="1"/>
              <a:t>potential</a:t>
            </a:r>
            <a:r>
              <a:rPr lang="tr-TR" dirty="0"/>
              <a:t> </a:t>
            </a:r>
            <a:r>
              <a:rPr lang="tr-TR" dirty="0" err="1"/>
              <a:t>decision-support</a:t>
            </a:r>
            <a:r>
              <a:rPr lang="tr-TR" dirty="0"/>
              <a:t> role. </a:t>
            </a:r>
            <a:r>
              <a:rPr lang="tr-TR" dirty="0" err="1"/>
              <a:t>Before</a:t>
            </a:r>
            <a:r>
              <a:rPr lang="tr-TR" dirty="0"/>
              <a:t> a </a:t>
            </a:r>
            <a:r>
              <a:rPr lang="tr-TR" dirty="0" err="1"/>
              <a:t>future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, </a:t>
            </a:r>
            <a:r>
              <a:rPr lang="tr-TR" dirty="0" err="1"/>
              <a:t>the</a:t>
            </a:r>
            <a:r>
              <a:rPr lang="tr-TR" dirty="0"/>
              <a:t> model </a:t>
            </a:r>
            <a:r>
              <a:rPr lang="tr-TR" dirty="0" err="1"/>
              <a:t>could</a:t>
            </a:r>
            <a:r>
              <a:rPr lang="tr-TR" dirty="0"/>
              <a:t> </a:t>
            </a:r>
            <a:r>
              <a:rPr lang="tr-TR" dirty="0" err="1"/>
              <a:t>provide</a:t>
            </a:r>
            <a:r>
              <a:rPr lang="tr-TR" dirty="0"/>
              <a:t> an </a:t>
            </a:r>
            <a:r>
              <a:rPr lang="tr-TR" dirty="0" err="1"/>
              <a:t>additional</a:t>
            </a:r>
            <a:r>
              <a:rPr lang="tr-TR" dirty="0"/>
              <a:t> data-</a:t>
            </a:r>
            <a:r>
              <a:rPr lang="tr-TR" dirty="0" err="1"/>
              <a:t>driven</a:t>
            </a:r>
            <a:r>
              <a:rPr lang="tr-TR" dirty="0"/>
              <a:t> </a:t>
            </a:r>
            <a:r>
              <a:rPr lang="tr-TR" dirty="0" err="1"/>
              <a:t>estimate</a:t>
            </a:r>
            <a:r>
              <a:rPr lang="tr-TR" dirty="0"/>
              <a:t> of </a:t>
            </a:r>
            <a:r>
              <a:rPr lang="tr-TR" dirty="0" err="1"/>
              <a:t>first-stage</a:t>
            </a:r>
            <a:r>
              <a:rPr lang="tr-TR" dirty="0"/>
              <a:t>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success</a:t>
            </a:r>
            <a:r>
              <a:rPr lang="tr-TR" dirty="0"/>
              <a:t> </a:t>
            </a:r>
            <a:r>
              <a:rPr lang="tr-TR" dirty="0" err="1"/>
              <a:t>based</a:t>
            </a:r>
            <a:r>
              <a:rPr lang="tr-TR" dirty="0"/>
              <a:t> on </a:t>
            </a:r>
            <a:r>
              <a:rPr lang="tr-TR" dirty="0" err="1"/>
              <a:t>characteristics</a:t>
            </a:r>
            <a:r>
              <a:rPr lang="tr-TR" dirty="0"/>
              <a:t> </a:t>
            </a:r>
            <a:r>
              <a:rPr lang="tr-TR" dirty="0" err="1"/>
              <a:t>similar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previous</a:t>
            </a:r>
            <a:r>
              <a:rPr lang="tr-TR" dirty="0"/>
              <a:t> </a:t>
            </a:r>
            <a:r>
              <a:rPr lang="tr-TR" dirty="0" err="1"/>
              <a:t>missions</a:t>
            </a:r>
            <a:r>
              <a:rPr lang="tr-TR" dirty="0"/>
              <a:t>.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could</a:t>
            </a:r>
            <a:r>
              <a:rPr lang="tr-TR" dirty="0"/>
              <a:t> </a:t>
            </a:r>
            <a:r>
              <a:rPr lang="tr-TR" dirty="0" err="1"/>
              <a:t>help</a:t>
            </a:r>
            <a:r>
              <a:rPr lang="tr-TR" dirty="0"/>
              <a:t> </a:t>
            </a:r>
            <a:r>
              <a:rPr lang="tr-TR" dirty="0" err="1"/>
              <a:t>analysts</a:t>
            </a:r>
            <a:r>
              <a:rPr lang="tr-TR" dirty="0"/>
              <a:t> </a:t>
            </a:r>
            <a:r>
              <a:rPr lang="tr-TR" dirty="0" err="1"/>
              <a:t>investigate</a:t>
            </a:r>
            <a:r>
              <a:rPr lang="tr-TR" dirty="0"/>
              <a:t> </a:t>
            </a:r>
            <a:r>
              <a:rPr lang="tr-TR" dirty="0" err="1"/>
              <a:t>which</a:t>
            </a:r>
            <a:r>
              <a:rPr lang="tr-TR" dirty="0"/>
              <a:t> </a:t>
            </a:r>
            <a:r>
              <a:rPr lang="tr-TR" dirty="0" err="1"/>
              <a:t>combinations</a:t>
            </a:r>
            <a:r>
              <a:rPr lang="tr-TR" dirty="0"/>
              <a:t> of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conditions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associated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higher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lower</a:t>
            </a:r>
            <a:r>
              <a:rPr lang="tr-TR" dirty="0"/>
              <a:t> </a:t>
            </a:r>
            <a:r>
              <a:rPr lang="tr-TR" dirty="0" err="1"/>
              <a:t>predicted</a:t>
            </a:r>
            <a:r>
              <a:rPr lang="tr-TR" dirty="0"/>
              <a:t> </a:t>
            </a:r>
            <a:r>
              <a:rPr lang="tr-TR" dirty="0" err="1"/>
              <a:t>success</a:t>
            </a:r>
            <a:r>
              <a:rPr lang="tr-TR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1887680D-AC8A-37C2-7A1A-E6F55A58F719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844DD4B8-C216-2507-720E-D5C64363A6F1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07B365A9-785C-E1EE-4181-B8A5A262DD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E2ED095C-5AD1-47E0-2CE1-BE9E61450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170714" cy="466657"/>
          </a:xfrm>
        </p:spPr>
        <p:txBody>
          <a:bodyPr rtlCol="0">
            <a:normAutofit fontScale="90000"/>
          </a:bodyPr>
          <a:lstStyle/>
          <a:p>
            <a:r>
              <a:rPr lang="tr-TR" dirty="0"/>
              <a:t>TASK4: </a:t>
            </a:r>
            <a:r>
              <a:rPr lang="tr-TR" dirty="0" err="1"/>
              <a:t>Predective</a:t>
            </a:r>
            <a:r>
              <a:rPr lang="tr-TR" dirty="0"/>
              <a:t> </a:t>
            </a:r>
            <a:r>
              <a:rPr lang="tr-TR" dirty="0" err="1"/>
              <a:t>Anaylsis</a:t>
            </a:r>
            <a:br>
              <a:rPr lang="tr-TR" dirty="0"/>
            </a:br>
            <a:br>
              <a:rPr lang="tr-TR" b="1" dirty="0"/>
            </a:br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160AA01-7A64-D4C9-B8FF-9E01EDFD8166}"/>
              </a:ext>
            </a:extLst>
          </p:cNvPr>
          <p:cNvSpPr txBox="1">
            <a:spLocks/>
          </p:cNvSpPr>
          <p:nvPr/>
        </p:nvSpPr>
        <p:spPr>
          <a:xfrm>
            <a:off x="8229600" y="2002949"/>
            <a:ext cx="3569110" cy="264770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dirty="0"/>
              <a:t>Link:</a:t>
            </a:r>
          </a:p>
          <a:p>
            <a:endParaRPr lang="tr-TR" dirty="0"/>
          </a:p>
          <a:p>
            <a:r>
              <a:rPr lang="tr-TR" dirty="0"/>
              <a:t>https://github.com/Selmabanzema/Data-Science-Capston-Project-/blob/main/SpaceX_Machine%20Learning%20Prediction_Part_5%20(1).ipynb</a:t>
            </a:r>
          </a:p>
        </p:txBody>
      </p:sp>
    </p:spTree>
    <p:extLst>
      <p:ext uri="{BB962C8B-B14F-4D97-AF65-F5344CB8AC3E}">
        <p14:creationId xmlns:p14="http://schemas.microsoft.com/office/powerpoint/2010/main" val="3827305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1B158-B8F0-ED81-3709-C4DC82CF4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7547F0B1-943A-009E-A823-198B15E3D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6795" y="2007307"/>
            <a:ext cx="6885824" cy="5123166"/>
          </a:xfrm>
        </p:spPr>
        <p:txBody>
          <a:bodyPr rtlCol="0">
            <a:normAutofit/>
          </a:bodyPr>
          <a:lstStyle/>
          <a:p>
            <a:r>
              <a:rPr lang="tr-TR" dirty="0"/>
              <a:t>1- </a:t>
            </a:r>
            <a:r>
              <a:rPr lang="tr-TR" dirty="0" err="1"/>
              <a:t>Logistic</a:t>
            </a:r>
            <a:r>
              <a:rPr lang="tr-TR" dirty="0"/>
              <a:t> </a:t>
            </a:r>
            <a:r>
              <a:rPr lang="tr-TR" dirty="0" err="1"/>
              <a:t>regression</a:t>
            </a:r>
            <a:r>
              <a:rPr lang="tr-TR" dirty="0"/>
              <a:t>: </a:t>
            </a:r>
          </a:p>
          <a:p>
            <a:endParaRPr lang="tr-TR" dirty="0"/>
          </a:p>
          <a:p>
            <a:r>
              <a:rPr lang="tr-TR" dirty="0"/>
              <a:t>1-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have</a:t>
            </a:r>
            <a:r>
              <a:rPr lang="tr-TR" dirty="0"/>
              <a:t> </a:t>
            </a:r>
            <a:r>
              <a:rPr lang="tr-TR" dirty="0" err="1"/>
              <a:t>worked</a:t>
            </a:r>
            <a:r>
              <a:rPr lang="tr-TR" dirty="0"/>
              <a:t> on it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score</a:t>
            </a:r>
            <a:r>
              <a:rPr lang="tr-TR" dirty="0"/>
              <a:t> is : 1 </a:t>
            </a:r>
          </a:p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conffisoun</a:t>
            </a:r>
            <a:r>
              <a:rPr lang="tr-TR" dirty="0"/>
              <a:t> </a:t>
            </a:r>
            <a:r>
              <a:rPr lang="tr-TR" dirty="0" err="1"/>
              <a:t>matrix</a:t>
            </a:r>
            <a:r>
              <a:rPr lang="tr-TR" dirty="0"/>
              <a:t> :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FCF68192-DB7A-6B4C-FB7B-90D996F4DC2B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BCF182D8-FDBC-E0C2-60D0-2076F7CBBFAB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79319024-F575-B2A1-3A5F-8CA2BAA7DD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D4D18884-DF2B-DD4A-598F-1BE4C058E3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170714" cy="466657"/>
          </a:xfrm>
        </p:spPr>
        <p:txBody>
          <a:bodyPr rtlCol="0">
            <a:normAutofit fontScale="90000"/>
          </a:bodyPr>
          <a:lstStyle/>
          <a:p>
            <a:r>
              <a:rPr lang="tr-TR" dirty="0"/>
              <a:t>TASK4: </a:t>
            </a:r>
            <a:r>
              <a:rPr lang="tr-TR" dirty="0" err="1"/>
              <a:t>Predective</a:t>
            </a:r>
            <a:r>
              <a:rPr lang="tr-TR" dirty="0"/>
              <a:t> </a:t>
            </a:r>
            <a:r>
              <a:rPr lang="tr-TR" dirty="0" err="1"/>
              <a:t>Anaylsis</a:t>
            </a:r>
            <a:r>
              <a:rPr lang="tr-TR" dirty="0"/>
              <a:t> </a:t>
            </a:r>
            <a:r>
              <a:rPr lang="tr-TR" dirty="0" err="1"/>
              <a:t>Outpusta</a:t>
            </a:r>
            <a:br>
              <a:rPr lang="tr-TR" b="1" dirty="0"/>
            </a:br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6E33689-8472-1403-7A68-A661A1021188}"/>
              </a:ext>
            </a:extLst>
          </p:cNvPr>
          <p:cNvSpPr txBox="1">
            <a:spLocks/>
          </p:cNvSpPr>
          <p:nvPr/>
        </p:nvSpPr>
        <p:spPr>
          <a:xfrm>
            <a:off x="8229600" y="2002949"/>
            <a:ext cx="3569110" cy="264770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dirty="0"/>
              <a:t>Link:</a:t>
            </a:r>
          </a:p>
          <a:p>
            <a:endParaRPr lang="tr-TR" dirty="0"/>
          </a:p>
          <a:p>
            <a:r>
              <a:rPr lang="tr-TR" dirty="0"/>
              <a:t>https://github.com/Selmabanzema/Data-Science-Capston-Project-/blob/main/SpaceX_Machine%20Learning%20Prediction_Part_5%20(1).ipynb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A6083F-3422-FB52-D0EA-0B0428D35C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586" y="3416710"/>
            <a:ext cx="3785407" cy="303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132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6AA3D-BC61-573D-079A-2D05F41F8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BC13A03D-45E0-21B3-41DE-EB4E770C88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6795" y="2007307"/>
            <a:ext cx="6885824" cy="5123166"/>
          </a:xfrm>
        </p:spPr>
        <p:txBody>
          <a:bodyPr rtlCol="0">
            <a:normAutofit/>
          </a:bodyPr>
          <a:lstStyle/>
          <a:p>
            <a:r>
              <a:rPr lang="tr-TR" dirty="0"/>
              <a:t>1- SVM: </a:t>
            </a:r>
          </a:p>
          <a:p>
            <a:endParaRPr lang="tr-TR" dirty="0"/>
          </a:p>
          <a:p>
            <a:pPr latinLnBrk="1"/>
            <a:r>
              <a:rPr lang="tr-TR" dirty="0" err="1"/>
              <a:t>tuned</a:t>
            </a:r>
            <a:r>
              <a:rPr lang="tr-TR" dirty="0"/>
              <a:t> </a:t>
            </a:r>
            <a:r>
              <a:rPr lang="tr-TR" dirty="0" err="1"/>
              <a:t>hpyerparameters</a:t>
            </a:r>
            <a:r>
              <a:rPr lang="tr-TR" dirty="0"/>
              <a:t> :(</a:t>
            </a:r>
            <a:r>
              <a:rPr lang="tr-TR" dirty="0" err="1"/>
              <a:t>best</a:t>
            </a:r>
            <a:r>
              <a:rPr lang="tr-TR" dirty="0"/>
              <a:t> </a:t>
            </a:r>
            <a:r>
              <a:rPr lang="tr-TR" dirty="0" err="1"/>
              <a:t>parameters</a:t>
            </a:r>
            <a:r>
              <a:rPr lang="tr-TR" dirty="0"/>
              <a:t>)  {'C': 0.03162277660168379, 'gamma': 0.001, '</a:t>
            </a:r>
            <a:r>
              <a:rPr lang="tr-TR" dirty="0" err="1"/>
              <a:t>kernel</a:t>
            </a:r>
            <a:r>
              <a:rPr lang="tr-TR" dirty="0"/>
              <a:t>': '</a:t>
            </a:r>
            <a:r>
              <a:rPr lang="tr-TR" dirty="0" err="1"/>
              <a:t>linear</a:t>
            </a:r>
            <a:r>
              <a:rPr lang="tr-TR" dirty="0"/>
              <a:t>'}</a:t>
            </a:r>
          </a:p>
          <a:p>
            <a:pPr latinLnBrk="1"/>
            <a:r>
              <a:rPr lang="tr-TR" dirty="0" err="1"/>
              <a:t>accuracy</a:t>
            </a:r>
            <a:r>
              <a:rPr lang="tr-TR" dirty="0"/>
              <a:t> : 0.8342857142857142 ,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photo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confusion</a:t>
            </a:r>
            <a:r>
              <a:rPr lang="tr-TR" dirty="0"/>
              <a:t> </a:t>
            </a:r>
            <a:r>
              <a:rPr lang="tr-TR" dirty="0" err="1"/>
              <a:t>matrix</a:t>
            </a:r>
            <a:r>
              <a:rPr lang="tr-TR" dirty="0"/>
              <a:t>: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BC80ACB4-F71C-BAF7-B476-F5C068344AA4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AC5D343F-2CB7-728F-225C-C1463C8653B4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D092AC98-2B1D-42EE-DA5C-A5EF0EFBA4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D7287AB1-3F4C-9E99-AEFB-34A45AFD0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170714" cy="466657"/>
          </a:xfrm>
        </p:spPr>
        <p:txBody>
          <a:bodyPr rtlCol="0">
            <a:normAutofit fontScale="90000"/>
          </a:bodyPr>
          <a:lstStyle/>
          <a:p>
            <a:r>
              <a:rPr lang="tr-TR" dirty="0"/>
              <a:t>TASK4: </a:t>
            </a:r>
            <a:r>
              <a:rPr lang="tr-TR" dirty="0" err="1"/>
              <a:t>Predective</a:t>
            </a:r>
            <a:r>
              <a:rPr lang="tr-TR" dirty="0"/>
              <a:t> </a:t>
            </a:r>
            <a:r>
              <a:rPr lang="tr-TR" dirty="0" err="1"/>
              <a:t>Anaylsis</a:t>
            </a:r>
            <a:r>
              <a:rPr lang="tr-TR" dirty="0"/>
              <a:t> </a:t>
            </a:r>
            <a:r>
              <a:rPr lang="tr-TR" dirty="0" err="1"/>
              <a:t>Outpusta</a:t>
            </a:r>
            <a:br>
              <a:rPr lang="tr-TR" b="1" dirty="0"/>
            </a:br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C3DC840-B36A-6C09-6BCE-5796D35A1EF0}"/>
              </a:ext>
            </a:extLst>
          </p:cNvPr>
          <p:cNvSpPr txBox="1">
            <a:spLocks/>
          </p:cNvSpPr>
          <p:nvPr/>
        </p:nvSpPr>
        <p:spPr>
          <a:xfrm>
            <a:off x="8229600" y="2002949"/>
            <a:ext cx="3569110" cy="264770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dirty="0"/>
              <a:t>Link:</a:t>
            </a:r>
          </a:p>
          <a:p>
            <a:endParaRPr lang="tr-TR" dirty="0"/>
          </a:p>
          <a:p>
            <a:r>
              <a:rPr lang="tr-TR" dirty="0"/>
              <a:t>https://github.com/Selmabanzema/Data-Science-Capston-Project-/blob/main/SpaceX_Machine%20Learning%20Prediction_Part_5%20(1).ipynb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D40D3B-4C7B-A659-E423-BB2BDDEAF4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6795" y="3517184"/>
            <a:ext cx="4016355" cy="308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157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360C0-C297-31FE-B8FA-E7C8243DE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258A0045-17CC-096C-5B8D-137C66EB8A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6795" y="2007307"/>
            <a:ext cx="6885824" cy="5123166"/>
          </a:xfrm>
        </p:spPr>
        <p:txBody>
          <a:bodyPr rtlCol="0">
            <a:normAutofit/>
          </a:bodyPr>
          <a:lstStyle/>
          <a:p>
            <a:r>
              <a:rPr lang="tr-TR" dirty="0"/>
              <a:t>1- TREE: </a:t>
            </a:r>
          </a:p>
          <a:p>
            <a:pPr latinLnBrk="1"/>
            <a:r>
              <a:rPr lang="tr-TR" dirty="0" err="1"/>
              <a:t>tuned</a:t>
            </a:r>
            <a:r>
              <a:rPr lang="tr-TR" dirty="0"/>
              <a:t> </a:t>
            </a:r>
            <a:r>
              <a:rPr lang="tr-TR" dirty="0" err="1"/>
              <a:t>hpyrparameters</a:t>
            </a:r>
            <a:r>
              <a:rPr lang="tr-TR" dirty="0"/>
              <a:t> :(</a:t>
            </a:r>
            <a:r>
              <a:rPr lang="tr-TR" dirty="0" err="1"/>
              <a:t>best</a:t>
            </a:r>
            <a:r>
              <a:rPr lang="tr-TR" dirty="0"/>
              <a:t> </a:t>
            </a:r>
            <a:r>
              <a:rPr lang="tr-TR" dirty="0" err="1"/>
              <a:t>parameters</a:t>
            </a:r>
            <a:r>
              <a:rPr lang="tr-TR" dirty="0"/>
              <a:t>)  {'</a:t>
            </a:r>
            <a:r>
              <a:rPr lang="tr-TR" dirty="0" err="1"/>
              <a:t>criterion</a:t>
            </a:r>
            <a:r>
              <a:rPr lang="tr-TR" dirty="0"/>
              <a:t>': '</a:t>
            </a:r>
            <a:r>
              <a:rPr lang="tr-TR" dirty="0" err="1"/>
              <a:t>entropy</a:t>
            </a:r>
            <a:r>
              <a:rPr lang="tr-TR" dirty="0"/>
              <a:t>', '</a:t>
            </a:r>
            <a:r>
              <a:rPr lang="tr-TR" dirty="0" err="1"/>
              <a:t>max_depth</a:t>
            </a:r>
            <a:r>
              <a:rPr lang="tr-TR" dirty="0"/>
              <a:t>': 10, '</a:t>
            </a:r>
            <a:r>
              <a:rPr lang="tr-TR" dirty="0" err="1"/>
              <a:t>max_features</a:t>
            </a:r>
            <a:r>
              <a:rPr lang="tr-TR" dirty="0"/>
              <a:t>': '</a:t>
            </a:r>
            <a:r>
              <a:rPr lang="tr-TR" dirty="0" err="1"/>
              <a:t>sqrt</a:t>
            </a:r>
            <a:r>
              <a:rPr lang="tr-TR" dirty="0"/>
              <a:t>', '</a:t>
            </a:r>
            <a:r>
              <a:rPr lang="tr-TR" dirty="0" err="1"/>
              <a:t>min_samples_leaf</a:t>
            </a:r>
            <a:r>
              <a:rPr lang="tr-TR" dirty="0"/>
              <a:t>': 1, '</a:t>
            </a:r>
            <a:r>
              <a:rPr lang="tr-TR" dirty="0" err="1"/>
              <a:t>min_samples_split</a:t>
            </a:r>
            <a:r>
              <a:rPr lang="tr-TR" dirty="0"/>
              <a:t>': 5, '</a:t>
            </a:r>
            <a:r>
              <a:rPr lang="tr-TR" dirty="0" err="1"/>
              <a:t>splitter</a:t>
            </a:r>
            <a:r>
              <a:rPr lang="tr-TR" dirty="0"/>
              <a:t>': '</a:t>
            </a:r>
            <a:r>
              <a:rPr lang="tr-TR" dirty="0" err="1"/>
              <a:t>best</a:t>
            </a:r>
            <a:r>
              <a:rPr lang="tr-TR" dirty="0"/>
              <a:t>'}</a:t>
            </a:r>
          </a:p>
          <a:p>
            <a:pPr latinLnBrk="1"/>
            <a:r>
              <a:rPr lang="tr-TR" dirty="0" err="1"/>
              <a:t>accuracy</a:t>
            </a:r>
            <a:r>
              <a:rPr lang="tr-TR" dirty="0"/>
              <a:t> : 0.8607142857142858</a:t>
            </a:r>
          </a:p>
          <a:p>
            <a:pPr latinLnBrk="1"/>
            <a:r>
              <a:rPr lang="tr-TR" dirty="0"/>
              <a:t>,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photo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confusion</a:t>
            </a:r>
            <a:r>
              <a:rPr lang="tr-TR" dirty="0"/>
              <a:t> </a:t>
            </a:r>
            <a:r>
              <a:rPr lang="tr-TR" dirty="0" err="1"/>
              <a:t>matrix</a:t>
            </a:r>
            <a:r>
              <a:rPr lang="tr-TR" dirty="0"/>
              <a:t>: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B13E9337-506E-852D-0135-4BD7B6883A97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51FBF2BB-A916-47EF-4840-24B7D3E23715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B8D0CE28-2E38-F063-FEEA-FA22B36C5D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EEFC6FBD-C88E-E86F-9A8F-0155AFBFB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170714" cy="466657"/>
          </a:xfrm>
        </p:spPr>
        <p:txBody>
          <a:bodyPr rtlCol="0">
            <a:normAutofit fontScale="90000"/>
          </a:bodyPr>
          <a:lstStyle/>
          <a:p>
            <a:r>
              <a:rPr lang="tr-TR" dirty="0"/>
              <a:t>TASK4: </a:t>
            </a:r>
            <a:r>
              <a:rPr lang="tr-TR" dirty="0" err="1"/>
              <a:t>Predective</a:t>
            </a:r>
            <a:r>
              <a:rPr lang="tr-TR" dirty="0"/>
              <a:t> </a:t>
            </a:r>
            <a:r>
              <a:rPr lang="tr-TR" dirty="0" err="1"/>
              <a:t>Anaylsis</a:t>
            </a:r>
            <a:r>
              <a:rPr lang="tr-TR" dirty="0"/>
              <a:t> </a:t>
            </a:r>
            <a:r>
              <a:rPr lang="tr-TR" dirty="0" err="1"/>
              <a:t>Outpusta</a:t>
            </a:r>
            <a:br>
              <a:rPr lang="tr-TR" b="1" dirty="0"/>
            </a:br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7DCCCFA-C50B-8AD2-5EE3-BFCD916C04C9}"/>
              </a:ext>
            </a:extLst>
          </p:cNvPr>
          <p:cNvSpPr txBox="1">
            <a:spLocks/>
          </p:cNvSpPr>
          <p:nvPr/>
        </p:nvSpPr>
        <p:spPr>
          <a:xfrm>
            <a:off x="8229600" y="2002949"/>
            <a:ext cx="3569110" cy="264770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dirty="0"/>
              <a:t>Link:</a:t>
            </a:r>
          </a:p>
          <a:p>
            <a:endParaRPr lang="tr-TR" dirty="0"/>
          </a:p>
          <a:p>
            <a:r>
              <a:rPr lang="tr-TR" dirty="0"/>
              <a:t>https://github.com/Selmabanzema/Data-Science-Capston-Project-/blob/main/SpaceX_Machine%20Learning%20Prediction_Part_5%20(1).ipynb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970670-14E4-6924-E0FB-724B91E2F1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460" y="3588774"/>
            <a:ext cx="4141691" cy="2882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146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33162-ED1C-30F7-6694-4F85D8385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D0CDDC42-AA1F-4F54-16E6-442698A4D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6795" y="2007307"/>
            <a:ext cx="6885824" cy="5123166"/>
          </a:xfrm>
        </p:spPr>
        <p:txBody>
          <a:bodyPr rtlCol="0">
            <a:normAutofit/>
          </a:bodyPr>
          <a:lstStyle/>
          <a:p>
            <a:r>
              <a:rPr lang="tr-TR" dirty="0"/>
              <a:t>1- </a:t>
            </a:r>
            <a:r>
              <a:rPr lang="tr-TR" dirty="0" err="1"/>
              <a:t>knn</a:t>
            </a:r>
            <a:r>
              <a:rPr lang="tr-TR" dirty="0"/>
              <a:t>: </a:t>
            </a:r>
          </a:p>
          <a:p>
            <a:pPr latinLnBrk="1"/>
            <a:r>
              <a:rPr lang="tr-TR" dirty="0" err="1"/>
              <a:t>tuned</a:t>
            </a:r>
            <a:r>
              <a:rPr lang="tr-TR" dirty="0"/>
              <a:t> </a:t>
            </a:r>
            <a:r>
              <a:rPr lang="tr-TR" dirty="0" err="1"/>
              <a:t>hpyerparameters</a:t>
            </a:r>
            <a:r>
              <a:rPr lang="tr-TR" dirty="0"/>
              <a:t> :(</a:t>
            </a:r>
            <a:r>
              <a:rPr lang="tr-TR" dirty="0" err="1"/>
              <a:t>best</a:t>
            </a:r>
            <a:r>
              <a:rPr lang="tr-TR" dirty="0"/>
              <a:t> </a:t>
            </a:r>
            <a:r>
              <a:rPr lang="tr-TR" dirty="0" err="1"/>
              <a:t>parameters</a:t>
            </a:r>
            <a:r>
              <a:rPr lang="tr-TR" dirty="0"/>
              <a:t>)  {'</a:t>
            </a:r>
            <a:r>
              <a:rPr lang="tr-TR" dirty="0" err="1"/>
              <a:t>algorithm</a:t>
            </a:r>
            <a:r>
              <a:rPr lang="tr-TR" dirty="0"/>
              <a:t>': '</a:t>
            </a:r>
            <a:r>
              <a:rPr lang="tr-TR" dirty="0" err="1"/>
              <a:t>auto</a:t>
            </a:r>
            <a:r>
              <a:rPr lang="tr-TR" dirty="0"/>
              <a:t>', '</a:t>
            </a:r>
            <a:r>
              <a:rPr lang="tr-TR" dirty="0" err="1"/>
              <a:t>n_neighbors</a:t>
            </a:r>
            <a:r>
              <a:rPr lang="tr-TR" dirty="0"/>
              <a:t>': 8, 'p': 1}</a:t>
            </a:r>
          </a:p>
          <a:p>
            <a:pPr latinLnBrk="1"/>
            <a:r>
              <a:rPr lang="tr-TR" dirty="0" err="1"/>
              <a:t>accuracy</a:t>
            </a:r>
            <a:r>
              <a:rPr lang="tr-TR" dirty="0"/>
              <a:t> : 0.8609523809523811</a:t>
            </a:r>
          </a:p>
          <a:p>
            <a:pPr latinLnBrk="1"/>
            <a:endParaRPr lang="tr-TR" dirty="0"/>
          </a:p>
          <a:p>
            <a:pPr latinLnBrk="1"/>
            <a:r>
              <a:rPr lang="tr-TR" dirty="0"/>
              <a:t>,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photo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confusion</a:t>
            </a:r>
            <a:r>
              <a:rPr lang="tr-TR" dirty="0"/>
              <a:t> </a:t>
            </a:r>
            <a:r>
              <a:rPr lang="tr-TR" dirty="0" err="1"/>
              <a:t>matrix</a:t>
            </a:r>
            <a:r>
              <a:rPr lang="tr-TR" dirty="0"/>
              <a:t>: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87EAE3C7-153A-797B-7A27-1C14E9491674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AB5112C0-7C0C-7C5D-79B6-8EBE51198AED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5BA4753F-BCED-0A2A-0EB8-23933AD95B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3624AA73-8553-9593-5690-C4851711D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170714" cy="466657"/>
          </a:xfrm>
        </p:spPr>
        <p:txBody>
          <a:bodyPr rtlCol="0">
            <a:normAutofit fontScale="90000"/>
          </a:bodyPr>
          <a:lstStyle/>
          <a:p>
            <a:r>
              <a:rPr lang="tr-TR" dirty="0"/>
              <a:t>TASK4: </a:t>
            </a:r>
            <a:r>
              <a:rPr lang="tr-TR" dirty="0" err="1"/>
              <a:t>Predective</a:t>
            </a:r>
            <a:r>
              <a:rPr lang="tr-TR" dirty="0"/>
              <a:t> </a:t>
            </a:r>
            <a:r>
              <a:rPr lang="tr-TR" dirty="0" err="1"/>
              <a:t>Anaylsis</a:t>
            </a:r>
            <a:r>
              <a:rPr lang="tr-TR" dirty="0"/>
              <a:t> </a:t>
            </a:r>
            <a:r>
              <a:rPr lang="tr-TR" dirty="0" err="1"/>
              <a:t>Outpusta</a:t>
            </a:r>
            <a:br>
              <a:rPr lang="tr-TR" b="1" dirty="0"/>
            </a:br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7DD28D8-FB8D-35BB-85CE-CE5127C242B6}"/>
              </a:ext>
            </a:extLst>
          </p:cNvPr>
          <p:cNvSpPr txBox="1">
            <a:spLocks/>
          </p:cNvSpPr>
          <p:nvPr/>
        </p:nvSpPr>
        <p:spPr>
          <a:xfrm>
            <a:off x="8229600" y="2002949"/>
            <a:ext cx="3569110" cy="264770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dirty="0"/>
              <a:t>Link:</a:t>
            </a:r>
          </a:p>
          <a:p>
            <a:endParaRPr lang="tr-TR" dirty="0"/>
          </a:p>
          <a:p>
            <a:r>
              <a:rPr lang="tr-TR" dirty="0"/>
              <a:t>https://github.com/Selmabanzema/Data-Science-Capston-Project-/blob/main/SpaceX_Machine%20Learning%20Prediction_Part_5%20(1).ipynb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EDDDA8-CCE5-8910-5DCE-E94B092696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6795" y="3506506"/>
            <a:ext cx="4632099" cy="335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950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A0B2F-62A6-428C-40D1-BBD7C5B1C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5F6CA96A-0CDF-79AC-397E-CF3EB5AF4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6795" y="2007307"/>
            <a:ext cx="6885824" cy="5123166"/>
          </a:xfrm>
        </p:spPr>
        <p:txBody>
          <a:bodyPr rtlCol="0">
            <a:normAutofit/>
          </a:bodyPr>
          <a:lstStyle/>
          <a:p>
            <a:r>
              <a:rPr lang="tr-TR" dirty="0" err="1"/>
              <a:t>The</a:t>
            </a:r>
            <a:r>
              <a:rPr lang="tr-TR" dirty="0"/>
              <a:t> Best model is KNN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5C17338F-0851-F893-F81C-FCE7A41BB149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DE46847D-4AF4-D26E-A6F8-DAB0CD91DFF5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A3630464-0FA2-C95C-5B63-1BDB461EC1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9F7E64CB-3561-B69E-25D0-022198154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170714" cy="466657"/>
          </a:xfrm>
        </p:spPr>
        <p:txBody>
          <a:bodyPr rtlCol="0">
            <a:normAutofit fontScale="90000"/>
          </a:bodyPr>
          <a:lstStyle/>
          <a:p>
            <a:r>
              <a:rPr lang="tr-TR" dirty="0"/>
              <a:t>TASK4: </a:t>
            </a:r>
            <a:r>
              <a:rPr lang="tr-TR" dirty="0" err="1"/>
              <a:t>Predective</a:t>
            </a:r>
            <a:r>
              <a:rPr lang="tr-TR" dirty="0"/>
              <a:t> </a:t>
            </a:r>
            <a:r>
              <a:rPr lang="tr-TR" dirty="0" err="1"/>
              <a:t>Anaylsis</a:t>
            </a:r>
            <a:r>
              <a:rPr lang="tr-TR" dirty="0"/>
              <a:t> </a:t>
            </a:r>
            <a:r>
              <a:rPr lang="tr-TR" dirty="0" err="1"/>
              <a:t>Outpusta</a:t>
            </a:r>
            <a:br>
              <a:rPr lang="tr-TR" b="1" dirty="0"/>
            </a:br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3CDBB1E-9DBE-5EE6-BFF4-472B1B63FC69}"/>
              </a:ext>
            </a:extLst>
          </p:cNvPr>
          <p:cNvSpPr txBox="1">
            <a:spLocks/>
          </p:cNvSpPr>
          <p:nvPr/>
        </p:nvSpPr>
        <p:spPr>
          <a:xfrm>
            <a:off x="8229600" y="2002949"/>
            <a:ext cx="3569110" cy="264770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dirty="0"/>
              <a:t>Link:</a:t>
            </a:r>
          </a:p>
          <a:p>
            <a:endParaRPr lang="tr-TR" dirty="0"/>
          </a:p>
          <a:p>
            <a:r>
              <a:rPr lang="tr-TR" dirty="0"/>
              <a:t>https://github.com/Selmabanzema/Data-Science-Capston-Project-/blob/main/SpaceX_Machine%20Learning%20Prediction_Part_5%20(1).ipynb</a:t>
            </a:r>
          </a:p>
        </p:txBody>
      </p:sp>
    </p:spTree>
    <p:extLst>
      <p:ext uri="{BB962C8B-B14F-4D97-AF65-F5344CB8AC3E}">
        <p14:creationId xmlns:p14="http://schemas.microsoft.com/office/powerpoint/2010/main" val="2028442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2E12F-FCD3-9C2D-529A-8AFBDFE83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483818DC-FCA7-671F-B1F3-253C69A3F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5071" y="1925267"/>
            <a:ext cx="6885824" cy="5123166"/>
          </a:xfrm>
        </p:spPr>
        <p:txBody>
          <a:bodyPr rtlCol="0">
            <a:normAutofit/>
          </a:bodyPr>
          <a:lstStyle/>
          <a:p>
            <a:r>
              <a:rPr lang="tr-TR" b="1" dirty="0" err="1"/>
              <a:t>Conclusion</a:t>
            </a:r>
            <a:r>
              <a:rPr lang="tr-TR" b="1" dirty="0"/>
              <a:t>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Innovative</a:t>
            </a:r>
            <a:r>
              <a:rPr lang="tr-TR" b="1" dirty="0"/>
              <a:t> </a:t>
            </a:r>
            <a:r>
              <a:rPr lang="tr-TR" b="1" dirty="0" err="1"/>
              <a:t>Insight</a:t>
            </a:r>
            <a:endParaRPr lang="tr-TR" dirty="0"/>
          </a:p>
          <a:p>
            <a:r>
              <a:rPr lang="tr-TR" dirty="0" err="1"/>
              <a:t>Overall</a:t>
            </a:r>
            <a:r>
              <a:rPr lang="tr-TR" dirty="0"/>
              <a:t>,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machine</a:t>
            </a:r>
            <a:r>
              <a:rPr lang="tr-TR" dirty="0"/>
              <a:t> </a:t>
            </a:r>
            <a:r>
              <a:rPr lang="tr-TR" dirty="0" err="1"/>
              <a:t>learning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demonstrates</a:t>
            </a:r>
            <a:r>
              <a:rPr lang="tr-TR" dirty="0"/>
              <a:t> how </a:t>
            </a:r>
            <a:r>
              <a:rPr lang="tr-TR" dirty="0" err="1"/>
              <a:t>historical</a:t>
            </a:r>
            <a:r>
              <a:rPr lang="tr-TR" dirty="0"/>
              <a:t> </a:t>
            </a:r>
            <a:r>
              <a:rPr lang="tr-TR" dirty="0" err="1"/>
              <a:t>SpaceX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data can be </a:t>
            </a:r>
            <a:r>
              <a:rPr lang="tr-TR" dirty="0" err="1"/>
              <a:t>transformed</a:t>
            </a:r>
            <a:r>
              <a:rPr lang="tr-TR" dirty="0"/>
              <a:t> </a:t>
            </a:r>
            <a:r>
              <a:rPr lang="tr-TR" dirty="0" err="1"/>
              <a:t>into</a:t>
            </a:r>
            <a:r>
              <a:rPr lang="tr-TR" dirty="0"/>
              <a:t> a </a:t>
            </a:r>
            <a:r>
              <a:rPr lang="tr-TR" dirty="0" err="1"/>
              <a:t>predictive</a:t>
            </a:r>
            <a:r>
              <a:rPr lang="tr-TR" dirty="0"/>
              <a:t> </a:t>
            </a:r>
            <a:r>
              <a:rPr lang="tr-TR" dirty="0" err="1"/>
              <a:t>framework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Falcon 9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success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project</a:t>
            </a:r>
            <a:r>
              <a:rPr lang="tr-TR" dirty="0"/>
              <a:t> </a:t>
            </a:r>
            <a:r>
              <a:rPr lang="tr-TR" dirty="0" err="1"/>
              <a:t>combines</a:t>
            </a:r>
            <a:r>
              <a:rPr lang="tr-TR" dirty="0"/>
              <a:t> </a:t>
            </a:r>
            <a:r>
              <a:rPr lang="tr-TR" b="1" dirty="0"/>
              <a:t>data </a:t>
            </a:r>
            <a:r>
              <a:rPr lang="tr-TR" b="1" dirty="0" err="1"/>
              <a:t>preparation</a:t>
            </a:r>
            <a:r>
              <a:rPr lang="tr-TR" b="1" dirty="0"/>
              <a:t>, </a:t>
            </a:r>
            <a:r>
              <a:rPr lang="tr-TR" b="1" dirty="0" err="1"/>
              <a:t>feature</a:t>
            </a:r>
            <a:r>
              <a:rPr lang="tr-TR" b="1" dirty="0"/>
              <a:t> </a:t>
            </a:r>
            <a:r>
              <a:rPr lang="tr-TR" b="1" dirty="0" err="1"/>
              <a:t>engineering</a:t>
            </a:r>
            <a:r>
              <a:rPr lang="tr-TR" b="1" dirty="0"/>
              <a:t>, multiple </a:t>
            </a:r>
            <a:r>
              <a:rPr lang="tr-TR" b="1" dirty="0" err="1"/>
              <a:t>classification</a:t>
            </a:r>
            <a:r>
              <a:rPr lang="tr-TR" b="1" dirty="0"/>
              <a:t> </a:t>
            </a:r>
            <a:r>
              <a:rPr lang="tr-TR" b="1" dirty="0" err="1"/>
              <a:t>algorithms</a:t>
            </a:r>
            <a:r>
              <a:rPr lang="tr-TR" b="1" dirty="0"/>
              <a:t>, </a:t>
            </a:r>
            <a:r>
              <a:rPr lang="tr-TR" b="1" dirty="0" err="1"/>
              <a:t>hyperparameter</a:t>
            </a:r>
            <a:r>
              <a:rPr lang="tr-TR" b="1" dirty="0"/>
              <a:t> </a:t>
            </a:r>
            <a:r>
              <a:rPr lang="tr-TR" b="1" dirty="0" err="1"/>
              <a:t>optimization</a:t>
            </a:r>
            <a:r>
              <a:rPr lang="tr-TR" b="1" dirty="0"/>
              <a:t>, </a:t>
            </a:r>
            <a:r>
              <a:rPr lang="tr-TR" b="1" dirty="0" err="1"/>
              <a:t>and</a:t>
            </a:r>
            <a:r>
              <a:rPr lang="tr-TR" b="1" dirty="0"/>
              <a:t> model </a:t>
            </a:r>
            <a:r>
              <a:rPr lang="tr-TR" b="1" dirty="0" err="1"/>
              <a:t>evaluation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move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raw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records</a:t>
            </a:r>
            <a:r>
              <a:rPr lang="tr-TR" dirty="0"/>
              <a:t> </a:t>
            </a:r>
            <a:r>
              <a:rPr lang="tr-TR" dirty="0" err="1"/>
              <a:t>toward</a:t>
            </a:r>
            <a:r>
              <a:rPr lang="tr-TR" dirty="0"/>
              <a:t> </a:t>
            </a:r>
            <a:r>
              <a:rPr lang="tr-TR" dirty="0" err="1"/>
              <a:t>predictive</a:t>
            </a:r>
            <a:r>
              <a:rPr lang="tr-TR" dirty="0"/>
              <a:t> </a:t>
            </a:r>
            <a:r>
              <a:rPr lang="tr-TR" dirty="0" err="1"/>
              <a:t>insight</a:t>
            </a:r>
            <a:r>
              <a:rPr lang="tr-TR" dirty="0"/>
              <a:t>.</a:t>
            </a:r>
          </a:p>
          <a:p>
            <a:r>
              <a:rPr lang="tr-TR" dirty="0"/>
              <a:t>A </a:t>
            </a:r>
            <a:r>
              <a:rPr lang="tr-TR" dirty="0" err="1"/>
              <a:t>particularly</a:t>
            </a:r>
            <a:r>
              <a:rPr lang="tr-TR" dirty="0"/>
              <a:t> </a:t>
            </a:r>
            <a:r>
              <a:rPr lang="tr-TR" dirty="0" err="1"/>
              <a:t>interesting</a:t>
            </a:r>
            <a:r>
              <a:rPr lang="tr-TR" dirty="0"/>
              <a:t> </a:t>
            </a:r>
            <a:r>
              <a:rPr lang="tr-TR" dirty="0" err="1"/>
              <a:t>insight</a:t>
            </a:r>
            <a:r>
              <a:rPr lang="tr-TR" dirty="0"/>
              <a:t> is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prediction</a:t>
            </a:r>
            <a:r>
              <a:rPr lang="tr-TR" dirty="0"/>
              <a:t> </a:t>
            </a:r>
            <a:r>
              <a:rPr lang="tr-TR" dirty="0" err="1"/>
              <a:t>should</a:t>
            </a:r>
            <a:r>
              <a:rPr lang="tr-TR" dirty="0"/>
              <a:t> not be </a:t>
            </a:r>
            <a:r>
              <a:rPr lang="tr-TR" dirty="0" err="1"/>
              <a:t>interpreted</a:t>
            </a:r>
            <a:r>
              <a:rPr lang="tr-TR" dirty="0"/>
              <a:t> as a </a:t>
            </a:r>
            <a:r>
              <a:rPr lang="tr-TR" dirty="0" err="1"/>
              <a:t>simple</a:t>
            </a:r>
            <a:r>
              <a:rPr lang="tr-TR" dirty="0"/>
              <a:t> </a:t>
            </a:r>
            <a:r>
              <a:rPr lang="tr-TR" dirty="0" err="1"/>
              <a:t>question</a:t>
            </a:r>
            <a:r>
              <a:rPr lang="tr-TR" dirty="0"/>
              <a:t> of </a:t>
            </a:r>
            <a:r>
              <a:rPr lang="tr-TR" dirty="0" err="1"/>
              <a:t>whether</a:t>
            </a:r>
            <a:r>
              <a:rPr lang="tr-TR" dirty="0"/>
              <a:t> a </a:t>
            </a:r>
            <a:r>
              <a:rPr lang="tr-TR" dirty="0" err="1"/>
              <a:t>rocket</a:t>
            </a:r>
            <a:r>
              <a:rPr lang="tr-TR" dirty="0"/>
              <a:t> is “</a:t>
            </a:r>
            <a:r>
              <a:rPr lang="tr-TR" dirty="0" err="1"/>
              <a:t>good</a:t>
            </a:r>
            <a:r>
              <a:rPr lang="tr-TR" dirty="0"/>
              <a:t>” </a:t>
            </a:r>
            <a:r>
              <a:rPr lang="tr-TR" dirty="0" err="1"/>
              <a:t>or</a:t>
            </a:r>
            <a:r>
              <a:rPr lang="tr-TR" dirty="0"/>
              <a:t> “</a:t>
            </a:r>
            <a:r>
              <a:rPr lang="tr-TR" dirty="0" err="1"/>
              <a:t>bad</a:t>
            </a:r>
            <a:r>
              <a:rPr lang="tr-TR" dirty="0"/>
              <a:t>.”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success</a:t>
            </a:r>
            <a:r>
              <a:rPr lang="tr-TR" dirty="0"/>
              <a:t> is </a:t>
            </a:r>
            <a:r>
              <a:rPr lang="tr-TR" dirty="0" err="1"/>
              <a:t>influenced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a </a:t>
            </a:r>
            <a:r>
              <a:rPr lang="tr-TR" b="1" dirty="0" err="1"/>
              <a:t>combination</a:t>
            </a:r>
            <a:r>
              <a:rPr lang="tr-TR" b="1" dirty="0"/>
              <a:t> of </a:t>
            </a:r>
            <a:r>
              <a:rPr lang="tr-TR" b="1" dirty="0" err="1"/>
              <a:t>operational</a:t>
            </a:r>
            <a:r>
              <a:rPr lang="tr-TR" b="1" dirty="0"/>
              <a:t> </a:t>
            </a:r>
            <a:r>
              <a:rPr lang="tr-TR" b="1" dirty="0" err="1"/>
              <a:t>factors</a:t>
            </a:r>
            <a:r>
              <a:rPr lang="tr-TR" dirty="0"/>
              <a:t>, </a:t>
            </a:r>
            <a:r>
              <a:rPr lang="tr-TR" dirty="0" err="1"/>
              <a:t>meaning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same</a:t>
            </a:r>
            <a:r>
              <a:rPr lang="tr-TR" dirty="0"/>
              <a:t> </a:t>
            </a:r>
            <a:r>
              <a:rPr lang="tr-TR" dirty="0" err="1"/>
              <a:t>payload</a:t>
            </a:r>
            <a:r>
              <a:rPr lang="tr-TR" dirty="0"/>
              <a:t> </a:t>
            </a:r>
            <a:r>
              <a:rPr lang="tr-TR" dirty="0" err="1"/>
              <a:t>mass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booster</a:t>
            </a:r>
            <a:r>
              <a:rPr lang="tr-TR" dirty="0"/>
              <a:t> </a:t>
            </a:r>
            <a:r>
              <a:rPr lang="tr-TR" dirty="0" err="1"/>
              <a:t>type</a:t>
            </a:r>
            <a:r>
              <a:rPr lang="tr-TR" dirty="0"/>
              <a:t> can </a:t>
            </a:r>
            <a:r>
              <a:rPr lang="tr-TR" dirty="0" err="1"/>
              <a:t>have</a:t>
            </a:r>
            <a:r>
              <a:rPr lang="tr-TR" dirty="0"/>
              <a:t> </a:t>
            </a:r>
            <a:r>
              <a:rPr lang="tr-TR" dirty="0" err="1"/>
              <a:t>different</a:t>
            </a:r>
            <a:r>
              <a:rPr lang="tr-TR" dirty="0"/>
              <a:t> </a:t>
            </a:r>
            <a:r>
              <a:rPr lang="tr-TR" dirty="0" err="1"/>
              <a:t>implications</a:t>
            </a:r>
            <a:r>
              <a:rPr lang="tr-TR" dirty="0"/>
              <a:t> </a:t>
            </a:r>
            <a:r>
              <a:rPr lang="tr-TR" dirty="0" err="1"/>
              <a:t>under</a:t>
            </a:r>
            <a:r>
              <a:rPr lang="tr-TR" dirty="0"/>
              <a:t> </a:t>
            </a:r>
            <a:r>
              <a:rPr lang="tr-TR" dirty="0" err="1"/>
              <a:t>different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conditions</a:t>
            </a:r>
            <a:r>
              <a:rPr lang="tr-TR" dirty="0"/>
              <a:t>.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suggests</a:t>
            </a:r>
            <a:r>
              <a:rPr lang="tr-TR" dirty="0"/>
              <a:t> a </a:t>
            </a:r>
            <a:r>
              <a:rPr lang="tr-TR" dirty="0" err="1"/>
              <a:t>more</a:t>
            </a:r>
            <a:r>
              <a:rPr lang="tr-TR" dirty="0"/>
              <a:t> </a:t>
            </a:r>
            <a:r>
              <a:rPr lang="tr-TR" dirty="0" err="1"/>
              <a:t>innovative</a:t>
            </a:r>
            <a:r>
              <a:rPr lang="tr-TR" dirty="0"/>
              <a:t> </a:t>
            </a:r>
            <a:r>
              <a:rPr lang="tr-TR" dirty="0" err="1"/>
              <a:t>direction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future</a:t>
            </a:r>
            <a:r>
              <a:rPr lang="tr-TR" dirty="0"/>
              <a:t> </a:t>
            </a:r>
            <a:r>
              <a:rPr lang="tr-TR" dirty="0" err="1"/>
              <a:t>work</a:t>
            </a:r>
            <a:r>
              <a:rPr lang="tr-TR" dirty="0"/>
              <a:t>: </a:t>
            </a:r>
            <a:r>
              <a:rPr lang="tr-TR" dirty="0" err="1"/>
              <a:t>instead</a:t>
            </a:r>
            <a:r>
              <a:rPr lang="tr-TR" dirty="0"/>
              <a:t> of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model </a:t>
            </a:r>
            <a:r>
              <a:rPr lang="tr-TR" dirty="0" err="1"/>
              <a:t>only</a:t>
            </a:r>
            <a:r>
              <a:rPr lang="tr-TR" dirty="0"/>
              <a:t> as a </a:t>
            </a:r>
            <a:r>
              <a:rPr lang="tr-TR" dirty="0" err="1"/>
              <a:t>yes</a:t>
            </a:r>
            <a:r>
              <a:rPr lang="tr-TR" dirty="0"/>
              <a:t>/</a:t>
            </a:r>
            <a:r>
              <a:rPr lang="tr-TR" dirty="0" err="1"/>
              <a:t>no</a:t>
            </a:r>
            <a:r>
              <a:rPr lang="tr-TR" dirty="0"/>
              <a:t> </a:t>
            </a:r>
            <a:r>
              <a:rPr lang="tr-TR" dirty="0" err="1"/>
              <a:t>predictor</a:t>
            </a:r>
            <a:r>
              <a:rPr lang="tr-TR" dirty="0"/>
              <a:t>, it </a:t>
            </a:r>
            <a:r>
              <a:rPr lang="tr-TR" dirty="0" err="1"/>
              <a:t>could</a:t>
            </a:r>
            <a:r>
              <a:rPr lang="tr-TR" dirty="0"/>
              <a:t> be </a:t>
            </a:r>
            <a:r>
              <a:rPr lang="tr-TR" dirty="0" err="1"/>
              <a:t>developed</a:t>
            </a:r>
            <a:r>
              <a:rPr lang="tr-TR" dirty="0"/>
              <a:t> </a:t>
            </a:r>
            <a:r>
              <a:rPr lang="tr-TR" dirty="0" err="1"/>
              <a:t>into</a:t>
            </a:r>
            <a:r>
              <a:rPr lang="tr-TR" dirty="0"/>
              <a:t> a </a:t>
            </a:r>
            <a:r>
              <a:rPr lang="tr-TR" b="1" dirty="0" err="1"/>
              <a:t>mission</a:t>
            </a:r>
            <a:r>
              <a:rPr lang="tr-TR" b="1" dirty="0"/>
              <a:t>-risk </a:t>
            </a:r>
            <a:r>
              <a:rPr lang="tr-TR" b="1" dirty="0" err="1"/>
              <a:t>analysis</a:t>
            </a:r>
            <a:r>
              <a:rPr lang="tr-TR" b="1" dirty="0"/>
              <a:t> </a:t>
            </a:r>
            <a:r>
              <a:rPr lang="tr-TR" b="1" dirty="0" err="1"/>
              <a:t>tool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estimates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probability</a:t>
            </a:r>
            <a:r>
              <a:rPr lang="tr-TR" dirty="0"/>
              <a:t> of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success</a:t>
            </a:r>
            <a:r>
              <a:rPr lang="tr-TR" dirty="0"/>
              <a:t> </a:t>
            </a:r>
            <a:r>
              <a:rPr lang="tr-TR" dirty="0" err="1"/>
              <a:t>under</a:t>
            </a:r>
            <a:r>
              <a:rPr lang="tr-TR" dirty="0"/>
              <a:t> </a:t>
            </a:r>
            <a:r>
              <a:rPr lang="tr-TR" dirty="0" err="1"/>
              <a:t>different</a:t>
            </a:r>
            <a:r>
              <a:rPr lang="tr-TR" dirty="0"/>
              <a:t> </a:t>
            </a:r>
            <a:r>
              <a:rPr lang="tr-TR" dirty="0" err="1"/>
              <a:t>combinations</a:t>
            </a:r>
            <a:r>
              <a:rPr lang="tr-TR" dirty="0"/>
              <a:t> of </a:t>
            </a:r>
            <a:r>
              <a:rPr lang="tr-TR" dirty="0" err="1"/>
              <a:t>launch</a:t>
            </a:r>
            <a:r>
              <a:rPr lang="tr-TR" dirty="0"/>
              <a:t> site, </a:t>
            </a:r>
            <a:r>
              <a:rPr lang="tr-TR" dirty="0" err="1"/>
              <a:t>payload</a:t>
            </a:r>
            <a:r>
              <a:rPr lang="tr-TR" dirty="0"/>
              <a:t>, orbit,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booster</a:t>
            </a:r>
            <a:r>
              <a:rPr lang="tr-TR" dirty="0"/>
              <a:t> </a:t>
            </a:r>
            <a:r>
              <a:rPr lang="tr-TR" dirty="0" err="1"/>
              <a:t>characteristics</a:t>
            </a:r>
            <a:r>
              <a:rPr lang="tr-TR" dirty="0"/>
              <a:t>. </a:t>
            </a:r>
            <a:r>
              <a:rPr lang="tr-TR" dirty="0" err="1"/>
              <a:t>Such</a:t>
            </a:r>
            <a:r>
              <a:rPr lang="tr-TR" dirty="0"/>
              <a:t> a </a:t>
            </a:r>
            <a:r>
              <a:rPr lang="tr-TR" dirty="0" err="1"/>
              <a:t>system</a:t>
            </a:r>
            <a:r>
              <a:rPr lang="tr-TR" dirty="0"/>
              <a:t> </a:t>
            </a:r>
            <a:r>
              <a:rPr lang="tr-TR" dirty="0" err="1"/>
              <a:t>could</a:t>
            </a:r>
            <a:r>
              <a:rPr lang="tr-TR" dirty="0"/>
              <a:t> </a:t>
            </a:r>
            <a:r>
              <a:rPr lang="tr-TR" dirty="0" err="1"/>
              <a:t>allow</a:t>
            </a:r>
            <a:r>
              <a:rPr lang="tr-TR" dirty="0"/>
              <a:t> </a:t>
            </a:r>
            <a:r>
              <a:rPr lang="tr-TR" dirty="0" err="1"/>
              <a:t>analysts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compare</a:t>
            </a:r>
            <a:r>
              <a:rPr lang="tr-TR" dirty="0"/>
              <a:t> </a:t>
            </a:r>
            <a:r>
              <a:rPr lang="tr-TR" dirty="0" err="1"/>
              <a:t>hypothetical</a:t>
            </a:r>
            <a:r>
              <a:rPr lang="tr-TR" dirty="0"/>
              <a:t> </a:t>
            </a:r>
            <a:r>
              <a:rPr lang="tr-TR" dirty="0" err="1"/>
              <a:t>mission</a:t>
            </a:r>
            <a:r>
              <a:rPr lang="tr-TR" dirty="0"/>
              <a:t> </a:t>
            </a:r>
            <a:r>
              <a:rPr lang="tr-TR" dirty="0" err="1"/>
              <a:t>configurations</a:t>
            </a:r>
            <a:r>
              <a:rPr lang="tr-TR" dirty="0"/>
              <a:t> </a:t>
            </a:r>
            <a:r>
              <a:rPr lang="tr-TR" dirty="0" err="1"/>
              <a:t>before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identify</a:t>
            </a:r>
            <a:r>
              <a:rPr lang="tr-TR" dirty="0"/>
              <a:t> </a:t>
            </a:r>
            <a:r>
              <a:rPr lang="tr-TR" dirty="0" err="1"/>
              <a:t>conditions</a:t>
            </a:r>
            <a:r>
              <a:rPr lang="tr-TR" dirty="0"/>
              <a:t> </a:t>
            </a:r>
            <a:r>
              <a:rPr lang="tr-TR" dirty="0" err="1"/>
              <a:t>associated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different</a:t>
            </a:r>
            <a:r>
              <a:rPr lang="tr-TR" dirty="0"/>
              <a:t> </a:t>
            </a:r>
            <a:r>
              <a:rPr lang="tr-TR" dirty="0" err="1"/>
              <a:t>predicted</a:t>
            </a:r>
            <a:r>
              <a:rPr lang="tr-TR" dirty="0"/>
              <a:t> </a:t>
            </a:r>
            <a:r>
              <a:rPr lang="tr-TR" dirty="0" err="1"/>
              <a:t>outcomes</a:t>
            </a:r>
            <a:r>
              <a:rPr lang="tr-TR" dirty="0"/>
              <a:t>.</a:t>
            </a:r>
          </a:p>
          <a:p>
            <a:r>
              <a:rPr lang="tr-TR" dirty="0" err="1"/>
              <a:t>The</a:t>
            </a:r>
            <a:r>
              <a:rPr lang="tr-TR" dirty="0"/>
              <a:t> final </a:t>
            </a:r>
            <a:r>
              <a:rPr lang="tr-TR" dirty="0" err="1"/>
              <a:t>value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project</a:t>
            </a:r>
            <a:r>
              <a:rPr lang="tr-TR" dirty="0"/>
              <a:t> </a:t>
            </a:r>
            <a:r>
              <a:rPr lang="tr-TR" dirty="0" err="1"/>
              <a:t>therefore</a:t>
            </a:r>
            <a:r>
              <a:rPr lang="tr-TR" dirty="0"/>
              <a:t> </a:t>
            </a:r>
            <a:r>
              <a:rPr lang="tr-TR" dirty="0" err="1"/>
              <a:t>lies</a:t>
            </a:r>
            <a:r>
              <a:rPr lang="tr-TR" dirty="0"/>
              <a:t> not </a:t>
            </a:r>
            <a:r>
              <a:rPr lang="tr-TR" dirty="0" err="1"/>
              <a:t>only</a:t>
            </a:r>
            <a:r>
              <a:rPr lang="tr-TR" dirty="0"/>
              <a:t> in </a:t>
            </a:r>
            <a:r>
              <a:rPr lang="tr-TR" dirty="0" err="1"/>
              <a:t>predicting</a:t>
            </a:r>
            <a:r>
              <a:rPr lang="tr-TR" dirty="0"/>
              <a:t> a </a:t>
            </a:r>
            <a:r>
              <a:rPr lang="tr-TR" dirty="0" err="1"/>
              <a:t>landing</a:t>
            </a:r>
            <a:r>
              <a:rPr lang="tr-TR" dirty="0"/>
              <a:t> </a:t>
            </a:r>
            <a:r>
              <a:rPr lang="tr-TR" dirty="0" err="1"/>
              <a:t>outcome</a:t>
            </a:r>
            <a:r>
              <a:rPr lang="tr-TR" dirty="0"/>
              <a:t>, but in </a:t>
            </a:r>
            <a:r>
              <a:rPr lang="tr-TR" dirty="0" err="1"/>
              <a:t>demonstrating</a:t>
            </a:r>
            <a:r>
              <a:rPr lang="tr-TR" dirty="0"/>
              <a:t> how </a:t>
            </a:r>
            <a:r>
              <a:rPr lang="tr-TR" dirty="0" err="1"/>
              <a:t>machine</a:t>
            </a:r>
            <a:r>
              <a:rPr lang="tr-TR" dirty="0"/>
              <a:t> </a:t>
            </a:r>
            <a:r>
              <a:rPr lang="tr-TR" dirty="0" err="1"/>
              <a:t>learning</a:t>
            </a:r>
            <a:r>
              <a:rPr lang="tr-TR" dirty="0"/>
              <a:t> can </a:t>
            </a:r>
            <a:r>
              <a:rPr lang="tr-TR" dirty="0" err="1"/>
              <a:t>convert</a:t>
            </a:r>
            <a:r>
              <a:rPr lang="tr-TR" dirty="0"/>
              <a:t> </a:t>
            </a:r>
            <a:r>
              <a:rPr lang="tr-TR" dirty="0" err="1"/>
              <a:t>historical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data </a:t>
            </a:r>
            <a:r>
              <a:rPr lang="tr-TR" dirty="0" err="1"/>
              <a:t>into</a:t>
            </a:r>
            <a:r>
              <a:rPr lang="tr-TR" dirty="0"/>
              <a:t> </a:t>
            </a:r>
            <a:r>
              <a:rPr lang="tr-TR" b="1" dirty="0" err="1"/>
              <a:t>actionable</a:t>
            </a:r>
            <a:r>
              <a:rPr lang="tr-TR" b="1" dirty="0"/>
              <a:t>, </a:t>
            </a:r>
            <a:r>
              <a:rPr lang="tr-TR" b="1" dirty="0" err="1"/>
              <a:t>scenario-based</a:t>
            </a:r>
            <a:r>
              <a:rPr lang="tr-TR" b="1" dirty="0"/>
              <a:t> </a:t>
            </a:r>
            <a:r>
              <a:rPr lang="tr-TR" b="1" dirty="0" err="1"/>
              <a:t>insights</a:t>
            </a:r>
            <a:r>
              <a:rPr lang="tr-TR" b="1" dirty="0"/>
              <a:t> </a:t>
            </a:r>
            <a:r>
              <a:rPr lang="tr-TR" b="1" dirty="0" err="1"/>
              <a:t>for</a:t>
            </a:r>
            <a:r>
              <a:rPr lang="tr-TR" b="1" dirty="0"/>
              <a:t> </a:t>
            </a:r>
            <a:r>
              <a:rPr lang="tr-TR" b="1" dirty="0" err="1"/>
              <a:t>future</a:t>
            </a:r>
            <a:r>
              <a:rPr lang="tr-TR" b="1" dirty="0"/>
              <a:t> </a:t>
            </a:r>
            <a:r>
              <a:rPr lang="tr-TR" b="1" dirty="0" err="1"/>
              <a:t>missions</a:t>
            </a:r>
            <a:r>
              <a:rPr lang="tr-TR" dirty="0"/>
              <a:t>.</a:t>
            </a:r>
            <a:endParaRPr lang="tr-TR" dirty="0">
              <a:effectLst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 descr="Drawing point">
                <a:extLst>
                  <a:ext uri="{FF2B5EF4-FFF2-40B4-BE49-F238E27FC236}">
                    <a16:creationId xmlns:a16="http://schemas.microsoft.com/office/drawing/2014/main" id="{216EF0C5-7C70-27A3-EAE8-9BE0DBDEBF3E}"/>
                  </a:ext>
                </a:extLst>
              </p14:cNvPr>
              <p14:cNvContentPartPr/>
              <p14:nvPr/>
            </p14:nvContentPartPr>
            <p14:xfrm>
              <a:off x="-3428678" y="8639331"/>
              <a:ext cx="360" cy="9720"/>
            </p14:xfrm>
          </p:contentPart>
        </mc:Choice>
        <mc:Fallback xmlns="">
          <p:pic>
            <p:nvPicPr>
              <p:cNvPr id="7" name="Mürekkep 6" descr="Çizim noktası">
                <a:extLst>
                  <a:ext uri="{FF2B5EF4-FFF2-40B4-BE49-F238E27FC236}">
                    <a16:creationId xmlns:a16="http://schemas.microsoft.com/office/drawing/2014/main" id="{9FE62378-625A-40E4-A5E5-226DF2DDE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37678" y="8630331"/>
                <a:ext cx="18000" cy="27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Düz Bağlayıcı 14" descr="Düz Bağlayıcı&#10;">
            <a:extLst>
              <a:ext uri="{FF2B5EF4-FFF2-40B4-BE49-F238E27FC236}">
                <a16:creationId xmlns:a16="http://schemas.microsoft.com/office/drawing/2014/main" id="{952C727E-0FD4-161E-4D59-B9088A9A36A6}"/>
              </a:ext>
            </a:extLst>
          </p:cNvPr>
          <p:cNvCxnSpPr>
            <a:cxnSpLocks/>
          </p:cNvCxnSpPr>
          <p:nvPr/>
        </p:nvCxnSpPr>
        <p:spPr>
          <a:xfrm>
            <a:off x="1557338" y="1589020"/>
            <a:ext cx="4374230" cy="0"/>
          </a:xfrm>
          <a:prstGeom prst="line">
            <a:avLst/>
          </a:prstGeom>
          <a:ln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 descr="Daire içinde kırmızı nokta">
            <a:extLst>
              <a:ext uri="{FF2B5EF4-FFF2-40B4-BE49-F238E27FC236}">
                <a16:creationId xmlns:a16="http://schemas.microsoft.com/office/drawing/2014/main" id="{B497D050-E29D-5D9D-9144-2F78EED9DE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8" y="1458610"/>
            <a:ext cx="276225" cy="276225"/>
          </a:xfrm>
          <a:prstGeom prst="rect">
            <a:avLst/>
          </a:prstGeom>
        </p:spPr>
      </p:pic>
      <p:sp>
        <p:nvSpPr>
          <p:cNvPr id="18" name="Başlık 1">
            <a:extLst>
              <a:ext uri="{FF2B5EF4-FFF2-40B4-BE49-F238E27FC236}">
                <a16:creationId xmlns:a16="http://schemas.microsoft.com/office/drawing/2014/main" id="{C2040AA6-57A4-35CE-5BAC-17A534220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170714" cy="466657"/>
          </a:xfrm>
        </p:spPr>
        <p:txBody>
          <a:bodyPr rtlCol="0">
            <a:normAutofit fontScale="90000"/>
          </a:bodyPr>
          <a:lstStyle/>
          <a:p>
            <a:r>
              <a:rPr lang="tr-TR" dirty="0"/>
              <a:t>CONCLUSİON AND INSIGHT</a:t>
            </a:r>
            <a:br>
              <a:rPr lang="tr-TR" dirty="0"/>
            </a:br>
            <a:br>
              <a:rPr lang="tr-TR" b="1" dirty="0"/>
            </a:br>
            <a:endParaRPr lang="tr-TR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6542D27-0EC0-53DF-A4AC-A151440142B3}"/>
              </a:ext>
            </a:extLst>
          </p:cNvPr>
          <p:cNvSpPr txBox="1">
            <a:spLocks/>
          </p:cNvSpPr>
          <p:nvPr/>
        </p:nvSpPr>
        <p:spPr>
          <a:xfrm>
            <a:off x="8229600" y="2002949"/>
            <a:ext cx="3569110" cy="26477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tr-TR" dirty="0" err="1"/>
              <a:t>The</a:t>
            </a:r>
            <a:r>
              <a:rPr lang="tr-TR" dirty="0"/>
              <a:t> Hole Project Link</a:t>
            </a:r>
          </a:p>
          <a:p>
            <a:endParaRPr lang="tr-TR" dirty="0"/>
          </a:p>
          <a:p>
            <a:r>
              <a:rPr lang="tr-TR" dirty="0"/>
              <a:t>https://github.com/Selmabanzema/Data-Science-Capston-Project-</a:t>
            </a:r>
          </a:p>
        </p:txBody>
      </p:sp>
    </p:spTree>
    <p:extLst>
      <p:ext uri="{BB962C8B-B14F-4D97-AF65-F5344CB8AC3E}">
        <p14:creationId xmlns:p14="http://schemas.microsoft.com/office/powerpoint/2010/main" val="1659213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5976925_TF16401558" id="{69F1BA6F-0CFE-4B97-8053-F605E0FBD2EE}" vid="{91B6559E-B899-44D5-9D24-D3148DA76A75}"/>
    </a:ext>
  </a:extLst>
</a:theme>
</file>

<file path=ppt/theme/theme2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3B PowerPoint sunusu (Hubble Teleskobu modeli)</Template>
  <TotalTime>201</TotalTime>
  <Words>4446</Words>
  <Application>Microsoft Office PowerPoint</Application>
  <PresentationFormat>Widescreen</PresentationFormat>
  <Paragraphs>302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Agency FB</vt:lpstr>
      <vt:lpstr>Arial</vt:lpstr>
      <vt:lpstr>Calibri</vt:lpstr>
      <vt:lpstr>Calibri Light</vt:lpstr>
      <vt:lpstr>Segoe UI Light</vt:lpstr>
      <vt:lpstr>Office Teması</vt:lpstr>
      <vt:lpstr>PowerPoint Presentation</vt:lpstr>
      <vt:lpstr>AGANDA </vt:lpstr>
      <vt:lpstr>THE MAIN PROBLEM : Summary</vt:lpstr>
      <vt:lpstr>THE MAIN PROBLEM : Summary</vt:lpstr>
      <vt:lpstr>THE MAIN PROBLEM : Methodology</vt:lpstr>
      <vt:lpstr>THE MAIN PROBLEM : Key Results</vt:lpstr>
      <vt:lpstr>TASK1: Data Scrapping</vt:lpstr>
      <vt:lpstr>TASK1: Data Scrapping Outputs</vt:lpstr>
      <vt:lpstr>TASK1: Data Scrapping</vt:lpstr>
      <vt:lpstr>TASK1: Data Wraggling</vt:lpstr>
      <vt:lpstr>TASK1: Data Wraggling Example Outputs</vt:lpstr>
      <vt:lpstr>TASK2: Complete the EDA with SQL </vt:lpstr>
      <vt:lpstr>TASK2: Complete the EDA with SQL Example Outputs </vt:lpstr>
      <vt:lpstr>TASK2: Complete the EDA with SQL Detailed Outputs </vt:lpstr>
      <vt:lpstr>TASK2: Complete the EDA with SQL Detailed Outputs </vt:lpstr>
      <vt:lpstr>TASK2: EDA with Visualization Lab </vt:lpstr>
      <vt:lpstr>TASK2: EDA with Visualization Lab Example Outputs </vt:lpstr>
      <vt:lpstr>TASK2: EDA with Visualization Lab Example Outputs </vt:lpstr>
      <vt:lpstr>TASK2: EDA with Visualization Lab Example Outputs </vt:lpstr>
      <vt:lpstr>TASK3: EDA with Visualization Lab Folium </vt:lpstr>
      <vt:lpstr>TASK3: EDA with Visualization Lab Dash </vt:lpstr>
      <vt:lpstr>TASK3: EDA with Visualization Lab Dash </vt:lpstr>
      <vt:lpstr>TASK4: Predective Anaylsis  </vt:lpstr>
      <vt:lpstr>TASK4: Predective Anaylsis  </vt:lpstr>
      <vt:lpstr>TASK4: Predective Anaylsis  </vt:lpstr>
      <vt:lpstr>TASK4: Predective Anaylsis Outpusta </vt:lpstr>
      <vt:lpstr>TASK4: Predective Anaylsis Outpusta </vt:lpstr>
      <vt:lpstr>TASK4: Predective Anaylsis Outpusta </vt:lpstr>
      <vt:lpstr>TASK4: Predective Anaylsis Outpusta </vt:lpstr>
      <vt:lpstr>TASK4: Predective Anaylsis Outpusta </vt:lpstr>
      <vt:lpstr>CONCLUSİON AND INSIGHT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selma kinacioglu</dc:creator>
  <cp:lastModifiedBy>selma kinacioglu</cp:lastModifiedBy>
  <cp:revision>11</cp:revision>
  <dcterms:created xsi:type="dcterms:W3CDTF">2026-09-27T15:11:16Z</dcterms:created>
  <dcterms:modified xsi:type="dcterms:W3CDTF">2026-09-27T19:17:48Z</dcterms:modified>
</cp:coreProperties>
</file>